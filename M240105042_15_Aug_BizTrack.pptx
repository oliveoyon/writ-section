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2"/>
    <p:sldId id="275" r:id="rId3"/>
    <p:sldId id="257" r:id="rId4"/>
    <p:sldId id="258" r:id="rId5"/>
    <p:sldId id="259" r:id="rId6"/>
    <p:sldId id="260" r:id="rId7"/>
    <p:sldId id="261" r:id="rId8"/>
    <p:sldId id="262" r:id="rId9"/>
    <p:sldId id="263" r:id="rId10"/>
    <p:sldId id="264" r:id="rId11"/>
    <p:sldId id="265" r:id="rId12"/>
    <p:sldId id="266" r:id="rId13"/>
    <p:sldId id="267" r:id="rId14"/>
    <p:sldId id="268" r:id="rId15"/>
    <p:sldId id="278" r:id="rId16"/>
    <p:sldId id="279" r:id="rId17"/>
    <p:sldId id="280" r:id="rId18"/>
    <p:sldId id="269" r:id="rId19"/>
    <p:sldId id="281" r:id="rId20"/>
    <p:sldId id="282" r:id="rId21"/>
    <p:sldId id="283" r:id="rId22"/>
    <p:sldId id="270" r:id="rId23"/>
    <p:sldId id="276" r:id="rId24"/>
    <p:sldId id="277" r:id="rId25"/>
    <p:sldId id="272" r:id="rId26"/>
    <p:sldId id="27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625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BizTrack project report and author-provided presentation.</a:t>
            </a:r>
          </a:p>
          <a:p>
            <a:r>
              <a:t>[/Sources]</a:t>
            </a:r>
          </a:p>
          <a:p>
            <a:r>
              <a:t>Introduce BizTrack as a complete business accounting management system.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BizTrack project report prepared by the author.</a:t>
            </a:r>
          </a:p>
          <a:p>
            <a:r>
              <a:t>Explain the problem through a familiar sale: invoice, stock reduction and accounting may be recorded separately.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BizTrack project report and author-provided presentation.</a:t>
            </a:r>
          </a:p>
          <a:p>
            <a:r>
              <a:t>[/Sources]</a:t>
            </a:r>
          </a:p>
          <a:p>
            <a:r>
              <a:t>Explain how separate sales, stock and accounting records create repeated work and inconsistent balances.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BizTrack project report and author-provided presentation.</a:t>
            </a:r>
          </a:p>
          <a:p>
            <a:r>
              <a:t>[/Sources]</a:t>
            </a:r>
          </a:p>
          <a:p>
            <a:r>
              <a:t>Present the three broad objectives only; detailed functions appear in later slides.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BizTrack project report and author-provided presentation.</a:t>
            </a:r>
          </a:p>
          <a:p>
            <a:r>
              <a:t>[/Sources]</a:t>
            </a:r>
          </a:p>
          <a:p>
            <a:r>
              <a:t>Compare manual records, spreadsheets, existing POS tools and the proposed system briefly.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BizTrack project report and author-provided presentation.</a:t>
            </a:r>
          </a:p>
          <a:p>
            <a:r>
              <a:t>[/Sources]</a:t>
            </a:r>
          </a:p>
          <a:p>
            <a:r>
              <a:t>The Super Admin controls tenants and subscriptions. Each tenant keeps separate users, transactions and accounts.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BizTrack project report and author-provided presentation.</a:t>
            </a:r>
          </a:p>
          <a:p>
            <a:r>
              <a:t>[/Sources]</a:t>
            </a:r>
          </a:p>
          <a:p>
            <a:r>
              <a:t>Describe the iterative work: analyse, design, develop, test, review and improve.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BizTrack project report and author-provided presentation.</a:t>
            </a:r>
          </a:p>
          <a:p>
            <a:r>
              <a:t>[/Sources]</a:t>
            </a:r>
          </a:p>
          <a:p>
            <a:r>
              <a:t>Explain the route from browser to presentation layer, Laravel application logic, data access and MySQL.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BizTrack project report and author-provided presentation.</a:t>
            </a:r>
          </a:p>
          <a:p>
            <a:r>
              <a:t>[/Sources]</a:t>
            </a:r>
          </a:p>
          <a:p>
            <a:r>
              <a:t>Group the functions instead of reading every menu item.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BizTrack project report and author-provided presentation.</a:t>
            </a:r>
          </a:p>
          <a:p>
            <a:r>
              <a:t>[/Sources]</a:t>
            </a:r>
          </a:p>
          <a:p>
            <a:r>
              <a:t>A saved transaction can update stock, party balance and accounting together.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BizTrack project report and author-provided presentation.</a:t>
            </a:r>
          </a:p>
          <a:p>
            <a:r>
              <a:t>[/Sources]</a:t>
            </a:r>
          </a:p>
          <a:p>
            <a:r>
              <a:t>Show how purchases, sales, returns, damage and recipe-based production meet in the inventory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BizTrack project report and author-provided presentation.</a:t>
            </a:r>
          </a:p>
          <a:p>
            <a:r>
              <a:t>[/Sources]</a:t>
            </a:r>
          </a:p>
          <a:p>
            <a:r>
              <a:t>Replace the empty frame with the real dashboard screenshot. Explain only the listed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BizTrack project report and author-provided presentation.</a:t>
            </a:r>
          </a:p>
          <a:p>
            <a:r>
              <a:t>[/Sources]</a:t>
            </a:r>
          </a:p>
          <a:p>
            <a:r>
              <a:t>Replace the empty frame with the real sales or pos screenshot. Explain only the listed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BizTrack project report and author-provided presentation.</a:t>
            </a:r>
          </a:p>
          <a:p>
            <a:r>
              <a:t>[/Sources]</a:t>
            </a:r>
          </a:p>
          <a:p>
            <a:r>
              <a:t>Replace the empty frame with the real recipe or production screenshot. Explain only the listed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49D8A-C1D2-DFE4-7C74-3523B304D2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47D2F-4EC5-26E8-6C5B-A4F7759AC5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67B39F-EF10-03EB-32D4-411C46AFE929}"/>
              </a:ext>
            </a:extLst>
          </p:cNvPr>
          <p:cNvSpPr>
            <a:spLocks noGrp="1"/>
          </p:cNvSpPr>
          <p:nvPr>
            <p:ph type="body" idx="1"/>
          </p:nvPr>
        </p:nvSpPr>
        <p:spPr/>
        <p:txBody>
          <a:bodyPr/>
          <a:lstStyle/>
          <a:p>
            <a:r>
              <a:t>[Sources]</a:t>
            </a:r>
          </a:p>
          <a:p>
            <a:r>
              <a:t>- BizTrack project report and author-provided presentation.</a:t>
            </a:r>
          </a:p>
          <a:p>
            <a:r>
              <a:t>[/Sources]</a:t>
            </a:r>
          </a:p>
          <a:p>
            <a:r>
              <a:t>Replace the empty frame with the real recipe or production screenshot. Explain only the listed evidence.</a:t>
            </a:r>
          </a:p>
        </p:txBody>
      </p:sp>
      <p:sp>
        <p:nvSpPr>
          <p:cNvPr id="4" name="Slide Number Placeholder 3">
            <a:extLst>
              <a:ext uri="{FF2B5EF4-FFF2-40B4-BE49-F238E27FC236}">
                <a16:creationId xmlns:a16="http://schemas.microsoft.com/office/drawing/2014/main" id="{E1F48DA4-3142-5F68-9671-66E4FB77DBB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9251399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CF628-9BBC-F94A-3123-78637924A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9A342D-7BAF-F698-BE7F-888C2DDFF2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8C18CD-2A2D-9B1A-BAB3-4219C2E00A10}"/>
              </a:ext>
            </a:extLst>
          </p:cNvPr>
          <p:cNvSpPr>
            <a:spLocks noGrp="1"/>
          </p:cNvSpPr>
          <p:nvPr>
            <p:ph type="body" idx="1"/>
          </p:nvPr>
        </p:nvSpPr>
        <p:spPr/>
        <p:txBody>
          <a:bodyPr/>
          <a:lstStyle/>
          <a:p>
            <a:r>
              <a:t>[Sources]</a:t>
            </a:r>
          </a:p>
          <a:p>
            <a:r>
              <a:t>- BizTrack project report and author-provided presentation.</a:t>
            </a:r>
          </a:p>
          <a:p>
            <a:r>
              <a:t>[/Sources]</a:t>
            </a:r>
          </a:p>
          <a:p>
            <a:r>
              <a:t>Replace the empty frame with the real recipe or production screenshot. Explain only the listed evidence.</a:t>
            </a:r>
          </a:p>
        </p:txBody>
      </p:sp>
      <p:sp>
        <p:nvSpPr>
          <p:cNvPr id="4" name="Slide Number Placeholder 3">
            <a:extLst>
              <a:ext uri="{FF2B5EF4-FFF2-40B4-BE49-F238E27FC236}">
                <a16:creationId xmlns:a16="http://schemas.microsoft.com/office/drawing/2014/main" id="{FB830E50-F402-59F9-5B86-A8D13F7EECF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0758942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48765-EC79-B3C4-3285-FD153CBA5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244798-426D-62C2-4A36-24DCCCEC3E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98CC46-8E1C-7E98-2904-0B7B04324326}"/>
              </a:ext>
            </a:extLst>
          </p:cNvPr>
          <p:cNvSpPr>
            <a:spLocks noGrp="1"/>
          </p:cNvSpPr>
          <p:nvPr>
            <p:ph type="body" idx="1"/>
          </p:nvPr>
        </p:nvSpPr>
        <p:spPr/>
        <p:txBody>
          <a:bodyPr/>
          <a:lstStyle/>
          <a:p>
            <a:r>
              <a:t>[Sources]</a:t>
            </a:r>
          </a:p>
          <a:p>
            <a:r>
              <a:t>- BizTrack project report and author-provided presentation.</a:t>
            </a:r>
          </a:p>
          <a:p>
            <a:r>
              <a:t>[/Sources]</a:t>
            </a:r>
          </a:p>
          <a:p>
            <a:r>
              <a:t>Replace the empty frame with the real recipe or production screenshot. Explain only the listed evidence.</a:t>
            </a:r>
          </a:p>
        </p:txBody>
      </p:sp>
      <p:sp>
        <p:nvSpPr>
          <p:cNvPr id="4" name="Slide Number Placeholder 3">
            <a:extLst>
              <a:ext uri="{FF2B5EF4-FFF2-40B4-BE49-F238E27FC236}">
                <a16:creationId xmlns:a16="http://schemas.microsoft.com/office/drawing/2014/main" id="{5077DB08-06AC-C6FC-9D15-A7BEF0DDA20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8758427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BizTrack project report and author-provided presentation.</a:t>
            </a:r>
          </a:p>
          <a:p>
            <a:r>
              <a:t>[/Sources]</a:t>
            </a:r>
          </a:p>
          <a:p>
            <a:r>
              <a:t>Replace the empty frame with the real journal, ledger or trial balance screenshot. Explain only the listed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C5583-D04C-6250-8C4F-471BB92E7A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3F2608-BB44-EB86-C311-F888199AFF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7E0667-FBA5-807C-7E0F-84AD742AFBAA}"/>
              </a:ext>
            </a:extLst>
          </p:cNvPr>
          <p:cNvSpPr>
            <a:spLocks noGrp="1"/>
          </p:cNvSpPr>
          <p:nvPr>
            <p:ph type="body" idx="1"/>
          </p:nvPr>
        </p:nvSpPr>
        <p:spPr/>
        <p:txBody>
          <a:bodyPr/>
          <a:lstStyle/>
          <a:p>
            <a:r>
              <a:t>[Sources]</a:t>
            </a:r>
          </a:p>
          <a:p>
            <a:r>
              <a:t>- BizTrack project report and author-provided presentation.</a:t>
            </a:r>
          </a:p>
          <a:p>
            <a:r>
              <a:t>[/Sources]</a:t>
            </a:r>
          </a:p>
          <a:p>
            <a:r>
              <a:t>Replace the empty frame with the real journal, ledger or trial balance screenshot. Explain only the listed evidence.</a:t>
            </a:r>
          </a:p>
        </p:txBody>
      </p:sp>
      <p:sp>
        <p:nvSpPr>
          <p:cNvPr id="4" name="Slide Number Placeholder 3">
            <a:extLst>
              <a:ext uri="{FF2B5EF4-FFF2-40B4-BE49-F238E27FC236}">
                <a16:creationId xmlns:a16="http://schemas.microsoft.com/office/drawing/2014/main" id="{79E49989-8DF3-7486-539B-B3A83C0EDD0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3278851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4C0AD-DBBB-1B86-043D-81BCA6409D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9C8EF8-D57A-E074-34AC-6597DDD0E6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699603-2860-3A88-9233-F5A6F6EA4555}"/>
              </a:ext>
            </a:extLst>
          </p:cNvPr>
          <p:cNvSpPr>
            <a:spLocks noGrp="1"/>
          </p:cNvSpPr>
          <p:nvPr>
            <p:ph type="body" idx="1"/>
          </p:nvPr>
        </p:nvSpPr>
        <p:spPr/>
        <p:txBody>
          <a:bodyPr/>
          <a:lstStyle/>
          <a:p>
            <a:r>
              <a:t>[Sources]</a:t>
            </a:r>
          </a:p>
          <a:p>
            <a:r>
              <a:t>- BizTrack project report and author-provided presentation.</a:t>
            </a:r>
          </a:p>
          <a:p>
            <a:r>
              <a:t>[/Sources]</a:t>
            </a:r>
          </a:p>
          <a:p>
            <a:r>
              <a:t>Replace the empty frame with the real journal, ledger or trial balance screenshot. Explain only the listed evidence.</a:t>
            </a:r>
          </a:p>
        </p:txBody>
      </p:sp>
      <p:sp>
        <p:nvSpPr>
          <p:cNvPr id="4" name="Slide Number Placeholder 3">
            <a:extLst>
              <a:ext uri="{FF2B5EF4-FFF2-40B4-BE49-F238E27FC236}">
                <a16:creationId xmlns:a16="http://schemas.microsoft.com/office/drawing/2014/main" id="{1C4991CD-5FDA-A70C-2969-C7BD269C199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8144076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C9DA6-9BEF-8DE7-9283-6B46B17949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D89DD1-18D0-3CB8-3892-795D0D8B7E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ACE12E-F2A8-D3F4-F3DF-9EEDA9702EA8}"/>
              </a:ext>
            </a:extLst>
          </p:cNvPr>
          <p:cNvSpPr>
            <a:spLocks noGrp="1"/>
          </p:cNvSpPr>
          <p:nvPr>
            <p:ph type="body" idx="1"/>
          </p:nvPr>
        </p:nvSpPr>
        <p:spPr/>
        <p:txBody>
          <a:bodyPr/>
          <a:lstStyle/>
          <a:p>
            <a:r>
              <a:t>[Sources]</a:t>
            </a:r>
          </a:p>
          <a:p>
            <a:r>
              <a:t>- BizTrack project report and author-provided presentation.</a:t>
            </a:r>
          </a:p>
          <a:p>
            <a:r>
              <a:t>[/Sources]</a:t>
            </a:r>
          </a:p>
          <a:p>
            <a:r>
              <a:t>Replace the empty frame with the real journal, ledger or trial balance screenshot. Explain only the listed evidence.</a:t>
            </a:r>
          </a:p>
        </p:txBody>
      </p:sp>
      <p:sp>
        <p:nvSpPr>
          <p:cNvPr id="4" name="Slide Number Placeholder 3">
            <a:extLst>
              <a:ext uri="{FF2B5EF4-FFF2-40B4-BE49-F238E27FC236}">
                <a16:creationId xmlns:a16="http://schemas.microsoft.com/office/drawing/2014/main" id="{1A528A88-3756-AA7B-F8A1-D20261DED69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4590378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BizTrack project report and author-provided presentation.</a:t>
            </a:r>
          </a:p>
          <a:p>
            <a:r>
              <a:t>[/Sources]</a:t>
            </a:r>
          </a:p>
          <a:p>
            <a:r>
              <a:t>Discuss authentication, roles, tenant separation and testing of connected workflows.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BizTrack project report prepared by the author.</a:t>
            </a:r>
          </a:p>
          <a:p>
            <a:r>
              <a:t>Evaluation from Chapter 6. State the limits of the evidence clearly.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BizTrack project report prepared by the author.</a:t>
            </a:r>
          </a:p>
          <a:p>
            <a:r>
              <a:t>Future roadmap follows Chapter 7. Emphasise staged improvement rather than a long feature wish list.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BizTrack project report and author-provided presentation.</a:t>
            </a:r>
          </a:p>
          <a:p>
            <a:r>
              <a:t>[/Sources]</a:t>
            </a:r>
          </a:p>
          <a:p>
            <a:r>
              <a:t>Return to the original problem and explain the main contribution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BizTrack project report and author-provided presentation.</a:t>
            </a:r>
          </a:p>
          <a:p>
            <a:r>
              <a:t>Move to the live demonstration or invite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18C7-4CE2-7436-D4B9-A54433E4CADA}"/>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64EBDC21-5456-6E92-120D-4D253A4EA0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47F96D9D-0FAB-DD34-9152-7DEED6407DA6}"/>
              </a:ext>
            </a:extLst>
          </p:cNvPr>
          <p:cNvSpPr>
            <a:spLocks noGrp="1"/>
          </p:cNvSpPr>
          <p:nvPr>
            <p:ph type="dt" idx="10"/>
          </p:nvPr>
        </p:nvSpPr>
        <p:spPr/>
        <p:txBody>
          <a:bodyPr/>
          <a:lstStyle/>
          <a:p>
            <a:fld id="{8416269A-444D-4D2B-B3BD-0D232BCFC547}" type="datetimeFigureOut">
              <a:t>8/15/2026</a:t>
            </a:fld>
            <a:endParaRPr/>
          </a:p>
        </p:txBody>
      </p:sp>
      <p:sp>
        <p:nvSpPr>
          <p:cNvPr id="5" name="Footer Placeholder 4">
            <a:extLst>
              <a:ext uri="{FF2B5EF4-FFF2-40B4-BE49-F238E27FC236}">
                <a16:creationId xmlns:a16="http://schemas.microsoft.com/office/drawing/2014/main" id="{3EE3D13F-6755-4A04-7DBB-92313F76ADAF}"/>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2C07017F-82ED-50EC-CB01-23214397DC3B}"/>
              </a:ext>
            </a:extLst>
          </p:cNvPr>
          <p:cNvSpPr>
            <a:spLocks noGrp="1"/>
          </p:cNvSpPr>
          <p:nvPr>
            <p:ph type="sldNum" idx="12"/>
          </p:nvPr>
        </p:nvSpPr>
        <p:spPr/>
        <p:txBody>
          <a:bodyPr/>
          <a:lstStyle/>
          <a:p>
            <a:fld id="{E6CAC7DB-836C-4362-9DC3-7816FF2CA27A}"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B6F68-0D08-4857-8F45-C03053B4F25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61D6CBAC-19BE-7F51-0514-C0506038127E}"/>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98D1CC0-8E11-7E19-D47F-F917811E3B6C}"/>
              </a:ext>
            </a:extLst>
          </p:cNvPr>
          <p:cNvSpPr>
            <a:spLocks noGrp="1"/>
          </p:cNvSpPr>
          <p:nvPr>
            <p:ph type="dt" idx="10"/>
          </p:nvPr>
        </p:nvSpPr>
        <p:spPr/>
        <p:txBody>
          <a:bodyPr/>
          <a:lstStyle/>
          <a:p>
            <a:fld id="{8416269A-444D-4D2B-B3BD-0D232BCFC547}" type="datetimeFigureOut">
              <a:t>8/15/2026</a:t>
            </a:fld>
            <a:endParaRPr/>
          </a:p>
        </p:txBody>
      </p:sp>
      <p:sp>
        <p:nvSpPr>
          <p:cNvPr id="5" name="Footer Placeholder 4">
            <a:extLst>
              <a:ext uri="{FF2B5EF4-FFF2-40B4-BE49-F238E27FC236}">
                <a16:creationId xmlns:a16="http://schemas.microsoft.com/office/drawing/2014/main" id="{4344971B-09CB-2D07-01E6-6792ACC35D6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EC6F4A8F-8AE4-9C04-9D70-7C95D294D0D5}"/>
              </a:ext>
            </a:extLst>
          </p:cNvPr>
          <p:cNvSpPr>
            <a:spLocks noGrp="1"/>
          </p:cNvSpPr>
          <p:nvPr>
            <p:ph type="sldNum" idx="12"/>
          </p:nvPr>
        </p:nvSpPr>
        <p:spPr/>
        <p:txBody>
          <a:bodyPr/>
          <a:lstStyle/>
          <a:p>
            <a:fld id="{E6CAC7DB-836C-4362-9DC3-7816FF2CA27A}"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F1685-45AE-2BEC-3C6C-F901829D650D}"/>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170F8FA9-61E2-A60F-3612-DD7319C7D46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744F61EB-E1AD-06C5-2EC0-23D9C9060AA4}"/>
              </a:ext>
            </a:extLst>
          </p:cNvPr>
          <p:cNvSpPr>
            <a:spLocks noGrp="1"/>
          </p:cNvSpPr>
          <p:nvPr>
            <p:ph type="dt" idx="10"/>
          </p:nvPr>
        </p:nvSpPr>
        <p:spPr/>
        <p:txBody>
          <a:bodyPr/>
          <a:lstStyle/>
          <a:p>
            <a:fld id="{8416269A-444D-4D2B-B3BD-0D232BCFC547}" type="datetimeFigureOut">
              <a:t>8/15/2026</a:t>
            </a:fld>
            <a:endParaRPr/>
          </a:p>
        </p:txBody>
      </p:sp>
      <p:sp>
        <p:nvSpPr>
          <p:cNvPr id="5" name="Footer Placeholder 4">
            <a:extLst>
              <a:ext uri="{FF2B5EF4-FFF2-40B4-BE49-F238E27FC236}">
                <a16:creationId xmlns:a16="http://schemas.microsoft.com/office/drawing/2014/main" id="{01A8AA13-2C44-D0A7-ADB0-FF1CF2CDCC9D}"/>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5139BF9-B440-A548-82C5-36B2C248DBD9}"/>
              </a:ext>
            </a:extLst>
          </p:cNvPr>
          <p:cNvSpPr>
            <a:spLocks noGrp="1"/>
          </p:cNvSpPr>
          <p:nvPr>
            <p:ph type="sldNum" idx="12"/>
          </p:nvPr>
        </p:nvSpPr>
        <p:spPr/>
        <p:txBody>
          <a:bodyPr/>
          <a:lstStyle/>
          <a:p>
            <a:fld id="{E6CAC7DB-836C-4362-9DC3-7816FF2CA27A}"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00AA2-0939-4B07-F29F-D18F3E05474B}"/>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74575803-C0E7-EF4D-39C9-1EC949D857CB}"/>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47149F0C-6EC2-2092-DBBE-940B6957F910}"/>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35D9BADC-E1E6-DFC6-6E2D-638CE29CE1DE}"/>
              </a:ext>
            </a:extLst>
          </p:cNvPr>
          <p:cNvSpPr>
            <a:spLocks noGrp="1"/>
          </p:cNvSpPr>
          <p:nvPr>
            <p:ph type="dt" idx="10"/>
          </p:nvPr>
        </p:nvSpPr>
        <p:spPr/>
        <p:txBody>
          <a:bodyPr/>
          <a:lstStyle/>
          <a:p>
            <a:fld id="{8416269A-444D-4D2B-B3BD-0D232BCFC547}" type="datetimeFigureOut">
              <a:t>8/15/2026</a:t>
            </a:fld>
            <a:endParaRPr/>
          </a:p>
        </p:txBody>
      </p:sp>
      <p:sp>
        <p:nvSpPr>
          <p:cNvPr id="6" name="Footer Placeholder 5">
            <a:extLst>
              <a:ext uri="{FF2B5EF4-FFF2-40B4-BE49-F238E27FC236}">
                <a16:creationId xmlns:a16="http://schemas.microsoft.com/office/drawing/2014/main" id="{CA609AD2-EAAA-7937-7E26-2C6F21829F44}"/>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FDDBDF96-2712-CB2D-675C-8847E9E831C7}"/>
              </a:ext>
            </a:extLst>
          </p:cNvPr>
          <p:cNvSpPr>
            <a:spLocks noGrp="1"/>
          </p:cNvSpPr>
          <p:nvPr>
            <p:ph type="sldNum" idx="12"/>
          </p:nvPr>
        </p:nvSpPr>
        <p:spPr/>
        <p:txBody>
          <a:bodyPr/>
          <a:lstStyle/>
          <a:p>
            <a:fld id="{E6CAC7DB-836C-4362-9DC3-7816FF2CA27A}"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C311A-45F5-DC9E-D871-7606D61D99BB}"/>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1D5CCC64-E2CF-6A01-44BD-BEC29255D4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9B36713D-01F0-4D20-2D21-44FCD142B387}"/>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2EA153CB-5583-AC04-F625-12226E07337C}"/>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BBBCD800-25B2-0E57-66DC-820F671CD3E6}"/>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7E4C06A1-7F5E-D7F2-57CE-749DBCC4CDBB}"/>
              </a:ext>
            </a:extLst>
          </p:cNvPr>
          <p:cNvSpPr>
            <a:spLocks noGrp="1"/>
          </p:cNvSpPr>
          <p:nvPr>
            <p:ph type="dt" idx="10"/>
          </p:nvPr>
        </p:nvSpPr>
        <p:spPr/>
        <p:txBody>
          <a:bodyPr/>
          <a:lstStyle/>
          <a:p>
            <a:fld id="{8416269A-444D-4D2B-B3BD-0D232BCFC547}" type="datetimeFigureOut">
              <a:t>8/15/2026</a:t>
            </a:fld>
            <a:endParaRPr/>
          </a:p>
        </p:txBody>
      </p:sp>
      <p:sp>
        <p:nvSpPr>
          <p:cNvPr id="8" name="Footer Placeholder 7">
            <a:extLst>
              <a:ext uri="{FF2B5EF4-FFF2-40B4-BE49-F238E27FC236}">
                <a16:creationId xmlns:a16="http://schemas.microsoft.com/office/drawing/2014/main" id="{A71AF05E-4F2A-A8BA-B268-00B6BFE980AC}"/>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B7CEEAB9-7B61-E0BC-AD88-FE7401BE7FB4}"/>
              </a:ext>
            </a:extLst>
          </p:cNvPr>
          <p:cNvSpPr>
            <a:spLocks noGrp="1"/>
          </p:cNvSpPr>
          <p:nvPr>
            <p:ph type="sldNum" idx="12"/>
          </p:nvPr>
        </p:nvSpPr>
        <p:spPr/>
        <p:txBody>
          <a:bodyPr/>
          <a:lstStyle/>
          <a:p>
            <a:fld id="{E6CAC7DB-836C-4362-9DC3-7816FF2CA27A}"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E0D63-97DE-3D43-B7D7-C162BC0C8A0B}"/>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9E1586FD-AA9E-930E-D921-0BE13F3FF200}"/>
              </a:ext>
            </a:extLst>
          </p:cNvPr>
          <p:cNvSpPr>
            <a:spLocks noGrp="1"/>
          </p:cNvSpPr>
          <p:nvPr>
            <p:ph type="dt" idx="10"/>
          </p:nvPr>
        </p:nvSpPr>
        <p:spPr/>
        <p:txBody>
          <a:bodyPr/>
          <a:lstStyle/>
          <a:p>
            <a:fld id="{8416269A-444D-4D2B-B3BD-0D232BCFC547}" type="datetimeFigureOut">
              <a:t>8/15/2026</a:t>
            </a:fld>
            <a:endParaRPr/>
          </a:p>
        </p:txBody>
      </p:sp>
      <p:sp>
        <p:nvSpPr>
          <p:cNvPr id="4" name="Footer Placeholder 3">
            <a:extLst>
              <a:ext uri="{FF2B5EF4-FFF2-40B4-BE49-F238E27FC236}">
                <a16:creationId xmlns:a16="http://schemas.microsoft.com/office/drawing/2014/main" id="{A9305620-CCED-EB56-2CF7-D1221106AB23}"/>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28ED22C5-62AD-7FB3-B2B9-DD393954CDFF}"/>
              </a:ext>
            </a:extLst>
          </p:cNvPr>
          <p:cNvSpPr>
            <a:spLocks noGrp="1"/>
          </p:cNvSpPr>
          <p:nvPr>
            <p:ph type="sldNum" idx="12"/>
          </p:nvPr>
        </p:nvSpPr>
        <p:spPr/>
        <p:txBody>
          <a:bodyPr/>
          <a:lstStyle/>
          <a:p>
            <a:fld id="{E6CAC7DB-836C-4362-9DC3-7816FF2CA27A}"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39E90C-646E-4CF5-25DC-9842E8E47749}"/>
              </a:ext>
            </a:extLst>
          </p:cNvPr>
          <p:cNvSpPr>
            <a:spLocks noGrp="1"/>
          </p:cNvSpPr>
          <p:nvPr>
            <p:ph type="dt" idx="10"/>
          </p:nvPr>
        </p:nvSpPr>
        <p:spPr/>
        <p:txBody>
          <a:bodyPr/>
          <a:lstStyle/>
          <a:p>
            <a:fld id="{8416269A-444D-4D2B-B3BD-0D232BCFC547}" type="datetimeFigureOut">
              <a:t>8/15/2026</a:t>
            </a:fld>
            <a:endParaRPr/>
          </a:p>
        </p:txBody>
      </p:sp>
      <p:sp>
        <p:nvSpPr>
          <p:cNvPr id="3" name="Footer Placeholder 2">
            <a:extLst>
              <a:ext uri="{FF2B5EF4-FFF2-40B4-BE49-F238E27FC236}">
                <a16:creationId xmlns:a16="http://schemas.microsoft.com/office/drawing/2014/main" id="{0144CB64-A418-C27C-2CFE-869C1E72CF0A}"/>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00B5638A-9B07-DBE3-7F24-24A8E669F1E5}"/>
              </a:ext>
            </a:extLst>
          </p:cNvPr>
          <p:cNvSpPr>
            <a:spLocks noGrp="1"/>
          </p:cNvSpPr>
          <p:nvPr>
            <p:ph type="sldNum" idx="12"/>
          </p:nvPr>
        </p:nvSpPr>
        <p:spPr/>
        <p:txBody>
          <a:bodyPr/>
          <a:lstStyle/>
          <a:p>
            <a:fld id="{E6CAC7DB-836C-4362-9DC3-7816FF2CA27A}"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1068E-CCAD-A883-78C7-8E218FCD0E85}"/>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B7359379-6A80-62E1-6718-979853955C83}"/>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29934254-A603-9A79-A0B0-DDBEE49C7C99}"/>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EE6F6955-9E2C-7B09-22CB-F9F7E950A611}"/>
              </a:ext>
            </a:extLst>
          </p:cNvPr>
          <p:cNvSpPr>
            <a:spLocks noGrp="1"/>
          </p:cNvSpPr>
          <p:nvPr>
            <p:ph type="dt" idx="10"/>
          </p:nvPr>
        </p:nvSpPr>
        <p:spPr/>
        <p:txBody>
          <a:bodyPr/>
          <a:lstStyle/>
          <a:p>
            <a:fld id="{8416269A-444D-4D2B-B3BD-0D232BCFC547}" type="datetimeFigureOut">
              <a:t>8/15/2026</a:t>
            </a:fld>
            <a:endParaRPr/>
          </a:p>
        </p:txBody>
      </p:sp>
      <p:sp>
        <p:nvSpPr>
          <p:cNvPr id="6" name="Footer Placeholder 5">
            <a:extLst>
              <a:ext uri="{FF2B5EF4-FFF2-40B4-BE49-F238E27FC236}">
                <a16:creationId xmlns:a16="http://schemas.microsoft.com/office/drawing/2014/main" id="{6ED93FB7-67F9-DE3A-F4FD-2F42E96D1CC6}"/>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184D6220-8298-094D-CBD3-110DC8B74A88}"/>
              </a:ext>
            </a:extLst>
          </p:cNvPr>
          <p:cNvSpPr>
            <a:spLocks noGrp="1"/>
          </p:cNvSpPr>
          <p:nvPr>
            <p:ph type="sldNum" idx="12"/>
          </p:nvPr>
        </p:nvSpPr>
        <p:spPr/>
        <p:txBody>
          <a:bodyPr/>
          <a:lstStyle/>
          <a:p>
            <a:fld id="{E6CAC7DB-836C-4362-9DC3-7816FF2CA27A}"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A381B-35D9-730A-3DE2-6E14BC1B6EC6}"/>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565941AA-6F50-6CB0-6F9F-60CB918FF7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9C009381-605B-6430-14F5-9A62A5DCEFDD}"/>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894517ED-8E6E-21C0-DE52-3738CA1CF78A}"/>
              </a:ext>
            </a:extLst>
          </p:cNvPr>
          <p:cNvSpPr>
            <a:spLocks noGrp="1"/>
          </p:cNvSpPr>
          <p:nvPr>
            <p:ph type="dt" idx="10"/>
          </p:nvPr>
        </p:nvSpPr>
        <p:spPr/>
        <p:txBody>
          <a:bodyPr/>
          <a:lstStyle/>
          <a:p>
            <a:fld id="{8416269A-444D-4D2B-B3BD-0D232BCFC547}" type="datetimeFigureOut">
              <a:t>8/15/2026</a:t>
            </a:fld>
            <a:endParaRPr/>
          </a:p>
        </p:txBody>
      </p:sp>
      <p:sp>
        <p:nvSpPr>
          <p:cNvPr id="6" name="Footer Placeholder 5">
            <a:extLst>
              <a:ext uri="{FF2B5EF4-FFF2-40B4-BE49-F238E27FC236}">
                <a16:creationId xmlns:a16="http://schemas.microsoft.com/office/drawing/2014/main" id="{35E68210-9011-ABC5-9BFD-F00896BEA08D}"/>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B71CB474-DAB0-C62E-D647-34FDBA7AAAB2}"/>
              </a:ext>
            </a:extLst>
          </p:cNvPr>
          <p:cNvSpPr>
            <a:spLocks noGrp="1"/>
          </p:cNvSpPr>
          <p:nvPr>
            <p:ph type="sldNum" idx="12"/>
          </p:nvPr>
        </p:nvSpPr>
        <p:spPr/>
        <p:txBody>
          <a:bodyPr/>
          <a:lstStyle/>
          <a:p>
            <a:fld id="{E6CAC7DB-836C-4362-9DC3-7816FF2CA27A}"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34819-A1E6-9A55-25A7-B288D3993DA8}"/>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C817662D-874C-0E54-90D6-F3E3A32075EF}"/>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CE91F9E5-AE15-539D-DB6B-02950A36FDC9}"/>
              </a:ext>
            </a:extLst>
          </p:cNvPr>
          <p:cNvSpPr>
            <a:spLocks noGrp="1"/>
          </p:cNvSpPr>
          <p:nvPr>
            <p:ph type="dt" idx="10"/>
          </p:nvPr>
        </p:nvSpPr>
        <p:spPr/>
        <p:txBody>
          <a:bodyPr/>
          <a:lstStyle/>
          <a:p>
            <a:fld id="{8416269A-444D-4D2B-B3BD-0D232BCFC547}" type="datetimeFigureOut">
              <a:t>8/15/2026</a:t>
            </a:fld>
            <a:endParaRPr/>
          </a:p>
        </p:txBody>
      </p:sp>
      <p:sp>
        <p:nvSpPr>
          <p:cNvPr id="5" name="Footer Placeholder 4">
            <a:extLst>
              <a:ext uri="{FF2B5EF4-FFF2-40B4-BE49-F238E27FC236}">
                <a16:creationId xmlns:a16="http://schemas.microsoft.com/office/drawing/2014/main" id="{6591680B-7EE4-69B7-F049-84AB733140A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EA1DFF7-08A9-CB39-80E5-E58D6960E636}"/>
              </a:ext>
            </a:extLst>
          </p:cNvPr>
          <p:cNvSpPr>
            <a:spLocks noGrp="1"/>
          </p:cNvSpPr>
          <p:nvPr>
            <p:ph type="sldNum" idx="12"/>
          </p:nvPr>
        </p:nvSpPr>
        <p:spPr/>
        <p:txBody>
          <a:bodyPr/>
          <a:lstStyle/>
          <a:p>
            <a:fld id="{E6CAC7DB-836C-4362-9DC3-7816FF2CA27A}"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4B28B3-82D3-D9E6-0F4A-EC0A32E8AC26}"/>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5E7CFA70-9F21-43DF-C84B-664F4EEBB9D7}"/>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095C43E-3FCF-72F8-2833-787B4B02345B}"/>
              </a:ext>
            </a:extLst>
          </p:cNvPr>
          <p:cNvSpPr>
            <a:spLocks noGrp="1"/>
          </p:cNvSpPr>
          <p:nvPr>
            <p:ph type="dt" idx="10"/>
          </p:nvPr>
        </p:nvSpPr>
        <p:spPr/>
        <p:txBody>
          <a:bodyPr/>
          <a:lstStyle/>
          <a:p>
            <a:fld id="{8416269A-444D-4D2B-B3BD-0D232BCFC547}" type="datetimeFigureOut">
              <a:t>8/15/2026</a:t>
            </a:fld>
            <a:endParaRPr/>
          </a:p>
        </p:txBody>
      </p:sp>
      <p:sp>
        <p:nvSpPr>
          <p:cNvPr id="5" name="Footer Placeholder 4">
            <a:extLst>
              <a:ext uri="{FF2B5EF4-FFF2-40B4-BE49-F238E27FC236}">
                <a16:creationId xmlns:a16="http://schemas.microsoft.com/office/drawing/2014/main" id="{5B782A70-A929-0B42-7294-9859DC662CFD}"/>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6AF12E7B-8B9E-CDD5-0758-939CAA96333C}"/>
              </a:ext>
            </a:extLst>
          </p:cNvPr>
          <p:cNvSpPr>
            <a:spLocks noGrp="1"/>
          </p:cNvSpPr>
          <p:nvPr>
            <p:ph type="sldNum" idx="12"/>
          </p:nvPr>
        </p:nvSpPr>
        <p:spPr/>
        <p:txBody>
          <a:bodyPr/>
          <a:lstStyle/>
          <a:p>
            <a:fld id="{E6CAC7DB-836C-4362-9DC3-7816FF2CA27A}"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9436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4AE614-6865-05DF-1758-73F1718354F2}"/>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1504E5C8-7A97-780C-B7F9-6B5A3FA85A59}"/>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8AF60E87-B658-2648-55E9-40BAB5FF81F0}"/>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8416269A-444D-4D2B-B3BD-0D232BCFC547}" type="datetimeFigureOut">
              <a:t>8/15/2026</a:t>
            </a:fld>
            <a:endParaRPr/>
          </a:p>
        </p:txBody>
      </p:sp>
      <p:sp>
        <p:nvSpPr>
          <p:cNvPr id="5" name="Footer Placeholder 4">
            <a:extLst>
              <a:ext uri="{FF2B5EF4-FFF2-40B4-BE49-F238E27FC236}">
                <a16:creationId xmlns:a16="http://schemas.microsoft.com/office/drawing/2014/main" id="{2C92E6BD-0BC9-4303-D334-9A6D17CB870B}"/>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6" name="Slide Number Placeholder 5">
            <a:extLst>
              <a:ext uri="{FF2B5EF4-FFF2-40B4-BE49-F238E27FC236}">
                <a16:creationId xmlns:a16="http://schemas.microsoft.com/office/drawing/2014/main" id="{E7E803F7-C476-D362-CD0A-D5851AA51974}"/>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E6CAC7DB-836C-4362-9DC3-7816FF2CA27A}"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4"/>
          <p:cNvPicPr>
            <a:picLocks noChangeAspect="1"/>
          </p:cNvPicPr>
          <p:nvPr/>
        </p:nvPicPr>
        <p:blipFill>
          <a:blip r:embed="rId3"/>
          <a:srcRect/>
          <a:stretch>
            <a:fillRect/>
          </a:stretch>
        </p:blipFill>
        <p:spPr>
          <a:xfrm>
            <a:off x="5122153" y="191676"/>
            <a:ext cx="1753795" cy="1753795"/>
          </a:xfrm>
          <a:prstGeom prst="rect">
            <a:avLst/>
          </a:prstGeom>
        </p:spPr>
      </p:pic>
      <p:sp>
        <p:nvSpPr>
          <p:cNvPr id="15" name="TextBox 14">
            <a:extLst>
              <a:ext uri="{FF2B5EF4-FFF2-40B4-BE49-F238E27FC236}">
                <a16:creationId xmlns:a16="http://schemas.microsoft.com/office/drawing/2014/main" id="{D38EC98B-DF45-1B11-EB4B-A1BF07F9EEAF}"/>
              </a:ext>
            </a:extLst>
          </p:cNvPr>
          <p:cNvSpPr>
            <a:spLocks noGrp="1"/>
          </p:cNvSpPr>
          <p:nvPr/>
        </p:nvSpPr>
        <p:spPr>
          <a:xfrm>
            <a:off x="862510" y="2196214"/>
            <a:ext cx="10273081" cy="2241704"/>
          </a:xfrm>
          <a:prstGeom prst="rect">
            <a:avLst/>
          </a:prstGeom>
          <a:noFill/>
        </p:spPr>
        <p:txBody>
          <a:bodyPr wrap="square">
            <a:spAutoFit/>
          </a:bodyPr>
          <a:lstStyle/>
          <a:p>
            <a:pPr algn="ctr">
              <a:buNone/>
            </a:pPr>
            <a:r>
              <a:rPr sz="2400" b="1" dirty="0">
                <a:latin typeface="Arial"/>
                <a:ea typeface="Arial"/>
                <a:cs typeface="Arial"/>
              </a:rPr>
              <a:t>A Project on</a:t>
            </a:r>
          </a:p>
          <a:p>
            <a:pPr algn="ctr">
              <a:buNone/>
            </a:pPr>
            <a:r>
              <a:rPr sz="3200" b="1" dirty="0">
                <a:latin typeface="Arial"/>
                <a:ea typeface="Arial"/>
                <a:cs typeface="Arial"/>
              </a:rPr>
              <a:t>“</a:t>
            </a:r>
            <a:r>
              <a:rPr sz="3200" b="1" dirty="0" err="1">
                <a:latin typeface="Arial"/>
                <a:ea typeface="Arial"/>
                <a:cs typeface="Arial"/>
              </a:rPr>
              <a:t>BizTrack</a:t>
            </a:r>
            <a:r>
              <a:rPr sz="3200" b="1" dirty="0">
                <a:latin typeface="Arial"/>
                <a:ea typeface="Arial"/>
                <a:cs typeface="Arial"/>
              </a:rPr>
              <a:t> - A Complete Business Accounting Management System”</a:t>
            </a:r>
            <a:r>
              <a:rPr sz="4167" dirty="0">
                <a:latin typeface="Arial"/>
                <a:ea typeface="Arial"/>
                <a:cs typeface="Arial"/>
              </a:rPr>
              <a:t> </a:t>
            </a:r>
          </a:p>
          <a:p>
            <a:pPr algn="ctr">
              <a:buNone/>
            </a:pPr>
            <a:r>
              <a:rPr b="1" dirty="0">
                <a:solidFill>
                  <a:schemeClr val="accent6"/>
                </a:solidFill>
                <a:latin typeface="Arial"/>
                <a:ea typeface="Arial"/>
                <a:cs typeface="Arial"/>
              </a:rPr>
              <a:t>For the degree of MSCSE (Professional)</a:t>
            </a:r>
            <a:endParaRPr dirty="0">
              <a:solidFill>
                <a:schemeClr val="accent6"/>
              </a:solidFill>
              <a:latin typeface="Arial"/>
              <a:ea typeface="Arial"/>
              <a:cs typeface="Arial"/>
            </a:endParaRPr>
          </a:p>
          <a:p>
            <a:endParaRPr sz="2400" b="1" dirty="0">
              <a:latin typeface="Arial"/>
              <a:ea typeface="Arial"/>
              <a:cs typeface="Arial"/>
            </a:endParaRPr>
          </a:p>
        </p:txBody>
      </p:sp>
      <p:sp>
        <p:nvSpPr>
          <p:cNvPr id="17" name="TextBox 16">
            <a:extLst>
              <a:ext uri="{FF2B5EF4-FFF2-40B4-BE49-F238E27FC236}">
                <a16:creationId xmlns:a16="http://schemas.microsoft.com/office/drawing/2014/main" id="{83DE6AE1-64C0-93DB-9A3D-0BAF2082925B}"/>
              </a:ext>
            </a:extLst>
          </p:cNvPr>
          <p:cNvSpPr>
            <a:spLocks noGrp="1"/>
          </p:cNvSpPr>
          <p:nvPr/>
        </p:nvSpPr>
        <p:spPr>
          <a:xfrm>
            <a:off x="862510" y="4468696"/>
            <a:ext cx="6971980" cy="1384995"/>
          </a:xfrm>
          <a:prstGeom prst="rect">
            <a:avLst/>
          </a:prstGeom>
          <a:noFill/>
        </p:spPr>
        <p:txBody>
          <a:bodyPr wrap="square">
            <a:spAutoFit/>
          </a:bodyPr>
          <a:lstStyle/>
          <a:p>
            <a:r>
              <a:rPr sz="2400" b="1">
                <a:latin typeface="Arial"/>
                <a:ea typeface="Arial"/>
                <a:cs typeface="Arial"/>
              </a:rPr>
              <a:t>Presented by:</a:t>
            </a:r>
            <a:r>
              <a:rPr sz="2400">
                <a:latin typeface="Arial"/>
                <a:ea typeface="Arial"/>
                <a:cs typeface="Arial"/>
              </a:rPr>
              <a:t> </a:t>
            </a:r>
          </a:p>
          <a:p>
            <a:r>
              <a:rPr sz="2000">
                <a:latin typeface="Arial"/>
                <a:ea typeface="Arial"/>
                <a:cs typeface="Arial"/>
              </a:rPr>
              <a:t>Md. Arifur Rahman</a:t>
            </a:r>
          </a:p>
          <a:p>
            <a:r>
              <a:rPr sz="2000" b="1">
                <a:latin typeface="Arial"/>
                <a:ea typeface="Arial"/>
                <a:cs typeface="Arial"/>
              </a:rPr>
              <a:t>ID: </a:t>
            </a:r>
            <a:r>
              <a:rPr sz="2000">
                <a:latin typeface="Arial"/>
                <a:ea typeface="Arial"/>
                <a:cs typeface="Arial"/>
              </a:rPr>
              <a:t>M240105042</a:t>
            </a:r>
          </a:p>
          <a:p>
            <a:r>
              <a:rPr sz="2000" b="1">
                <a:latin typeface="Arial"/>
                <a:ea typeface="Arial"/>
                <a:cs typeface="Arial"/>
              </a:rPr>
              <a:t>Batch: </a:t>
            </a:r>
            <a:r>
              <a:rPr sz="2000">
                <a:latin typeface="Arial"/>
                <a:ea typeface="Arial"/>
                <a:cs typeface="Arial"/>
              </a:rPr>
              <a:t>15th</a:t>
            </a:r>
          </a:p>
        </p:txBody>
      </p:sp>
      <p:sp>
        <p:nvSpPr>
          <p:cNvPr id="2" name="TextBox 1">
            <a:extLst>
              <a:ext uri="{FF2B5EF4-FFF2-40B4-BE49-F238E27FC236}">
                <a16:creationId xmlns:a16="http://schemas.microsoft.com/office/drawing/2014/main" id="{3E4CE08E-6350-4991-B4B2-D5C8E05A5F68}"/>
              </a:ext>
            </a:extLst>
          </p:cNvPr>
          <p:cNvSpPr>
            <a:spLocks noGrp="1"/>
          </p:cNvSpPr>
          <p:nvPr/>
        </p:nvSpPr>
        <p:spPr>
          <a:xfrm>
            <a:off x="6896898" y="4468696"/>
            <a:ext cx="4888125" cy="1692771"/>
          </a:xfrm>
          <a:prstGeom prst="rect">
            <a:avLst/>
          </a:prstGeom>
          <a:noFill/>
        </p:spPr>
        <p:txBody>
          <a:bodyPr wrap="square">
            <a:spAutoFit/>
          </a:bodyPr>
          <a:lstStyle/>
          <a:p>
            <a:pPr algn="r">
              <a:buNone/>
            </a:pPr>
            <a:r>
              <a:rPr sz="2400" b="1">
                <a:solidFill>
                  <a:schemeClr val="accent2">
                    <a:lumMod val="75000"/>
                  </a:schemeClr>
                </a:solidFill>
                <a:latin typeface="Arial"/>
                <a:ea typeface="Arial"/>
                <a:cs typeface="Arial"/>
              </a:rPr>
              <a:t>Supervised By:</a:t>
            </a:r>
          </a:p>
          <a:p>
            <a:pPr algn="r">
              <a:buNone/>
            </a:pPr>
            <a:r>
              <a:rPr sz="2000">
                <a:latin typeface="Arial"/>
                <a:ea typeface="Arial"/>
                <a:cs typeface="Arial"/>
              </a:rPr>
              <a:t>Dr. Md. Zulfiker Mahmud</a:t>
            </a:r>
          </a:p>
          <a:p>
            <a:pPr algn="r">
              <a:buNone/>
            </a:pPr>
            <a:r>
              <a:rPr sz="2000">
                <a:latin typeface="Arial"/>
                <a:ea typeface="Arial"/>
                <a:cs typeface="Arial"/>
              </a:rPr>
              <a:t>Professor</a:t>
            </a:r>
          </a:p>
          <a:p>
            <a:pPr algn="r">
              <a:buNone/>
            </a:pPr>
            <a:r>
              <a:rPr sz="2000">
                <a:latin typeface="Arial"/>
                <a:ea typeface="Arial"/>
                <a:cs typeface="Arial"/>
              </a:rPr>
              <a:t>Department of CSE</a:t>
            </a:r>
          </a:p>
          <a:p>
            <a:pPr algn="r">
              <a:buNone/>
            </a:pPr>
            <a:r>
              <a:rPr sz="2000">
                <a:latin typeface="Arial"/>
                <a:ea typeface="Arial"/>
                <a:cs typeface="Arial"/>
              </a:rPr>
              <a:t>Jagannath University, Dhaka</a:t>
            </a:r>
          </a:p>
        </p:txBody>
      </p:sp>
    </p:spTree>
    <p:extLst>
      <p:ext uri="{BB962C8B-B14F-4D97-AF65-F5344CB8AC3E}">
        <p14:creationId xmlns:p14="http://schemas.microsoft.com/office/powerpoint/2010/main" val="2999241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1CEE500-D81A-4F61-85B3-FC3FB71BF97C}"/>
              </a:ext>
            </a:extLst>
          </p:cNvPr>
          <p:cNvSpPr>
            <a:spLocks noGrp="1"/>
          </p:cNvSpPr>
          <p:nvPr/>
        </p:nvSpPr>
        <p:spPr>
          <a:xfrm>
            <a:off x="514350" y="590550"/>
            <a:ext cx="11096625" cy="523875"/>
          </a:xfrm>
          <a:prstGeom prst="rect">
            <a:avLst/>
          </a:prstGeom>
          <a:noFill/>
          <a:ln w="0">
            <a:noFill/>
            <a:prstDash val="solid"/>
          </a:ln>
        </p:spPr>
        <p:txBody>
          <a:bodyPr anchor="ctr">
            <a:normAutofit/>
          </a:bodyPr>
          <a:lstStyle/>
          <a:p>
            <a:pPr algn="l">
              <a:defRPr sz="2550" b="1">
                <a:solidFill>
                  <a:srgbClr val="183B56"/>
                </a:solidFill>
                <a:latin typeface="Arial"/>
                <a:ea typeface="Arial"/>
                <a:cs typeface="Arial"/>
              </a:defRPr>
            </a:pPr>
            <a:r>
              <a:rPr sz="2550" b="1" dirty="0">
                <a:solidFill>
                  <a:srgbClr val="183B56"/>
                </a:solidFill>
                <a:latin typeface="Arial"/>
                <a:ea typeface="Arial"/>
                <a:cs typeface="Arial"/>
              </a:rPr>
              <a:t>The real problem is </a:t>
            </a:r>
            <a:r>
              <a:rPr lang="en-US" sz="2550" b="1" i="1" dirty="0">
                <a:solidFill>
                  <a:srgbClr val="FC6252"/>
                </a:solidFill>
                <a:latin typeface="Arial"/>
                <a:cs typeface="Arial"/>
              </a:rPr>
              <a:t>"</a:t>
            </a:r>
            <a:r>
              <a:rPr sz="2550" b="1" i="1" dirty="0">
                <a:solidFill>
                  <a:srgbClr val="FC6252"/>
                </a:solidFill>
                <a:latin typeface="Arial"/>
                <a:ea typeface="Arial"/>
                <a:cs typeface="Arial"/>
              </a:rPr>
              <a:t>disconnected business records</a:t>
            </a:r>
            <a:r>
              <a:rPr lang="en-US" sz="2550" b="1" i="1" dirty="0">
                <a:solidFill>
                  <a:srgbClr val="FC6252"/>
                </a:solidFill>
                <a:latin typeface="Arial"/>
                <a:ea typeface="Arial"/>
                <a:cs typeface="Arial"/>
              </a:rPr>
              <a:t>"</a:t>
            </a:r>
            <a:endParaRPr sz="2550" b="1" i="1" dirty="0">
              <a:solidFill>
                <a:srgbClr val="FC6252"/>
              </a:solidFill>
              <a:latin typeface="Arial"/>
              <a:ea typeface="Arial"/>
              <a:cs typeface="Arial"/>
            </a:endParaRPr>
          </a:p>
        </p:txBody>
      </p:sp>
      <p:sp>
        <p:nvSpPr>
          <p:cNvPr id="4" name="Rectangle 3">
            <a:extLst>
              <a:ext uri="{FF2B5EF4-FFF2-40B4-BE49-F238E27FC236}">
                <a16:creationId xmlns:a16="http://schemas.microsoft.com/office/drawing/2014/main" id="{5FEBD30B-4C30-442C-B8D0-1CE8C28EAF19}"/>
              </a:ext>
            </a:extLst>
          </p:cNvPr>
          <p:cNvSpPr>
            <a:spLocks noGrp="1"/>
          </p:cNvSpPr>
          <p:nvPr/>
        </p:nvSpPr>
        <p:spPr>
          <a:xfrm>
            <a:off x="514350" y="1200150"/>
            <a:ext cx="781050" cy="38100"/>
          </a:xfrm>
          <a:prstGeom prst="rect">
            <a:avLst/>
          </a:prstGeom>
          <a:solidFill>
            <a:srgbClr val="D89B2B"/>
          </a:solidFill>
          <a:ln w="0">
            <a:noFill/>
            <a:prstDash val="solid"/>
          </a:ln>
        </p:spPr>
        <p:txBody>
          <a:bodyPr/>
          <a:lstStyle/>
          <a:p>
            <a:endParaRPr lang="en-US"/>
          </a:p>
        </p:txBody>
      </p:sp>
      <p:sp>
        <p:nvSpPr>
          <p:cNvPr id="5" name="Rectangle 4">
            <a:extLst>
              <a:ext uri="{FF2B5EF4-FFF2-40B4-BE49-F238E27FC236}">
                <a16:creationId xmlns:a16="http://schemas.microsoft.com/office/drawing/2014/main" id="{0E05FC62-B49C-4DB3-A50D-1A20D2C47587}"/>
              </a:ext>
            </a:extLst>
          </p:cNvPr>
          <p:cNvSpPr>
            <a:spLocks noGrp="1"/>
          </p:cNvSpPr>
          <p:nvPr/>
        </p:nvSpPr>
        <p:spPr>
          <a:xfrm>
            <a:off x="514350" y="6419850"/>
            <a:ext cx="11096625" cy="9525"/>
          </a:xfrm>
          <a:prstGeom prst="rect">
            <a:avLst/>
          </a:prstGeom>
          <a:solidFill>
            <a:srgbClr val="C9D2D8"/>
          </a:solidFill>
          <a:ln w="0">
            <a:noFill/>
            <a:prstDash val="solid"/>
          </a:ln>
        </p:spPr>
        <p:txBody>
          <a:bodyPr/>
          <a:lstStyle/>
          <a:p>
            <a:endParaRPr lang="en-US"/>
          </a:p>
        </p:txBody>
      </p:sp>
      <p:sp>
        <p:nvSpPr>
          <p:cNvPr id="6" name="Rectangle 5">
            <a:extLst>
              <a:ext uri="{FF2B5EF4-FFF2-40B4-BE49-F238E27FC236}">
                <a16:creationId xmlns:a16="http://schemas.microsoft.com/office/drawing/2014/main" id="{11649D52-3DB5-48FA-9B7F-0366146179DD}"/>
              </a:ext>
            </a:extLst>
          </p:cNvPr>
          <p:cNvSpPr>
            <a:spLocks noGrp="1"/>
          </p:cNvSpPr>
          <p:nvPr/>
        </p:nvSpPr>
        <p:spPr>
          <a:xfrm>
            <a:off x="514350" y="6505575"/>
            <a:ext cx="3333750" cy="209550"/>
          </a:xfrm>
          <a:prstGeom prst="rect">
            <a:avLst/>
          </a:prstGeom>
          <a:noFill/>
          <a:ln w="0">
            <a:noFill/>
            <a:prstDash val="solid"/>
          </a:ln>
        </p:spPr>
        <p:txBody>
          <a:bodyPr anchor="ctr">
            <a:normAutofit fontScale="93939" lnSpcReduction="10000"/>
          </a:bodyPr>
          <a:lstStyle/>
          <a:p>
            <a:pPr algn="l">
              <a:defRPr sz="825" b="0">
                <a:solidFill>
                  <a:srgbClr val="5F6B76"/>
                </a:solidFill>
                <a:latin typeface="Arial"/>
                <a:ea typeface="Arial"/>
                <a:cs typeface="Arial"/>
              </a:defRPr>
            </a:pPr>
            <a:r>
              <a:rPr sz="825" b="0" dirty="0" err="1">
                <a:solidFill>
                  <a:srgbClr val="5F6B76"/>
                </a:solidFill>
                <a:latin typeface="Arial"/>
                <a:ea typeface="Arial"/>
                <a:cs typeface="Arial"/>
              </a:rPr>
              <a:t>BizTrack</a:t>
            </a:r>
            <a:r>
              <a:rPr sz="825" b="0" dirty="0">
                <a:solidFill>
                  <a:srgbClr val="5F6B76"/>
                </a:solidFill>
                <a:latin typeface="Arial"/>
                <a:ea typeface="Arial"/>
                <a:cs typeface="Arial"/>
              </a:rPr>
              <a:t> • </a:t>
            </a:r>
            <a:r>
              <a:rPr lang="en-US" sz="825" b="0" dirty="0">
                <a:solidFill>
                  <a:srgbClr val="5F6B76"/>
                </a:solidFill>
                <a:latin typeface="Arial"/>
                <a:ea typeface="Arial"/>
                <a:cs typeface="Arial"/>
              </a:rPr>
              <a:t>A Complete Business Accounting Management System</a:t>
            </a:r>
            <a:endParaRPr sz="825" b="0" dirty="0">
              <a:solidFill>
                <a:srgbClr val="5F6B76"/>
              </a:solidFill>
              <a:latin typeface="Arial"/>
              <a:ea typeface="Arial"/>
              <a:cs typeface="Arial"/>
            </a:endParaRPr>
          </a:p>
        </p:txBody>
      </p:sp>
      <p:sp>
        <p:nvSpPr>
          <p:cNvPr id="7" name="Rectangle 6">
            <a:extLst>
              <a:ext uri="{FF2B5EF4-FFF2-40B4-BE49-F238E27FC236}">
                <a16:creationId xmlns:a16="http://schemas.microsoft.com/office/drawing/2014/main" id="{FEDF807D-D0D3-4016-A326-581585ADC887}"/>
              </a:ext>
            </a:extLst>
          </p:cNvPr>
          <p:cNvSpPr>
            <a:spLocks noGrp="1"/>
          </p:cNvSpPr>
          <p:nvPr/>
        </p:nvSpPr>
        <p:spPr>
          <a:xfrm>
            <a:off x="11049000" y="6505575"/>
            <a:ext cx="552450" cy="209550"/>
          </a:xfrm>
          <a:prstGeom prst="rect">
            <a:avLst/>
          </a:prstGeom>
          <a:noFill/>
          <a:ln w="0">
            <a:noFill/>
            <a:prstDash val="solid"/>
          </a:ln>
        </p:spPr>
        <p:txBody>
          <a:bodyPr anchor="ctr">
            <a:normAutofit fontScale="93939" lnSpcReduction="10000"/>
          </a:bodyPr>
          <a:lstStyle/>
          <a:p>
            <a:pPr algn="r">
              <a:defRPr sz="825" b="1">
                <a:solidFill>
                  <a:srgbClr val="5F6B76"/>
                </a:solidFill>
                <a:latin typeface="Arial"/>
                <a:ea typeface="Arial"/>
                <a:cs typeface="Arial"/>
              </a:defRPr>
            </a:pPr>
            <a:r>
              <a:rPr sz="825" b="1">
                <a:solidFill>
                  <a:srgbClr val="5F6B76"/>
                </a:solidFill>
                <a:latin typeface="Arial"/>
                <a:ea typeface="Arial"/>
                <a:cs typeface="Arial"/>
              </a:rPr>
              <a:t>02</a:t>
            </a:r>
          </a:p>
        </p:txBody>
      </p:sp>
      <p:sp>
        <p:nvSpPr>
          <p:cNvPr id="9" name="Rectangle 8">
            <a:extLst>
              <a:ext uri="{FF2B5EF4-FFF2-40B4-BE49-F238E27FC236}">
                <a16:creationId xmlns:a16="http://schemas.microsoft.com/office/drawing/2014/main" id="{2F4EDDA2-D638-43E7-88D6-95C559A23672}"/>
              </a:ext>
            </a:extLst>
          </p:cNvPr>
          <p:cNvSpPr>
            <a:spLocks noGrp="1"/>
          </p:cNvSpPr>
          <p:nvPr/>
        </p:nvSpPr>
        <p:spPr>
          <a:xfrm>
            <a:off x="895350" y="1695450"/>
            <a:ext cx="4962525" cy="361950"/>
          </a:xfrm>
          <a:prstGeom prst="rect">
            <a:avLst/>
          </a:prstGeom>
          <a:noFill/>
          <a:ln w="0">
            <a:noFill/>
            <a:prstDash val="solid"/>
          </a:ln>
        </p:spPr>
        <p:txBody>
          <a:bodyPr anchor="ctr">
            <a:normAutofit fontScale="96326"/>
          </a:bodyPr>
          <a:lstStyle/>
          <a:p>
            <a:pPr algn="l">
              <a:defRPr sz="1575" b="0">
                <a:solidFill>
                  <a:srgbClr val="17212B"/>
                </a:solidFill>
                <a:latin typeface="Arial"/>
                <a:ea typeface="Arial"/>
                <a:cs typeface="Arial"/>
              </a:defRPr>
            </a:pPr>
            <a:endParaRPr sz="1575" b="0" dirty="0">
              <a:solidFill>
                <a:srgbClr val="17212B"/>
              </a:solidFill>
              <a:latin typeface="Arial"/>
              <a:ea typeface="Arial"/>
              <a:cs typeface="Arial"/>
            </a:endParaRPr>
          </a:p>
        </p:txBody>
      </p:sp>
      <p:sp>
        <p:nvSpPr>
          <p:cNvPr id="11" name="Rectangle 10">
            <a:extLst>
              <a:ext uri="{FF2B5EF4-FFF2-40B4-BE49-F238E27FC236}">
                <a16:creationId xmlns:a16="http://schemas.microsoft.com/office/drawing/2014/main" id="{FCC007F8-0F73-485D-9814-5BDA4D3260F1}"/>
              </a:ext>
            </a:extLst>
          </p:cNvPr>
          <p:cNvSpPr>
            <a:spLocks noGrp="1"/>
          </p:cNvSpPr>
          <p:nvPr/>
        </p:nvSpPr>
        <p:spPr>
          <a:xfrm>
            <a:off x="895350" y="2390775"/>
            <a:ext cx="4962525" cy="361950"/>
          </a:xfrm>
          <a:prstGeom prst="rect">
            <a:avLst/>
          </a:prstGeom>
          <a:noFill/>
          <a:ln w="0">
            <a:noFill/>
            <a:prstDash val="solid"/>
          </a:ln>
        </p:spPr>
        <p:txBody>
          <a:bodyPr anchor="ctr">
            <a:normAutofit/>
          </a:bodyPr>
          <a:lstStyle/>
          <a:p>
            <a:pPr algn="l">
              <a:defRPr sz="1575" b="0">
                <a:solidFill>
                  <a:srgbClr val="17212B"/>
                </a:solidFill>
                <a:latin typeface="Arial"/>
                <a:ea typeface="Arial"/>
                <a:cs typeface="Arial"/>
              </a:defRPr>
            </a:pPr>
            <a:endParaRPr sz="1575" b="0" dirty="0">
              <a:solidFill>
                <a:srgbClr val="17212B"/>
              </a:solidFill>
              <a:latin typeface="Arial"/>
              <a:ea typeface="Arial"/>
              <a:cs typeface="Arial"/>
            </a:endParaRPr>
          </a:p>
        </p:txBody>
      </p:sp>
      <p:sp>
        <p:nvSpPr>
          <p:cNvPr id="13" name="Rectangle 12">
            <a:extLst>
              <a:ext uri="{FF2B5EF4-FFF2-40B4-BE49-F238E27FC236}">
                <a16:creationId xmlns:a16="http://schemas.microsoft.com/office/drawing/2014/main" id="{4E86D728-2211-4797-9F98-B67C96A4CD36}"/>
              </a:ext>
            </a:extLst>
          </p:cNvPr>
          <p:cNvSpPr>
            <a:spLocks noGrp="1"/>
          </p:cNvSpPr>
          <p:nvPr/>
        </p:nvSpPr>
        <p:spPr>
          <a:xfrm>
            <a:off x="628649" y="2133600"/>
            <a:ext cx="5229226" cy="3028950"/>
          </a:xfrm>
          <a:prstGeom prst="rect">
            <a:avLst/>
          </a:prstGeom>
          <a:noFill/>
          <a:ln w="0">
            <a:noFill/>
            <a:prstDash val="solid"/>
          </a:ln>
        </p:spPr>
        <p:txBody>
          <a:bodyPr anchor="ctr">
            <a:noAutofit/>
          </a:bodyPr>
          <a:lstStyle/>
          <a:p>
            <a:pPr marL="285750" indent="-285750">
              <a:spcAft>
                <a:spcPts val="1200"/>
              </a:spcAft>
              <a:buFont typeface="Wingdings" panose="05000000000000000000" pitchFamily="2" charset="2"/>
              <a:buChar char="§"/>
              <a:defRPr sz="1575" b="0">
                <a:solidFill>
                  <a:srgbClr val="17212B"/>
                </a:solidFill>
                <a:latin typeface="Arial"/>
                <a:ea typeface="Arial"/>
                <a:cs typeface="Arial"/>
              </a:defRPr>
            </a:pPr>
            <a:r>
              <a:rPr lang="en-US" sz="2000" dirty="0">
                <a:solidFill>
                  <a:srgbClr val="17212B"/>
                </a:solidFill>
                <a:latin typeface="Arial"/>
                <a:ea typeface="Arial"/>
                <a:cs typeface="Arial"/>
              </a:rPr>
              <a:t>Sales, stock and accounts are often kept in different books or files.</a:t>
            </a:r>
          </a:p>
          <a:p>
            <a:pPr marL="285750" indent="-285750">
              <a:spcAft>
                <a:spcPts val="1200"/>
              </a:spcAft>
              <a:buFont typeface="Wingdings" panose="05000000000000000000" pitchFamily="2" charset="2"/>
              <a:buChar char="§"/>
              <a:defRPr sz="1575" b="0">
                <a:solidFill>
                  <a:srgbClr val="17212B"/>
                </a:solidFill>
                <a:latin typeface="Arial"/>
                <a:ea typeface="Arial"/>
                <a:cs typeface="Arial"/>
              </a:defRPr>
            </a:pPr>
            <a:r>
              <a:rPr lang="en-US" sz="2000" dirty="0">
                <a:solidFill>
                  <a:srgbClr val="17212B"/>
                </a:solidFill>
                <a:latin typeface="Arial"/>
                <a:ea typeface="Arial"/>
                <a:cs typeface="Arial"/>
              </a:rPr>
              <a:t>The same transaction may be entered several times.</a:t>
            </a:r>
          </a:p>
          <a:p>
            <a:pPr marL="285750" indent="-285750">
              <a:spcAft>
                <a:spcPts val="1200"/>
              </a:spcAft>
              <a:buFont typeface="Wingdings" panose="05000000000000000000" pitchFamily="2" charset="2"/>
              <a:buChar char="§"/>
              <a:defRPr sz="1575" b="0">
                <a:solidFill>
                  <a:srgbClr val="17212B"/>
                </a:solidFill>
                <a:latin typeface="Arial"/>
                <a:ea typeface="Arial"/>
                <a:cs typeface="Arial"/>
              </a:defRPr>
            </a:pPr>
            <a:r>
              <a:rPr lang="en-US" sz="2000" dirty="0">
                <a:solidFill>
                  <a:srgbClr val="17212B"/>
                </a:solidFill>
                <a:latin typeface="Arial"/>
                <a:ea typeface="Arial"/>
                <a:cs typeface="Arial"/>
              </a:rPr>
              <a:t>Balances and reports become slow to prepare and may not agree.</a:t>
            </a:r>
            <a:endParaRPr sz="2000" b="0" dirty="0">
              <a:solidFill>
                <a:srgbClr val="17212B"/>
              </a:solidFill>
              <a:latin typeface="Arial"/>
              <a:ea typeface="Arial"/>
              <a:cs typeface="Arial"/>
            </a:endParaRPr>
          </a:p>
        </p:txBody>
      </p:sp>
      <p:sp>
        <p:nvSpPr>
          <p:cNvPr id="14" name="Rectangle: Rounded Corners 13">
            <a:extLst>
              <a:ext uri="{FF2B5EF4-FFF2-40B4-BE49-F238E27FC236}">
                <a16:creationId xmlns:a16="http://schemas.microsoft.com/office/drawing/2014/main" id="{C6EFA6C4-DB7B-4471-BB92-7819359F0E53}"/>
              </a:ext>
            </a:extLst>
          </p:cNvPr>
          <p:cNvSpPr>
            <a:spLocks noGrp="1"/>
          </p:cNvSpPr>
          <p:nvPr/>
        </p:nvSpPr>
        <p:spPr>
          <a:xfrm>
            <a:off x="6572250" y="1714500"/>
            <a:ext cx="2000250" cy="819150"/>
          </a:xfrm>
          <a:prstGeom prst="roundRect">
            <a:avLst>
              <a:gd name="adj" fmla="val 6977"/>
            </a:avLst>
          </a:prstGeom>
          <a:solidFill>
            <a:srgbClr val="EAF0F5"/>
          </a:solidFill>
          <a:ln w="14288">
            <a:solidFill>
              <a:srgbClr val="C9D2D8"/>
            </a:solidFill>
            <a:prstDash val="solid"/>
          </a:ln>
        </p:spPr>
        <p:txBody>
          <a:bodyPr/>
          <a:lstStyle/>
          <a:p>
            <a:endParaRPr lang="en-US"/>
          </a:p>
        </p:txBody>
      </p:sp>
      <p:sp>
        <p:nvSpPr>
          <p:cNvPr id="15" name="Rectangle 14">
            <a:extLst>
              <a:ext uri="{FF2B5EF4-FFF2-40B4-BE49-F238E27FC236}">
                <a16:creationId xmlns:a16="http://schemas.microsoft.com/office/drawing/2014/main" id="{9AE4969D-F0AB-4571-BFFA-07E61F0A92E6}"/>
              </a:ext>
            </a:extLst>
          </p:cNvPr>
          <p:cNvSpPr>
            <a:spLocks noGrp="1"/>
          </p:cNvSpPr>
          <p:nvPr/>
        </p:nvSpPr>
        <p:spPr>
          <a:xfrm>
            <a:off x="6667500" y="1781175"/>
            <a:ext cx="1809750" cy="685800"/>
          </a:xfrm>
          <a:prstGeom prst="rect">
            <a:avLst/>
          </a:prstGeom>
          <a:noFill/>
          <a:ln w="0">
            <a:noFill/>
            <a:prstDash val="solid"/>
          </a:ln>
        </p:spPr>
        <p:txBody>
          <a:bodyPr anchor="ctr">
            <a:normAutofit fontScale="96296"/>
          </a:bodyPr>
          <a:lstStyle/>
          <a:p>
            <a:pPr algn="ctr">
              <a:defRPr sz="1350" b="1">
                <a:solidFill>
                  <a:srgbClr val="183B56"/>
                </a:solidFill>
                <a:latin typeface="Arial"/>
                <a:ea typeface="Arial"/>
                <a:cs typeface="Arial"/>
              </a:defRPr>
            </a:pPr>
            <a:r>
              <a:rPr sz="1350" b="1">
                <a:solidFill>
                  <a:srgbClr val="183B56"/>
                </a:solidFill>
                <a:latin typeface="Arial"/>
                <a:ea typeface="Arial"/>
                <a:cs typeface="Arial"/>
              </a:rPr>
              <a:t>SALES</a:t>
            </a:r>
          </a:p>
          <a:p>
            <a:pPr algn="ctr">
              <a:defRPr sz="1350" b="1">
                <a:solidFill>
                  <a:srgbClr val="183B56"/>
                </a:solidFill>
                <a:latin typeface="Arial"/>
                <a:ea typeface="Arial"/>
                <a:cs typeface="Arial"/>
              </a:defRPr>
            </a:pPr>
            <a:r>
              <a:rPr sz="1350" b="1">
                <a:solidFill>
                  <a:srgbClr val="183B56"/>
                </a:solidFill>
                <a:latin typeface="Arial"/>
                <a:ea typeface="Arial"/>
                <a:cs typeface="Arial"/>
              </a:rPr>
              <a:t>Invoice and payment</a:t>
            </a:r>
          </a:p>
        </p:txBody>
      </p:sp>
      <p:sp>
        <p:nvSpPr>
          <p:cNvPr id="16" name="Rectangle: Rounded Corners 15">
            <a:extLst>
              <a:ext uri="{FF2B5EF4-FFF2-40B4-BE49-F238E27FC236}">
                <a16:creationId xmlns:a16="http://schemas.microsoft.com/office/drawing/2014/main" id="{6702A194-5E64-4A31-BE73-783C0C4EA182}"/>
              </a:ext>
            </a:extLst>
          </p:cNvPr>
          <p:cNvSpPr>
            <a:spLocks noGrp="1"/>
          </p:cNvSpPr>
          <p:nvPr/>
        </p:nvSpPr>
        <p:spPr>
          <a:xfrm>
            <a:off x="9048750" y="1714500"/>
            <a:ext cx="2000250" cy="819150"/>
          </a:xfrm>
          <a:prstGeom prst="roundRect">
            <a:avLst>
              <a:gd name="adj" fmla="val 6977"/>
            </a:avLst>
          </a:prstGeom>
          <a:solidFill>
            <a:srgbClr val="EAF4F3"/>
          </a:solidFill>
          <a:ln w="14288">
            <a:solidFill>
              <a:srgbClr val="C9D2D8"/>
            </a:solidFill>
            <a:prstDash val="solid"/>
          </a:ln>
        </p:spPr>
        <p:txBody>
          <a:bodyPr/>
          <a:lstStyle/>
          <a:p>
            <a:endParaRPr lang="en-US"/>
          </a:p>
        </p:txBody>
      </p:sp>
      <p:sp>
        <p:nvSpPr>
          <p:cNvPr id="17" name="Rectangle 16">
            <a:extLst>
              <a:ext uri="{FF2B5EF4-FFF2-40B4-BE49-F238E27FC236}">
                <a16:creationId xmlns:a16="http://schemas.microsoft.com/office/drawing/2014/main" id="{CB6EE932-8130-4078-9659-0DA901728D2E}"/>
              </a:ext>
            </a:extLst>
          </p:cNvPr>
          <p:cNvSpPr>
            <a:spLocks noGrp="1"/>
          </p:cNvSpPr>
          <p:nvPr/>
        </p:nvSpPr>
        <p:spPr>
          <a:xfrm>
            <a:off x="9144000" y="1781175"/>
            <a:ext cx="1809750" cy="685800"/>
          </a:xfrm>
          <a:prstGeom prst="rect">
            <a:avLst/>
          </a:prstGeom>
          <a:noFill/>
          <a:ln w="0">
            <a:noFill/>
            <a:prstDash val="solid"/>
          </a:ln>
        </p:spPr>
        <p:txBody>
          <a:bodyPr anchor="ctr">
            <a:normAutofit/>
          </a:bodyPr>
          <a:lstStyle/>
          <a:p>
            <a:pPr algn="ctr">
              <a:defRPr sz="1350" b="1">
                <a:solidFill>
                  <a:srgbClr val="183B56"/>
                </a:solidFill>
                <a:latin typeface="Arial"/>
                <a:ea typeface="Arial"/>
                <a:cs typeface="Arial"/>
              </a:defRPr>
            </a:pPr>
            <a:r>
              <a:rPr sz="1350" b="1">
                <a:solidFill>
                  <a:srgbClr val="183B56"/>
                </a:solidFill>
                <a:latin typeface="Arial"/>
                <a:ea typeface="Arial"/>
                <a:cs typeface="Arial"/>
              </a:rPr>
              <a:t>STOCK</a:t>
            </a:r>
          </a:p>
          <a:p>
            <a:pPr algn="ctr">
              <a:defRPr sz="1350" b="1">
                <a:solidFill>
                  <a:srgbClr val="183B56"/>
                </a:solidFill>
                <a:latin typeface="Arial"/>
                <a:ea typeface="Arial"/>
                <a:cs typeface="Arial"/>
              </a:defRPr>
            </a:pPr>
            <a:r>
              <a:rPr sz="1350" b="1">
                <a:solidFill>
                  <a:srgbClr val="183B56"/>
                </a:solidFill>
                <a:latin typeface="Arial"/>
                <a:ea typeface="Arial"/>
                <a:cs typeface="Arial"/>
              </a:rPr>
              <a:t>Quantity record</a:t>
            </a:r>
          </a:p>
        </p:txBody>
      </p:sp>
      <p:sp>
        <p:nvSpPr>
          <p:cNvPr id="18" name="Rectangle: Rounded Corners 17">
            <a:extLst>
              <a:ext uri="{FF2B5EF4-FFF2-40B4-BE49-F238E27FC236}">
                <a16:creationId xmlns:a16="http://schemas.microsoft.com/office/drawing/2014/main" id="{E515266B-5350-449F-BED2-827FCD598E80}"/>
              </a:ext>
            </a:extLst>
          </p:cNvPr>
          <p:cNvSpPr>
            <a:spLocks noGrp="1"/>
          </p:cNvSpPr>
          <p:nvPr/>
        </p:nvSpPr>
        <p:spPr>
          <a:xfrm>
            <a:off x="7810500" y="3190875"/>
            <a:ext cx="2000250" cy="819150"/>
          </a:xfrm>
          <a:prstGeom prst="roundRect">
            <a:avLst>
              <a:gd name="adj" fmla="val 6977"/>
            </a:avLst>
          </a:prstGeom>
          <a:solidFill>
            <a:srgbClr val="FBF2E2"/>
          </a:solidFill>
          <a:ln w="14288">
            <a:solidFill>
              <a:srgbClr val="C9D2D8"/>
            </a:solidFill>
            <a:prstDash val="solid"/>
          </a:ln>
        </p:spPr>
        <p:txBody>
          <a:bodyPr/>
          <a:lstStyle/>
          <a:p>
            <a:endParaRPr lang="en-US"/>
          </a:p>
        </p:txBody>
      </p:sp>
      <p:sp>
        <p:nvSpPr>
          <p:cNvPr id="19" name="Rectangle 18">
            <a:extLst>
              <a:ext uri="{FF2B5EF4-FFF2-40B4-BE49-F238E27FC236}">
                <a16:creationId xmlns:a16="http://schemas.microsoft.com/office/drawing/2014/main" id="{CF827650-8E22-4E37-8A88-2DEA4A1A67D1}"/>
              </a:ext>
            </a:extLst>
          </p:cNvPr>
          <p:cNvSpPr>
            <a:spLocks noGrp="1"/>
          </p:cNvSpPr>
          <p:nvPr/>
        </p:nvSpPr>
        <p:spPr>
          <a:xfrm>
            <a:off x="7905750" y="3257550"/>
            <a:ext cx="1809750" cy="685800"/>
          </a:xfrm>
          <a:prstGeom prst="rect">
            <a:avLst/>
          </a:prstGeom>
          <a:noFill/>
          <a:ln w="0">
            <a:noFill/>
            <a:prstDash val="solid"/>
          </a:ln>
        </p:spPr>
        <p:txBody>
          <a:bodyPr anchor="ctr">
            <a:normAutofit/>
          </a:bodyPr>
          <a:lstStyle/>
          <a:p>
            <a:pPr algn="ctr">
              <a:defRPr sz="1350" b="1">
                <a:solidFill>
                  <a:srgbClr val="183B56"/>
                </a:solidFill>
                <a:latin typeface="Arial"/>
                <a:ea typeface="Arial"/>
                <a:cs typeface="Arial"/>
              </a:defRPr>
            </a:pPr>
            <a:r>
              <a:rPr sz="1350" b="1">
                <a:solidFill>
                  <a:srgbClr val="183B56"/>
                </a:solidFill>
                <a:latin typeface="Arial"/>
                <a:ea typeface="Arial"/>
                <a:cs typeface="Arial"/>
              </a:rPr>
              <a:t>ACCOUNTS</a:t>
            </a:r>
          </a:p>
          <a:p>
            <a:pPr algn="ctr">
              <a:defRPr sz="1350" b="1">
                <a:solidFill>
                  <a:srgbClr val="183B56"/>
                </a:solidFill>
                <a:latin typeface="Arial"/>
                <a:ea typeface="Arial"/>
                <a:cs typeface="Arial"/>
              </a:defRPr>
            </a:pPr>
            <a:r>
              <a:rPr sz="1350" b="1">
                <a:solidFill>
                  <a:srgbClr val="183B56"/>
                </a:solidFill>
                <a:latin typeface="Arial"/>
                <a:ea typeface="Arial"/>
                <a:cs typeface="Arial"/>
              </a:rPr>
              <a:t>Journal and ledger</a:t>
            </a:r>
          </a:p>
        </p:txBody>
      </p:sp>
      <p:sp>
        <p:nvSpPr>
          <p:cNvPr id="20" name="Rectangle 19">
            <a:extLst>
              <a:ext uri="{FF2B5EF4-FFF2-40B4-BE49-F238E27FC236}">
                <a16:creationId xmlns:a16="http://schemas.microsoft.com/office/drawing/2014/main" id="{3B62AF23-D1DD-48E4-BDC3-A63FEE1FE84D}"/>
              </a:ext>
            </a:extLst>
          </p:cNvPr>
          <p:cNvSpPr>
            <a:spLocks noGrp="1"/>
          </p:cNvSpPr>
          <p:nvPr/>
        </p:nvSpPr>
        <p:spPr>
          <a:xfrm>
            <a:off x="7810500" y="2757488"/>
            <a:ext cx="2095500" cy="266700"/>
          </a:xfrm>
          <a:prstGeom prst="rect">
            <a:avLst/>
          </a:prstGeom>
          <a:noFill/>
          <a:ln w="0">
            <a:noFill/>
            <a:prstDash val="solid"/>
          </a:ln>
        </p:spPr>
        <p:txBody>
          <a:bodyPr anchor="ctr">
            <a:normAutofit/>
          </a:bodyPr>
          <a:lstStyle/>
          <a:p>
            <a:pPr algn="ctr">
              <a:defRPr sz="975" b="1">
                <a:solidFill>
                  <a:srgbClr val="5F6B76"/>
                </a:solidFill>
                <a:latin typeface="Arial"/>
                <a:ea typeface="Arial"/>
                <a:cs typeface="Arial"/>
              </a:defRPr>
            </a:pPr>
            <a:r>
              <a:rPr sz="975" b="1">
                <a:solidFill>
                  <a:srgbClr val="5F6B76"/>
                </a:solidFill>
                <a:latin typeface="Arial"/>
                <a:ea typeface="Arial"/>
                <a:cs typeface="Arial"/>
              </a:rPr>
              <a:t>SEPARATE RECORDS</a:t>
            </a:r>
          </a:p>
        </p:txBody>
      </p:sp>
      <p:sp>
        <p:nvSpPr>
          <p:cNvPr id="21" name="Rectangle 20">
            <a:extLst>
              <a:ext uri="{FF2B5EF4-FFF2-40B4-BE49-F238E27FC236}">
                <a16:creationId xmlns:a16="http://schemas.microsoft.com/office/drawing/2014/main" id="{1B0AF8DA-D795-4071-83C2-B751102F6C1B}"/>
              </a:ext>
            </a:extLst>
          </p:cNvPr>
          <p:cNvSpPr>
            <a:spLocks noGrp="1"/>
          </p:cNvSpPr>
          <p:nvPr/>
        </p:nvSpPr>
        <p:spPr>
          <a:xfrm>
            <a:off x="7400925" y="4257675"/>
            <a:ext cx="2857500" cy="285750"/>
          </a:xfrm>
          <a:prstGeom prst="rect">
            <a:avLst/>
          </a:prstGeom>
          <a:noFill/>
          <a:ln w="0">
            <a:noFill/>
            <a:prstDash val="solid"/>
          </a:ln>
        </p:spPr>
        <p:txBody>
          <a:bodyPr anchor="ctr">
            <a:normAutofit fontScale="92273" lnSpcReduction="20000"/>
          </a:bodyPr>
          <a:lstStyle/>
          <a:p>
            <a:pPr algn="ctr">
              <a:defRPr sz="1650" b="1">
                <a:solidFill>
                  <a:srgbClr val="9B3A3A"/>
                </a:solidFill>
                <a:latin typeface="Arial"/>
                <a:ea typeface="Arial"/>
                <a:cs typeface="Arial"/>
              </a:defRPr>
            </a:pPr>
            <a:r>
              <a:rPr sz="1650" b="1">
                <a:solidFill>
                  <a:srgbClr val="9B3A3A"/>
                </a:solidFill>
                <a:latin typeface="Arial"/>
                <a:ea typeface="Arial"/>
                <a:cs typeface="Arial"/>
              </a:rPr>
              <a:t>Repeated entry</a:t>
            </a:r>
          </a:p>
        </p:txBody>
      </p:sp>
      <p:sp>
        <p:nvSpPr>
          <p:cNvPr id="22" name="Rectangle 21">
            <a:extLst>
              <a:ext uri="{FF2B5EF4-FFF2-40B4-BE49-F238E27FC236}">
                <a16:creationId xmlns:a16="http://schemas.microsoft.com/office/drawing/2014/main" id="{8BFB7848-31B2-4D21-B9E2-7649C498B179}"/>
              </a:ext>
            </a:extLst>
          </p:cNvPr>
          <p:cNvSpPr>
            <a:spLocks noGrp="1"/>
          </p:cNvSpPr>
          <p:nvPr/>
        </p:nvSpPr>
        <p:spPr>
          <a:xfrm>
            <a:off x="6762750" y="4638675"/>
            <a:ext cx="4095750" cy="333375"/>
          </a:xfrm>
          <a:prstGeom prst="rect">
            <a:avLst/>
          </a:prstGeom>
          <a:noFill/>
          <a:ln w="0">
            <a:noFill/>
            <a:prstDash val="solid"/>
          </a:ln>
        </p:spPr>
        <p:txBody>
          <a:bodyPr anchor="ctr">
            <a:normAutofit/>
          </a:bodyPr>
          <a:lstStyle/>
          <a:p>
            <a:pPr algn="ctr">
              <a:defRPr sz="1350" b="0">
                <a:solidFill>
                  <a:srgbClr val="5F6B76"/>
                </a:solidFill>
                <a:latin typeface="Arial"/>
                <a:ea typeface="Arial"/>
                <a:cs typeface="Arial"/>
              </a:defRPr>
            </a:pPr>
            <a:r>
              <a:rPr sz="1350" b="0">
                <a:solidFill>
                  <a:srgbClr val="5F6B76"/>
                </a:solidFill>
                <a:latin typeface="Arial"/>
                <a:ea typeface="Arial"/>
                <a:cs typeface="Arial"/>
              </a:rPr>
              <a:t>Mismatch • Delay • Weak traceability</a:t>
            </a:r>
          </a:p>
        </p:txBody>
      </p:sp>
    </p:spTree>
    <p:extLst>
      <p:ext uri="{BB962C8B-B14F-4D97-AF65-F5344CB8AC3E}">
        <p14:creationId xmlns:p14="http://schemas.microsoft.com/office/powerpoint/2010/main" val="548836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EA70D4-3504-BD24-1E0D-E29CB06A0ADE}"/>
              </a:ext>
            </a:extLst>
          </p:cNvPr>
          <p:cNvSpPr>
            <a:spLocks noGrp="1"/>
          </p:cNvSpPr>
          <p:nvPr/>
        </p:nvSpPr>
        <p:spPr>
          <a:xfrm>
            <a:off x="578358" y="1248049"/>
            <a:ext cx="4946143" cy="1661993"/>
          </a:xfrm>
          <a:prstGeom prst="rect">
            <a:avLst/>
          </a:prstGeom>
          <a:noFill/>
        </p:spPr>
        <p:txBody>
          <a:bodyPr wrap="square">
            <a:spAutoFit/>
          </a:bodyPr>
          <a:lstStyle/>
          <a:p>
            <a:pPr>
              <a:buNone/>
            </a:pPr>
            <a:r>
              <a:rPr b="1" dirty="0">
                <a:latin typeface="Arial"/>
                <a:ea typeface="Arial"/>
                <a:cs typeface="Arial"/>
              </a:rPr>
              <a:t>Introduction</a:t>
            </a:r>
          </a:p>
          <a:p>
            <a:pPr>
              <a:buNone/>
            </a:pPr>
            <a:endParaRPr sz="1100" b="1" dirty="0">
              <a:latin typeface="Arial"/>
              <a:ea typeface="Arial"/>
              <a:cs typeface="Arial"/>
            </a:endParaRPr>
          </a:p>
          <a:p>
            <a:pPr marL="285750" indent="-285750">
              <a:buFont typeface="Wingdings"/>
              <a:buChar char="§"/>
            </a:pPr>
            <a:r>
              <a:rPr dirty="0">
                <a:latin typeface="Arial"/>
                <a:ea typeface="Arial"/>
                <a:cs typeface="Arial"/>
              </a:rPr>
              <a:t>Growing businesses require integrated accounting solutions. </a:t>
            </a:r>
          </a:p>
          <a:p>
            <a:pPr marL="285750" indent="-285750">
              <a:buFont typeface="Wingdings"/>
              <a:buChar char="§"/>
            </a:pPr>
            <a:r>
              <a:rPr dirty="0">
                <a:latin typeface="Arial"/>
                <a:ea typeface="Arial"/>
                <a:cs typeface="Arial"/>
              </a:rPr>
              <a:t>Manual and disconnected systems reduce efficiency and increase errors. </a:t>
            </a:r>
          </a:p>
        </p:txBody>
      </p:sp>
      <p:sp>
        <p:nvSpPr>
          <p:cNvPr id="5" name="TextBox 4">
            <a:extLst>
              <a:ext uri="{FF2B5EF4-FFF2-40B4-BE49-F238E27FC236}">
                <a16:creationId xmlns:a16="http://schemas.microsoft.com/office/drawing/2014/main" id="{A688689B-ECFE-CA2A-85AC-2F8BD6ABF6DA}"/>
              </a:ext>
            </a:extLst>
          </p:cNvPr>
          <p:cNvSpPr>
            <a:spLocks noGrp="1"/>
          </p:cNvSpPr>
          <p:nvPr/>
        </p:nvSpPr>
        <p:spPr>
          <a:xfrm>
            <a:off x="578358" y="245102"/>
            <a:ext cx="6094476" cy="461665"/>
          </a:xfrm>
          <a:prstGeom prst="rect">
            <a:avLst/>
          </a:prstGeom>
          <a:noFill/>
        </p:spPr>
        <p:txBody>
          <a:bodyPr wrap="square">
            <a:spAutoFit/>
          </a:bodyPr>
          <a:lstStyle/>
          <a:p>
            <a:r>
              <a:rPr sz="2400" b="1">
                <a:latin typeface="Arial"/>
                <a:ea typeface="Arial"/>
                <a:cs typeface="Arial"/>
              </a:rPr>
              <a:t>Why BizTrack Was Needed</a:t>
            </a:r>
          </a:p>
        </p:txBody>
      </p:sp>
      <p:sp>
        <p:nvSpPr>
          <p:cNvPr id="10" name="Rectangle 9">
            <a:extLst>
              <a:ext uri="{FF2B5EF4-FFF2-40B4-BE49-F238E27FC236}">
                <a16:creationId xmlns:a16="http://schemas.microsoft.com/office/drawing/2014/main" id="{85530053-6C22-DBEE-3B15-979C8F7F789E}"/>
              </a:ext>
            </a:extLst>
          </p:cNvPr>
          <p:cNvSpPr>
            <a:spLocks noGrp="1"/>
          </p:cNvSpPr>
          <p:nvPr/>
        </p:nvSpPr>
        <p:spPr>
          <a:xfrm>
            <a:off x="667512" y="706767"/>
            <a:ext cx="1307592" cy="7961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E889EE4-362D-AE09-1D7D-F26E29B60052}"/>
              </a:ext>
            </a:extLst>
          </p:cNvPr>
          <p:cNvSpPr>
            <a:spLocks noGrp="1"/>
          </p:cNvSpPr>
          <p:nvPr/>
        </p:nvSpPr>
        <p:spPr>
          <a:xfrm>
            <a:off x="578358" y="3543657"/>
            <a:ext cx="6094476" cy="2215991"/>
          </a:xfrm>
          <a:prstGeom prst="rect">
            <a:avLst/>
          </a:prstGeom>
          <a:noFill/>
        </p:spPr>
        <p:txBody>
          <a:bodyPr wrap="square">
            <a:spAutoFit/>
          </a:bodyPr>
          <a:lstStyle/>
          <a:p>
            <a:pPr>
              <a:buNone/>
            </a:pPr>
            <a:r>
              <a:rPr lang="en-US" b="1" dirty="0">
                <a:latin typeface="Arial"/>
                <a:ea typeface="Arial"/>
                <a:cs typeface="Arial"/>
              </a:rPr>
              <a:t>It will reduce-</a:t>
            </a:r>
            <a:endParaRPr b="1" dirty="0">
              <a:latin typeface="Arial"/>
              <a:ea typeface="Arial"/>
              <a:cs typeface="Arial"/>
            </a:endParaRPr>
          </a:p>
          <a:p>
            <a:pPr>
              <a:buNone/>
            </a:pPr>
            <a:endParaRPr sz="1100" b="1" dirty="0">
              <a:latin typeface="Arial"/>
              <a:ea typeface="Arial"/>
              <a:cs typeface="Arial"/>
            </a:endParaRPr>
          </a:p>
          <a:p>
            <a:pPr marL="285750" indent="-285750">
              <a:buFont typeface="Wingdings"/>
              <a:buChar char="§"/>
            </a:pPr>
            <a:r>
              <a:rPr dirty="0">
                <a:latin typeface="Arial"/>
                <a:ea typeface="Arial"/>
                <a:cs typeface="Arial"/>
              </a:rPr>
              <a:t>Manual bookkeeping </a:t>
            </a:r>
          </a:p>
          <a:p>
            <a:pPr marL="285750" indent="-285750">
              <a:buFont typeface="Wingdings"/>
              <a:buChar char="§"/>
            </a:pPr>
            <a:r>
              <a:rPr dirty="0">
                <a:latin typeface="Arial"/>
                <a:ea typeface="Arial"/>
                <a:cs typeface="Arial"/>
              </a:rPr>
              <a:t>Separate inventory and accounting systems </a:t>
            </a:r>
          </a:p>
          <a:p>
            <a:pPr marL="285750" indent="-285750">
              <a:buFont typeface="Wingdings"/>
              <a:buChar char="§"/>
            </a:pPr>
            <a:r>
              <a:rPr dirty="0">
                <a:latin typeface="Arial"/>
                <a:ea typeface="Arial"/>
                <a:cs typeface="Arial"/>
              </a:rPr>
              <a:t>Stock inconsistency </a:t>
            </a:r>
          </a:p>
          <a:p>
            <a:pPr marL="285750" indent="-285750">
              <a:buFont typeface="Wingdings"/>
              <a:buChar char="§"/>
            </a:pPr>
            <a:r>
              <a:rPr dirty="0">
                <a:latin typeface="Arial"/>
                <a:ea typeface="Arial"/>
                <a:cs typeface="Arial"/>
              </a:rPr>
              <a:t>Delayed financial reporting </a:t>
            </a:r>
          </a:p>
          <a:p>
            <a:pPr marL="285750" indent="-285750">
              <a:buFont typeface="Wingdings"/>
              <a:buChar char="§"/>
            </a:pPr>
            <a:r>
              <a:rPr dirty="0">
                <a:latin typeface="Arial"/>
                <a:ea typeface="Arial"/>
                <a:cs typeface="Arial"/>
              </a:rPr>
              <a:t>Human errors </a:t>
            </a:r>
          </a:p>
          <a:p>
            <a:pPr marL="285750" indent="-285750">
              <a:buFont typeface="Wingdings"/>
              <a:buChar char="§"/>
            </a:pPr>
            <a:r>
              <a:rPr dirty="0">
                <a:latin typeface="Arial"/>
                <a:ea typeface="Arial"/>
                <a:cs typeface="Arial"/>
              </a:rPr>
              <a:t>Poor decision support</a:t>
            </a:r>
          </a:p>
        </p:txBody>
      </p:sp>
      <p:sp>
        <p:nvSpPr>
          <p:cNvPr id="4" name="Rectangle 3">
            <a:extLst>
              <a:ext uri="{FF2B5EF4-FFF2-40B4-BE49-F238E27FC236}">
                <a16:creationId xmlns:a16="http://schemas.microsoft.com/office/drawing/2014/main" id="{64DE91C2-DDF9-6526-97FA-081898D64E30}"/>
              </a:ext>
            </a:extLst>
          </p:cNvPr>
          <p:cNvSpPr>
            <a:spLocks noGrp="1"/>
          </p:cNvSpPr>
          <p:nvPr/>
        </p:nvSpPr>
        <p:spPr>
          <a:xfrm>
            <a:off x="514350" y="6419850"/>
            <a:ext cx="11096625" cy="9525"/>
          </a:xfrm>
          <a:prstGeom prst="rect">
            <a:avLst/>
          </a:prstGeom>
          <a:solidFill>
            <a:srgbClr val="C9D2D8"/>
          </a:solidFill>
          <a:ln w="0">
            <a:noFill/>
            <a:prstDash val="solid"/>
          </a:ln>
        </p:spPr>
        <p:txBody>
          <a:bodyPr/>
          <a:lstStyle/>
          <a:p>
            <a:endParaRPr lang="en-US"/>
          </a:p>
        </p:txBody>
      </p:sp>
      <p:sp>
        <p:nvSpPr>
          <p:cNvPr id="7" name="Rectangle 6">
            <a:extLst>
              <a:ext uri="{FF2B5EF4-FFF2-40B4-BE49-F238E27FC236}">
                <a16:creationId xmlns:a16="http://schemas.microsoft.com/office/drawing/2014/main" id="{7409E92A-02DA-190D-909B-CC9E366D6223}"/>
              </a:ext>
            </a:extLst>
          </p:cNvPr>
          <p:cNvSpPr>
            <a:spLocks noGrp="1"/>
          </p:cNvSpPr>
          <p:nvPr/>
        </p:nvSpPr>
        <p:spPr>
          <a:xfrm>
            <a:off x="514350" y="6505575"/>
            <a:ext cx="3333750" cy="209550"/>
          </a:xfrm>
          <a:prstGeom prst="rect">
            <a:avLst/>
          </a:prstGeom>
          <a:noFill/>
          <a:ln w="0">
            <a:noFill/>
            <a:prstDash val="solid"/>
          </a:ln>
        </p:spPr>
        <p:txBody>
          <a:bodyPr anchor="ctr">
            <a:normAutofit fontScale="93939" lnSpcReduction="10000"/>
          </a:bodyPr>
          <a:lstStyle/>
          <a:p>
            <a:pPr algn="l">
              <a:defRPr sz="825" b="0">
                <a:solidFill>
                  <a:srgbClr val="5F6B76"/>
                </a:solidFill>
                <a:latin typeface="Arial"/>
                <a:ea typeface="Arial"/>
                <a:cs typeface="Arial"/>
              </a:defRPr>
            </a:pPr>
            <a:r>
              <a:rPr sz="825" b="0" dirty="0" err="1">
                <a:solidFill>
                  <a:srgbClr val="5F6B76"/>
                </a:solidFill>
                <a:latin typeface="Arial"/>
                <a:ea typeface="Arial"/>
                <a:cs typeface="Arial"/>
              </a:rPr>
              <a:t>BizTrack</a:t>
            </a:r>
            <a:r>
              <a:rPr sz="825" b="0" dirty="0">
                <a:solidFill>
                  <a:srgbClr val="5F6B76"/>
                </a:solidFill>
                <a:latin typeface="Arial"/>
                <a:ea typeface="Arial"/>
                <a:cs typeface="Arial"/>
              </a:rPr>
              <a:t> • </a:t>
            </a:r>
            <a:r>
              <a:rPr lang="en-US" sz="825" b="0" dirty="0">
                <a:solidFill>
                  <a:srgbClr val="5F6B76"/>
                </a:solidFill>
                <a:latin typeface="Arial"/>
                <a:ea typeface="Arial"/>
                <a:cs typeface="Arial"/>
              </a:rPr>
              <a:t>A Complete Business Accounting Management System</a:t>
            </a:r>
            <a:endParaRPr sz="825" b="0" dirty="0">
              <a:solidFill>
                <a:srgbClr val="5F6B76"/>
              </a:solidFill>
              <a:latin typeface="Arial"/>
              <a:ea typeface="Arial"/>
              <a:cs typeface="Arial"/>
            </a:endParaRPr>
          </a:p>
        </p:txBody>
      </p:sp>
      <p:sp>
        <p:nvSpPr>
          <p:cNvPr id="9" name="Rectangle 8">
            <a:extLst>
              <a:ext uri="{FF2B5EF4-FFF2-40B4-BE49-F238E27FC236}">
                <a16:creationId xmlns:a16="http://schemas.microsoft.com/office/drawing/2014/main" id="{3CE501B6-9E5D-D4CE-A9A8-3315F5866804}"/>
              </a:ext>
            </a:extLst>
          </p:cNvPr>
          <p:cNvSpPr>
            <a:spLocks noGrp="1"/>
          </p:cNvSpPr>
          <p:nvPr/>
        </p:nvSpPr>
        <p:spPr>
          <a:xfrm>
            <a:off x="11049000" y="6505575"/>
            <a:ext cx="552450" cy="209550"/>
          </a:xfrm>
          <a:prstGeom prst="rect">
            <a:avLst/>
          </a:prstGeom>
          <a:noFill/>
          <a:ln w="0">
            <a:noFill/>
            <a:prstDash val="solid"/>
          </a:ln>
        </p:spPr>
        <p:txBody>
          <a:bodyPr anchor="ctr">
            <a:normAutofit fontScale="93939" lnSpcReduction="10000"/>
          </a:bodyPr>
          <a:lstStyle/>
          <a:p>
            <a:pPr algn="r">
              <a:defRPr sz="825" b="1">
                <a:solidFill>
                  <a:srgbClr val="5F6B76"/>
                </a:solidFill>
                <a:latin typeface="Arial"/>
                <a:ea typeface="Arial"/>
                <a:cs typeface="Arial"/>
              </a:defRPr>
            </a:pPr>
            <a:r>
              <a:rPr lang="en-US" sz="825" b="1" dirty="0">
                <a:solidFill>
                  <a:srgbClr val="5F6B76"/>
                </a:solidFill>
                <a:latin typeface="Arial"/>
                <a:ea typeface="Arial"/>
                <a:cs typeface="Arial"/>
              </a:rPr>
              <a:t>03</a:t>
            </a:r>
            <a:endParaRPr sz="825" b="1" dirty="0">
              <a:solidFill>
                <a:srgbClr val="5F6B76"/>
              </a:solidFill>
              <a:latin typeface="Arial"/>
              <a:ea typeface="Arial"/>
              <a:cs typeface="Arial"/>
            </a:endParaRPr>
          </a:p>
        </p:txBody>
      </p:sp>
    </p:spTree>
    <p:extLst>
      <p:ext uri="{BB962C8B-B14F-4D97-AF65-F5344CB8AC3E}">
        <p14:creationId xmlns:p14="http://schemas.microsoft.com/office/powerpoint/2010/main" val="2897980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0A6397-C2FE-62D9-5944-8ED5C5F1531B}"/>
              </a:ext>
            </a:extLst>
          </p:cNvPr>
          <p:cNvSpPr>
            <a:spLocks noGrp="1"/>
          </p:cNvSpPr>
          <p:nvPr/>
        </p:nvSpPr>
        <p:spPr>
          <a:xfrm>
            <a:off x="667512" y="1248049"/>
            <a:ext cx="6094476" cy="1200329"/>
          </a:xfrm>
          <a:prstGeom prst="rect">
            <a:avLst/>
          </a:prstGeom>
          <a:noFill/>
        </p:spPr>
        <p:txBody>
          <a:bodyPr wrap="square">
            <a:spAutoFit/>
          </a:bodyPr>
          <a:lstStyle/>
          <a:p>
            <a:pPr>
              <a:buNone/>
            </a:pPr>
            <a:r>
              <a:rPr b="1">
                <a:latin typeface="Arial"/>
                <a:ea typeface="Arial"/>
                <a:cs typeface="Arial"/>
              </a:rPr>
              <a:t>Main Objective</a:t>
            </a:r>
          </a:p>
          <a:p>
            <a:pPr>
              <a:buNone/>
            </a:pPr>
            <a:r>
              <a:rPr>
                <a:latin typeface="Arial"/>
                <a:ea typeface="Arial"/>
                <a:cs typeface="Arial"/>
              </a:rPr>
              <a:t>Develop one web-based system that connects daily business work with double-entry accounting.</a:t>
            </a:r>
          </a:p>
        </p:txBody>
      </p:sp>
      <p:sp>
        <p:nvSpPr>
          <p:cNvPr id="4" name="TextBox 3">
            <a:extLst>
              <a:ext uri="{FF2B5EF4-FFF2-40B4-BE49-F238E27FC236}">
                <a16:creationId xmlns:a16="http://schemas.microsoft.com/office/drawing/2014/main" id="{C2624641-8F85-FC76-80A3-1C1BAAFC0AD0}"/>
              </a:ext>
            </a:extLst>
          </p:cNvPr>
          <p:cNvSpPr>
            <a:spLocks noGrp="1"/>
          </p:cNvSpPr>
          <p:nvPr/>
        </p:nvSpPr>
        <p:spPr>
          <a:xfrm>
            <a:off x="578358" y="245102"/>
            <a:ext cx="6094476" cy="461665"/>
          </a:xfrm>
          <a:prstGeom prst="rect">
            <a:avLst/>
          </a:prstGeom>
          <a:noFill/>
        </p:spPr>
        <p:txBody>
          <a:bodyPr wrap="square">
            <a:spAutoFit/>
          </a:bodyPr>
          <a:lstStyle/>
          <a:p>
            <a:r>
              <a:rPr sz="2400" b="1">
                <a:latin typeface="Arial"/>
                <a:ea typeface="Arial"/>
                <a:cs typeface="Arial"/>
              </a:rPr>
              <a:t>Objectives of the Project</a:t>
            </a:r>
          </a:p>
        </p:txBody>
      </p:sp>
      <p:sp>
        <p:nvSpPr>
          <p:cNvPr id="5" name="Rectangle 4">
            <a:extLst>
              <a:ext uri="{FF2B5EF4-FFF2-40B4-BE49-F238E27FC236}">
                <a16:creationId xmlns:a16="http://schemas.microsoft.com/office/drawing/2014/main" id="{10A3A148-6AA5-F180-E44D-1A8D9B22BD12}"/>
              </a:ext>
            </a:extLst>
          </p:cNvPr>
          <p:cNvSpPr>
            <a:spLocks noGrp="1"/>
          </p:cNvSpPr>
          <p:nvPr/>
        </p:nvSpPr>
        <p:spPr>
          <a:xfrm>
            <a:off x="667512" y="706767"/>
            <a:ext cx="1307592" cy="7961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C084128-97A0-656E-ECE4-74D11BA40F89}"/>
              </a:ext>
            </a:extLst>
          </p:cNvPr>
          <p:cNvSpPr>
            <a:spLocks noGrp="1"/>
          </p:cNvSpPr>
          <p:nvPr/>
        </p:nvSpPr>
        <p:spPr>
          <a:xfrm>
            <a:off x="667512" y="2777758"/>
            <a:ext cx="5428488" cy="2416046"/>
          </a:xfrm>
          <a:prstGeom prst="rect">
            <a:avLst/>
          </a:prstGeom>
          <a:noFill/>
        </p:spPr>
        <p:txBody>
          <a:bodyPr wrap="square">
            <a:spAutoFit/>
          </a:bodyPr>
          <a:lstStyle/>
          <a:p>
            <a:pPr>
              <a:buNone/>
            </a:pPr>
            <a:r>
              <a:rPr b="1" dirty="0">
                <a:latin typeface="Arial"/>
                <a:ea typeface="Arial"/>
                <a:cs typeface="Arial"/>
              </a:rPr>
              <a:t>Three Broad Objectives</a:t>
            </a:r>
          </a:p>
          <a:p>
            <a:pPr marL="285750" indent="-285750">
              <a:spcBef>
                <a:spcPts val="600"/>
              </a:spcBef>
              <a:spcAft>
                <a:spcPts val="600"/>
              </a:spcAft>
              <a:buFont typeface="Wingdings"/>
              <a:buChar char="§"/>
            </a:pPr>
            <a:r>
              <a:rPr dirty="0">
                <a:latin typeface="Arial"/>
                <a:ea typeface="Arial"/>
                <a:cs typeface="Arial"/>
              </a:rPr>
              <a:t>Build a multi-tenant SaaS platform with tenant, subscription and user access control.</a:t>
            </a:r>
          </a:p>
          <a:p>
            <a:pPr marL="285750" indent="-285750">
              <a:spcBef>
                <a:spcPts val="600"/>
              </a:spcBef>
              <a:spcAft>
                <a:spcPts val="600"/>
              </a:spcAft>
              <a:buFont typeface="Wingdings"/>
              <a:buChar char="§"/>
            </a:pPr>
            <a:r>
              <a:rPr dirty="0">
                <a:latin typeface="Arial"/>
                <a:ea typeface="Arial"/>
                <a:cs typeface="Arial"/>
              </a:rPr>
              <a:t>Connect products, purchases, sales/POS, inventory and recipe-based manufacturing.</a:t>
            </a:r>
          </a:p>
          <a:p>
            <a:pPr marL="285750" indent="-285750">
              <a:spcBef>
                <a:spcPts val="600"/>
              </a:spcBef>
              <a:spcAft>
                <a:spcPts val="600"/>
              </a:spcAft>
              <a:buFont typeface="Wingdings"/>
              <a:buChar char="§"/>
            </a:pPr>
            <a:r>
              <a:rPr dirty="0">
                <a:latin typeface="Arial"/>
                <a:ea typeface="Arial"/>
                <a:cs typeface="Arial"/>
              </a:rPr>
              <a:t>Link transactions with accounting and test accuracy, permissions and tenant separation.</a:t>
            </a:r>
          </a:p>
        </p:txBody>
      </p:sp>
      <p:pic>
        <p:nvPicPr>
          <p:cNvPr id="13" name="Picture 12"/>
          <p:cNvPicPr>
            <a:picLocks noChangeAspect="1"/>
          </p:cNvPicPr>
          <p:nvPr/>
        </p:nvPicPr>
        <p:blipFill>
          <a:blip r:embed="rId3"/>
          <a:stretch/>
        </p:blipFill>
        <p:spPr>
          <a:xfrm>
            <a:off x="6264643" y="1335972"/>
            <a:ext cx="5581408" cy="418605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Rectangle 5">
            <a:extLst>
              <a:ext uri="{FF2B5EF4-FFF2-40B4-BE49-F238E27FC236}">
                <a16:creationId xmlns:a16="http://schemas.microsoft.com/office/drawing/2014/main" id="{BBC49DA7-B4A7-3104-4725-1AE9F3ECBE4B}"/>
              </a:ext>
            </a:extLst>
          </p:cNvPr>
          <p:cNvSpPr>
            <a:spLocks noGrp="1"/>
          </p:cNvSpPr>
          <p:nvPr/>
        </p:nvSpPr>
        <p:spPr>
          <a:xfrm>
            <a:off x="514350" y="6419850"/>
            <a:ext cx="11096625" cy="9525"/>
          </a:xfrm>
          <a:prstGeom prst="rect">
            <a:avLst/>
          </a:prstGeom>
          <a:solidFill>
            <a:srgbClr val="C9D2D8"/>
          </a:solidFill>
          <a:ln w="0">
            <a:noFill/>
            <a:prstDash val="solid"/>
          </a:ln>
        </p:spPr>
        <p:txBody>
          <a:bodyPr/>
          <a:lstStyle/>
          <a:p>
            <a:endParaRPr lang="en-US"/>
          </a:p>
        </p:txBody>
      </p:sp>
      <p:sp>
        <p:nvSpPr>
          <p:cNvPr id="9" name="Rectangle 8">
            <a:extLst>
              <a:ext uri="{FF2B5EF4-FFF2-40B4-BE49-F238E27FC236}">
                <a16:creationId xmlns:a16="http://schemas.microsoft.com/office/drawing/2014/main" id="{FE0690DA-BE83-36E3-B885-3615C56BCF24}"/>
              </a:ext>
            </a:extLst>
          </p:cNvPr>
          <p:cNvSpPr>
            <a:spLocks noGrp="1"/>
          </p:cNvSpPr>
          <p:nvPr/>
        </p:nvSpPr>
        <p:spPr>
          <a:xfrm>
            <a:off x="514350" y="6505575"/>
            <a:ext cx="3333750" cy="209550"/>
          </a:xfrm>
          <a:prstGeom prst="rect">
            <a:avLst/>
          </a:prstGeom>
          <a:noFill/>
          <a:ln w="0">
            <a:noFill/>
            <a:prstDash val="solid"/>
          </a:ln>
        </p:spPr>
        <p:txBody>
          <a:bodyPr anchor="ctr">
            <a:normAutofit fontScale="93939" lnSpcReduction="10000"/>
          </a:bodyPr>
          <a:lstStyle/>
          <a:p>
            <a:pPr algn="l">
              <a:defRPr sz="825" b="0">
                <a:solidFill>
                  <a:srgbClr val="5F6B76"/>
                </a:solidFill>
                <a:latin typeface="Arial"/>
                <a:ea typeface="Arial"/>
                <a:cs typeface="Arial"/>
              </a:defRPr>
            </a:pPr>
            <a:r>
              <a:rPr sz="825" b="0" dirty="0" err="1">
                <a:solidFill>
                  <a:srgbClr val="5F6B76"/>
                </a:solidFill>
                <a:latin typeface="Arial"/>
                <a:ea typeface="Arial"/>
                <a:cs typeface="Arial"/>
              </a:rPr>
              <a:t>BizTrack</a:t>
            </a:r>
            <a:r>
              <a:rPr sz="825" b="0" dirty="0">
                <a:solidFill>
                  <a:srgbClr val="5F6B76"/>
                </a:solidFill>
                <a:latin typeface="Arial"/>
                <a:ea typeface="Arial"/>
                <a:cs typeface="Arial"/>
              </a:rPr>
              <a:t> • </a:t>
            </a:r>
            <a:r>
              <a:rPr lang="en-US" sz="825" b="0" dirty="0">
                <a:solidFill>
                  <a:srgbClr val="5F6B76"/>
                </a:solidFill>
                <a:latin typeface="Arial"/>
                <a:ea typeface="Arial"/>
                <a:cs typeface="Arial"/>
              </a:rPr>
              <a:t>A Complete Business Accounting Management System</a:t>
            </a:r>
            <a:endParaRPr sz="825" b="0" dirty="0">
              <a:solidFill>
                <a:srgbClr val="5F6B76"/>
              </a:solidFill>
              <a:latin typeface="Arial"/>
              <a:ea typeface="Arial"/>
              <a:cs typeface="Arial"/>
            </a:endParaRPr>
          </a:p>
        </p:txBody>
      </p:sp>
      <p:sp>
        <p:nvSpPr>
          <p:cNvPr id="11" name="Rectangle 10">
            <a:extLst>
              <a:ext uri="{FF2B5EF4-FFF2-40B4-BE49-F238E27FC236}">
                <a16:creationId xmlns:a16="http://schemas.microsoft.com/office/drawing/2014/main" id="{5847FE3E-558A-64A7-9A14-6CCE1123E7BE}"/>
              </a:ext>
            </a:extLst>
          </p:cNvPr>
          <p:cNvSpPr>
            <a:spLocks noGrp="1"/>
          </p:cNvSpPr>
          <p:nvPr/>
        </p:nvSpPr>
        <p:spPr>
          <a:xfrm>
            <a:off x="11049000" y="6505575"/>
            <a:ext cx="552450" cy="209550"/>
          </a:xfrm>
          <a:prstGeom prst="rect">
            <a:avLst/>
          </a:prstGeom>
          <a:noFill/>
          <a:ln w="0">
            <a:noFill/>
            <a:prstDash val="solid"/>
          </a:ln>
        </p:spPr>
        <p:txBody>
          <a:bodyPr anchor="ctr">
            <a:normAutofit fontScale="93939" lnSpcReduction="10000"/>
          </a:bodyPr>
          <a:lstStyle/>
          <a:p>
            <a:pPr algn="r">
              <a:defRPr sz="825" b="1">
                <a:solidFill>
                  <a:srgbClr val="5F6B76"/>
                </a:solidFill>
                <a:latin typeface="Arial"/>
                <a:ea typeface="Arial"/>
                <a:cs typeface="Arial"/>
              </a:defRPr>
            </a:pPr>
            <a:r>
              <a:rPr lang="en-US" sz="825" b="1" dirty="0">
                <a:solidFill>
                  <a:srgbClr val="5F6B76"/>
                </a:solidFill>
                <a:latin typeface="Arial"/>
                <a:ea typeface="Arial"/>
                <a:cs typeface="Arial"/>
              </a:rPr>
              <a:t>04</a:t>
            </a:r>
            <a:endParaRPr sz="825" b="1" dirty="0">
              <a:solidFill>
                <a:srgbClr val="5F6B76"/>
              </a:solidFill>
              <a:latin typeface="Arial"/>
              <a:ea typeface="Arial"/>
              <a:cs typeface="Arial"/>
            </a:endParaRPr>
          </a:p>
        </p:txBody>
      </p:sp>
    </p:spTree>
    <p:extLst>
      <p:ext uri="{BB962C8B-B14F-4D97-AF65-F5344CB8AC3E}">
        <p14:creationId xmlns:p14="http://schemas.microsoft.com/office/powerpoint/2010/main" val="2355397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1"/>
          <p:cNvGraphicFramePr/>
          <p:nvPr/>
        </p:nvGraphicFramePr>
        <p:xfrm>
          <a:off x="667512" y="1532849"/>
          <a:ext cx="10515600" cy="2834640"/>
        </p:xfrm>
        <a:graphic>
          <a:graphicData uri="http://schemas.openxmlformats.org/drawingml/2006/table">
            <a:tbl>
              <a:tblPr>
                <a:tableStyleId>{8799B23B-EC83-4686-B30A-512413B5E67A}</a:tableStyleId>
              </a:tblPr>
              <a:tblGrid>
                <a:gridCol w="21031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tblGrid>
              <a:tr h="0">
                <a:tc>
                  <a:txBody>
                    <a:bodyPr/>
                    <a:lstStyle/>
                    <a:p>
                      <a:pPr>
                        <a:buNone/>
                      </a:pPr>
                      <a:r>
                        <a:rPr b="1"/>
                        <a:t>Feature</a:t>
                      </a:r>
                      <a:endParaRPr b="1">
                        <a:latin typeface="Arial"/>
                        <a:ea typeface="Arial"/>
                        <a:cs typeface="Arial"/>
                      </a:endParaRPr>
                    </a:p>
                  </a:txBody>
                  <a:tcPr anchor="ctr"/>
                </a:tc>
                <a:tc>
                  <a:txBody>
                    <a:bodyPr/>
                    <a:lstStyle/>
                    <a:p>
                      <a:pPr>
                        <a:buNone/>
                      </a:pPr>
                      <a:r>
                        <a:rPr b="1"/>
                        <a:t>Manual</a:t>
                      </a:r>
                      <a:endParaRPr b="1">
                        <a:latin typeface="Arial"/>
                        <a:ea typeface="Arial"/>
                        <a:cs typeface="Arial"/>
                      </a:endParaRPr>
                    </a:p>
                  </a:txBody>
                  <a:tcPr anchor="ctr"/>
                </a:tc>
                <a:tc>
                  <a:txBody>
                    <a:bodyPr/>
                    <a:lstStyle/>
                    <a:p>
                      <a:pPr>
                        <a:buNone/>
                      </a:pPr>
                      <a:r>
                        <a:rPr b="1"/>
                        <a:t>Excel</a:t>
                      </a:r>
                      <a:endParaRPr b="1">
                        <a:latin typeface="Arial"/>
                        <a:ea typeface="Arial"/>
                        <a:cs typeface="Arial"/>
                      </a:endParaRPr>
                    </a:p>
                  </a:txBody>
                  <a:tcPr anchor="ctr"/>
                </a:tc>
                <a:tc>
                  <a:txBody>
                    <a:bodyPr/>
                    <a:lstStyle/>
                    <a:p>
                      <a:pPr>
                        <a:buNone/>
                      </a:pPr>
                      <a:r>
                        <a:rPr b="1"/>
                        <a:t>Existing POS</a:t>
                      </a:r>
                      <a:endParaRPr b="1">
                        <a:latin typeface="Arial"/>
                        <a:ea typeface="Arial"/>
                        <a:cs typeface="Arial"/>
                      </a:endParaRPr>
                    </a:p>
                  </a:txBody>
                  <a:tcPr anchor="ctr"/>
                </a:tc>
                <a:tc>
                  <a:txBody>
                    <a:bodyPr/>
                    <a:lstStyle/>
                    <a:p>
                      <a:pPr>
                        <a:buNone/>
                      </a:pPr>
                      <a:r>
                        <a:rPr b="1"/>
                        <a:t>Proposed</a:t>
                      </a:r>
                      <a:endParaRPr b="1">
                        <a:latin typeface="Arial"/>
                        <a:ea typeface="Arial"/>
                        <a:cs typeface="Arial"/>
                      </a:endParaRPr>
                    </a:p>
                  </a:txBody>
                  <a:tcPr anchor="ctr"/>
                </a:tc>
                <a:extLst>
                  <a:ext uri="{0D108BD9-81ED-4DB2-BD59-A6C34878D82A}">
                    <a16:rowId xmlns:a16="http://schemas.microsoft.com/office/drawing/2014/main" val="10000"/>
                  </a:ext>
                </a:extLst>
              </a:tr>
              <a:tr h="0">
                <a:tc>
                  <a:txBody>
                    <a:bodyPr/>
                    <a:lstStyle/>
                    <a:p>
                      <a:pPr>
                        <a:buNone/>
                      </a:pPr>
                      <a:r>
                        <a:t>Inventory</a:t>
                      </a:r>
                      <a:endParaRPr>
                        <a:latin typeface="Arial"/>
                        <a:ea typeface="Arial"/>
                        <a:cs typeface="Arial"/>
                      </a:endParaRPr>
                    </a:p>
                  </a:txBody>
                  <a:tcPr anchor="ctr"/>
                </a:tc>
                <a:tc>
                  <a:txBody>
                    <a:bodyPr/>
                    <a:lstStyle/>
                    <a:p>
                      <a:pPr>
                        <a:buNone/>
                      </a:pPr>
                      <a:r>
                        <a:rPr>
                          <a:solidFill>
                            <a:schemeClr val="accent6"/>
                          </a:solidFill>
                        </a:rPr>
                        <a:t>✓</a:t>
                      </a:r>
                      <a:endParaRPr>
                        <a:solidFill>
                          <a:schemeClr val="accent6"/>
                        </a:solidFill>
                        <a:latin typeface="Arial"/>
                        <a:ea typeface="Arial"/>
                        <a:cs typeface="Arial"/>
                      </a:endParaRPr>
                    </a:p>
                  </a:txBody>
                  <a:tcPr anchor="ctr"/>
                </a:tc>
                <a:tc>
                  <a:txBody>
                    <a:bodyPr/>
                    <a:lstStyle/>
                    <a:p>
                      <a:pPr>
                        <a:buNone/>
                      </a:pPr>
                      <a:r>
                        <a:t>Partial</a:t>
                      </a:r>
                      <a:endParaRPr>
                        <a:latin typeface="Arial"/>
                        <a:ea typeface="Arial"/>
                        <a:cs typeface="Arial"/>
                      </a:endParaRPr>
                    </a:p>
                  </a:txBody>
                  <a:tcPr anchor="ctr"/>
                </a:tc>
                <a:tc>
                  <a:txBody>
                    <a:bodyPr/>
                    <a:lstStyle/>
                    <a:p>
                      <a:pPr>
                        <a:buNone/>
                      </a:pPr>
                      <a:r>
                        <a:rPr>
                          <a:solidFill>
                            <a:schemeClr val="accent6"/>
                          </a:solidFill>
                        </a:rPr>
                        <a:t>✓</a:t>
                      </a:r>
                      <a:endParaRPr>
                        <a:solidFill>
                          <a:schemeClr val="accent6"/>
                        </a:solidFill>
                        <a:latin typeface="Arial"/>
                        <a:ea typeface="Arial"/>
                        <a:cs typeface="Arial"/>
                      </a:endParaRPr>
                    </a:p>
                  </a:txBody>
                  <a:tcPr anchor="ctr"/>
                </a:tc>
                <a:tc>
                  <a:txBody>
                    <a:bodyPr/>
                    <a:lstStyle/>
                    <a:p>
                      <a:pPr>
                        <a:buNone/>
                      </a:pPr>
                      <a:r>
                        <a:rPr>
                          <a:solidFill>
                            <a:schemeClr val="accent6"/>
                          </a:solidFill>
                        </a:rPr>
                        <a:t>✓</a:t>
                      </a:r>
                      <a:endParaRPr>
                        <a:solidFill>
                          <a:schemeClr val="accent6"/>
                        </a:solidFill>
                        <a:latin typeface="Arial"/>
                        <a:ea typeface="Arial"/>
                        <a:cs typeface="Arial"/>
                      </a:endParaRPr>
                    </a:p>
                  </a:txBody>
                  <a:tcPr anchor="ctr"/>
                </a:tc>
                <a:extLst>
                  <a:ext uri="{0D108BD9-81ED-4DB2-BD59-A6C34878D82A}">
                    <a16:rowId xmlns:a16="http://schemas.microsoft.com/office/drawing/2014/main" val="10001"/>
                  </a:ext>
                </a:extLst>
              </a:tr>
              <a:tr h="0">
                <a:tc>
                  <a:txBody>
                    <a:bodyPr/>
                    <a:lstStyle/>
                    <a:p>
                      <a:pPr>
                        <a:buNone/>
                      </a:pPr>
                      <a:r>
                        <a:t>Manufacturing</a:t>
                      </a:r>
                      <a:endParaRPr>
                        <a:latin typeface="Arial"/>
                        <a:ea typeface="Arial"/>
                        <a:cs typeface="Arial"/>
                      </a:endParaRPr>
                    </a:p>
                  </a:txBody>
                  <a:tcPr anchor="ctr"/>
                </a:tc>
                <a:tc>
                  <a:txBody>
                    <a:bodyPr/>
                    <a:lstStyle/>
                    <a:p>
                      <a:pPr>
                        <a:buNone/>
                      </a:pPr>
                      <a:r>
                        <a:rPr>
                          <a:solidFill>
                            <a:srgbClr val="FF0000"/>
                          </a:solidFill>
                        </a:rPr>
                        <a:t>✗</a:t>
                      </a:r>
                      <a:endParaRPr>
                        <a:solidFill>
                          <a:srgbClr val="FF0000"/>
                        </a:solidFill>
                        <a:latin typeface="Arial"/>
                        <a:ea typeface="Arial"/>
                        <a:cs typeface="Arial"/>
                      </a:endParaRPr>
                    </a:p>
                  </a:txBody>
                  <a:tcPr anchor="ctr"/>
                </a:tc>
                <a:tc>
                  <a:txBody>
                    <a:bodyPr/>
                    <a:lstStyle/>
                    <a:p>
                      <a:pPr>
                        <a:buNone/>
                      </a:pPr>
                      <a:r>
                        <a:rPr>
                          <a:solidFill>
                            <a:srgbClr val="FF0000"/>
                          </a:solidFill>
                        </a:rPr>
                        <a:t>✗</a:t>
                      </a:r>
                      <a:endParaRPr>
                        <a:solidFill>
                          <a:srgbClr val="FF0000"/>
                        </a:solidFill>
                        <a:latin typeface="Arial"/>
                        <a:ea typeface="Arial"/>
                        <a:cs typeface="Arial"/>
                      </a:endParaRPr>
                    </a:p>
                  </a:txBody>
                  <a:tcPr anchor="ctr"/>
                </a:tc>
                <a:tc>
                  <a:txBody>
                    <a:bodyPr/>
                    <a:lstStyle/>
                    <a:p>
                      <a:pPr>
                        <a:buNone/>
                      </a:pPr>
                      <a:r>
                        <a:t>Partial</a:t>
                      </a:r>
                      <a:endParaRPr>
                        <a:latin typeface="Arial"/>
                        <a:ea typeface="Arial"/>
                        <a:cs typeface="Arial"/>
                      </a:endParaRPr>
                    </a:p>
                  </a:txBody>
                  <a:tcPr anchor="ctr"/>
                </a:tc>
                <a:tc>
                  <a:txBody>
                    <a:bodyPr/>
                    <a:lstStyle/>
                    <a:p>
                      <a:pPr>
                        <a:buNone/>
                      </a:pPr>
                      <a:r>
                        <a:rPr>
                          <a:solidFill>
                            <a:schemeClr val="accent6"/>
                          </a:solidFill>
                        </a:rPr>
                        <a:t>✓</a:t>
                      </a:r>
                      <a:endParaRPr>
                        <a:solidFill>
                          <a:schemeClr val="accent6"/>
                        </a:solidFill>
                        <a:latin typeface="Arial"/>
                        <a:ea typeface="Arial"/>
                        <a:cs typeface="Arial"/>
                      </a:endParaRPr>
                    </a:p>
                  </a:txBody>
                  <a:tcPr anchor="ctr"/>
                </a:tc>
                <a:extLst>
                  <a:ext uri="{0D108BD9-81ED-4DB2-BD59-A6C34878D82A}">
                    <a16:rowId xmlns:a16="http://schemas.microsoft.com/office/drawing/2014/main" val="10002"/>
                  </a:ext>
                </a:extLst>
              </a:tr>
              <a:tr h="0">
                <a:tc>
                  <a:txBody>
                    <a:bodyPr/>
                    <a:lstStyle/>
                    <a:p>
                      <a:pPr>
                        <a:buNone/>
                      </a:pPr>
                      <a:r>
                        <a:t>Double Entry</a:t>
                      </a:r>
                      <a:endParaRPr>
                        <a:latin typeface="Arial"/>
                        <a:ea typeface="Arial"/>
                        <a:cs typeface="Arial"/>
                      </a:endParaRPr>
                    </a:p>
                  </a:txBody>
                  <a:tcPr anchor="ctr"/>
                </a:tc>
                <a:tc>
                  <a:txBody>
                    <a:bodyPr/>
                    <a:lstStyle/>
                    <a:p>
                      <a:pPr>
                        <a:buNone/>
                      </a:pPr>
                      <a:r>
                        <a:rPr>
                          <a:solidFill>
                            <a:srgbClr val="FF0000"/>
                          </a:solidFill>
                        </a:rPr>
                        <a:t>✗</a:t>
                      </a:r>
                      <a:endParaRPr>
                        <a:solidFill>
                          <a:srgbClr val="FF0000"/>
                        </a:solidFill>
                        <a:latin typeface="Arial"/>
                        <a:ea typeface="Arial"/>
                        <a:cs typeface="Arial"/>
                      </a:endParaRPr>
                    </a:p>
                  </a:txBody>
                  <a:tcPr anchor="ctr"/>
                </a:tc>
                <a:tc>
                  <a:txBody>
                    <a:bodyPr/>
                    <a:lstStyle/>
                    <a:p>
                      <a:pPr>
                        <a:buNone/>
                      </a:pPr>
                      <a:r>
                        <a:t>Partial</a:t>
                      </a:r>
                      <a:endParaRPr>
                        <a:latin typeface="Arial"/>
                        <a:ea typeface="Arial"/>
                        <a:cs typeface="Arial"/>
                      </a:endParaRPr>
                    </a:p>
                  </a:txBody>
                  <a:tcPr anchor="ctr"/>
                </a:tc>
                <a:tc>
                  <a:txBody>
                    <a:bodyPr/>
                    <a:lstStyle/>
                    <a:p>
                      <a:pPr>
                        <a:buNone/>
                      </a:pPr>
                      <a:r>
                        <a:t>Partial</a:t>
                      </a:r>
                      <a:endParaRPr>
                        <a:latin typeface="Arial"/>
                        <a:ea typeface="Arial"/>
                        <a:cs typeface="Arial"/>
                      </a:endParaRPr>
                    </a:p>
                  </a:txBody>
                  <a:tcPr anchor="ctr"/>
                </a:tc>
                <a:tc>
                  <a:txBody>
                    <a:bodyPr/>
                    <a:lstStyle/>
                    <a:p>
                      <a:pPr>
                        <a:buNone/>
                      </a:pPr>
                      <a:r>
                        <a:rPr>
                          <a:solidFill>
                            <a:schemeClr val="accent6"/>
                          </a:solidFill>
                        </a:rPr>
                        <a:t>✓</a:t>
                      </a:r>
                      <a:endParaRPr>
                        <a:solidFill>
                          <a:schemeClr val="accent6"/>
                        </a:solidFill>
                        <a:latin typeface="Arial"/>
                        <a:ea typeface="Arial"/>
                        <a:cs typeface="Arial"/>
                      </a:endParaRPr>
                    </a:p>
                  </a:txBody>
                  <a:tcPr anchor="ctr"/>
                </a:tc>
                <a:extLst>
                  <a:ext uri="{0D108BD9-81ED-4DB2-BD59-A6C34878D82A}">
                    <a16:rowId xmlns:a16="http://schemas.microsoft.com/office/drawing/2014/main" val="10003"/>
                  </a:ext>
                </a:extLst>
              </a:tr>
              <a:tr h="0">
                <a:tc>
                  <a:txBody>
                    <a:bodyPr/>
                    <a:lstStyle/>
                    <a:p>
                      <a:pPr>
                        <a:buNone/>
                      </a:pPr>
                      <a:r>
                        <a:t>Financial Statements</a:t>
                      </a:r>
                      <a:endParaRPr>
                        <a:latin typeface="Arial"/>
                        <a:ea typeface="Arial"/>
                        <a:cs typeface="Arial"/>
                      </a:endParaRPr>
                    </a:p>
                  </a:txBody>
                  <a:tcPr anchor="ctr"/>
                </a:tc>
                <a:tc>
                  <a:txBody>
                    <a:bodyPr/>
                    <a:lstStyle/>
                    <a:p>
                      <a:pPr>
                        <a:buNone/>
                      </a:pPr>
                      <a:r>
                        <a:rPr>
                          <a:solidFill>
                            <a:srgbClr val="FF0000"/>
                          </a:solidFill>
                        </a:rPr>
                        <a:t>✗</a:t>
                      </a:r>
                      <a:endParaRPr>
                        <a:solidFill>
                          <a:srgbClr val="FF0000"/>
                        </a:solidFill>
                        <a:latin typeface="Arial"/>
                        <a:ea typeface="Arial"/>
                        <a:cs typeface="Arial"/>
                      </a:endParaRPr>
                    </a:p>
                  </a:txBody>
                  <a:tcPr anchor="ctr"/>
                </a:tc>
                <a:tc>
                  <a:txBody>
                    <a:bodyPr/>
                    <a:lstStyle/>
                    <a:p>
                      <a:pPr>
                        <a:buNone/>
                      </a:pPr>
                      <a:r>
                        <a:rPr>
                          <a:solidFill>
                            <a:srgbClr val="FF0000"/>
                          </a:solidFill>
                        </a:rPr>
                        <a:t>✗</a:t>
                      </a:r>
                      <a:endParaRPr>
                        <a:solidFill>
                          <a:srgbClr val="FF0000"/>
                        </a:solidFill>
                        <a:latin typeface="Arial"/>
                        <a:ea typeface="Arial"/>
                        <a:cs typeface="Arial"/>
                      </a:endParaRPr>
                    </a:p>
                  </a:txBody>
                  <a:tcPr anchor="ctr"/>
                </a:tc>
                <a:tc>
                  <a:txBody>
                    <a:bodyPr/>
                    <a:lstStyle/>
                    <a:p>
                      <a:pPr>
                        <a:buNone/>
                      </a:pPr>
                      <a:r>
                        <a:t>Partial</a:t>
                      </a:r>
                      <a:endParaRPr>
                        <a:latin typeface="Arial"/>
                        <a:ea typeface="Arial"/>
                        <a:cs typeface="Arial"/>
                      </a:endParaRPr>
                    </a:p>
                  </a:txBody>
                  <a:tcPr anchor="ctr"/>
                </a:tc>
                <a:tc>
                  <a:txBody>
                    <a:bodyPr/>
                    <a:lstStyle/>
                    <a:p>
                      <a:pPr>
                        <a:buNone/>
                      </a:pPr>
                      <a:r>
                        <a:rPr>
                          <a:solidFill>
                            <a:schemeClr val="accent6"/>
                          </a:solidFill>
                        </a:rPr>
                        <a:t>✓</a:t>
                      </a:r>
                      <a:endParaRPr>
                        <a:solidFill>
                          <a:schemeClr val="accent6"/>
                        </a:solidFill>
                        <a:latin typeface="Arial"/>
                        <a:ea typeface="Arial"/>
                        <a:cs typeface="Arial"/>
                      </a:endParaRPr>
                    </a:p>
                  </a:txBody>
                  <a:tcPr anchor="ctr"/>
                </a:tc>
                <a:extLst>
                  <a:ext uri="{0D108BD9-81ED-4DB2-BD59-A6C34878D82A}">
                    <a16:rowId xmlns:a16="http://schemas.microsoft.com/office/drawing/2014/main" val="10004"/>
                  </a:ext>
                </a:extLst>
              </a:tr>
              <a:tr h="0">
                <a:tc>
                  <a:txBody>
                    <a:bodyPr/>
                    <a:lstStyle/>
                    <a:p>
                      <a:pPr>
                        <a:buNone/>
                      </a:pPr>
                      <a:r>
                        <a:t>Real-time Reports</a:t>
                      </a:r>
                      <a:endParaRPr>
                        <a:latin typeface="Arial"/>
                        <a:ea typeface="Arial"/>
                        <a:cs typeface="Arial"/>
                      </a:endParaRPr>
                    </a:p>
                  </a:txBody>
                  <a:tcPr anchor="ctr"/>
                </a:tc>
                <a:tc>
                  <a:txBody>
                    <a:bodyPr/>
                    <a:lstStyle/>
                    <a:p>
                      <a:pPr>
                        <a:buNone/>
                      </a:pPr>
                      <a:r>
                        <a:rPr>
                          <a:solidFill>
                            <a:srgbClr val="FF0000"/>
                          </a:solidFill>
                        </a:rPr>
                        <a:t>✗</a:t>
                      </a:r>
                      <a:endParaRPr>
                        <a:solidFill>
                          <a:srgbClr val="FF0000"/>
                        </a:solidFill>
                        <a:latin typeface="Arial"/>
                        <a:ea typeface="Arial"/>
                        <a:cs typeface="Arial"/>
                      </a:endParaRPr>
                    </a:p>
                  </a:txBody>
                  <a:tcPr anchor="ctr"/>
                </a:tc>
                <a:tc>
                  <a:txBody>
                    <a:bodyPr/>
                    <a:lstStyle/>
                    <a:p>
                      <a:pPr>
                        <a:buNone/>
                      </a:pPr>
                      <a:r>
                        <a:rPr>
                          <a:solidFill>
                            <a:srgbClr val="FF0000"/>
                          </a:solidFill>
                        </a:rPr>
                        <a:t>✗</a:t>
                      </a:r>
                      <a:endParaRPr>
                        <a:solidFill>
                          <a:srgbClr val="FF0000"/>
                        </a:solidFill>
                        <a:latin typeface="Arial"/>
                        <a:ea typeface="Arial"/>
                        <a:cs typeface="Arial"/>
                      </a:endParaRPr>
                    </a:p>
                  </a:txBody>
                  <a:tcPr anchor="ctr"/>
                </a:tc>
                <a:tc>
                  <a:txBody>
                    <a:bodyPr/>
                    <a:lstStyle/>
                    <a:p>
                      <a:pPr>
                        <a:buNone/>
                      </a:pPr>
                      <a:r>
                        <a:t>Partial</a:t>
                      </a:r>
                      <a:endParaRPr>
                        <a:latin typeface="Arial"/>
                        <a:ea typeface="Arial"/>
                        <a:cs typeface="Arial"/>
                      </a:endParaRPr>
                    </a:p>
                  </a:txBody>
                  <a:tcPr anchor="ctr"/>
                </a:tc>
                <a:tc>
                  <a:txBody>
                    <a:bodyPr/>
                    <a:lstStyle/>
                    <a:p>
                      <a:pPr>
                        <a:buNone/>
                      </a:pPr>
                      <a:r>
                        <a:rPr>
                          <a:solidFill>
                            <a:schemeClr val="accent6"/>
                          </a:solidFill>
                        </a:rPr>
                        <a:t>✓</a:t>
                      </a:r>
                      <a:endParaRPr>
                        <a:solidFill>
                          <a:schemeClr val="accent6"/>
                        </a:solidFill>
                        <a:latin typeface="Arial"/>
                        <a:ea typeface="Arial"/>
                        <a:cs typeface="Arial"/>
                      </a:endParaRPr>
                    </a:p>
                  </a:txBody>
                  <a:tcPr anchor="ctr"/>
                </a:tc>
                <a:extLst>
                  <a:ext uri="{0D108BD9-81ED-4DB2-BD59-A6C34878D82A}">
                    <a16:rowId xmlns:a16="http://schemas.microsoft.com/office/drawing/2014/main" val="10005"/>
                  </a:ext>
                </a:extLst>
              </a:tr>
              <a:tr h="0">
                <a:tc>
                  <a:txBody>
                    <a:bodyPr/>
                    <a:lstStyle/>
                    <a:p>
                      <a:pPr>
                        <a:buNone/>
                      </a:pPr>
                      <a:r>
                        <a:t>Multi-user</a:t>
                      </a:r>
                      <a:endParaRPr>
                        <a:latin typeface="Arial"/>
                        <a:ea typeface="Arial"/>
                        <a:cs typeface="Arial"/>
                      </a:endParaRPr>
                    </a:p>
                  </a:txBody>
                  <a:tcPr anchor="ctr"/>
                </a:tc>
                <a:tc>
                  <a:txBody>
                    <a:bodyPr/>
                    <a:lstStyle/>
                    <a:p>
                      <a:pPr>
                        <a:buNone/>
                      </a:pPr>
                      <a:r>
                        <a:rPr>
                          <a:solidFill>
                            <a:srgbClr val="FF0000"/>
                          </a:solidFill>
                        </a:rPr>
                        <a:t>✗</a:t>
                      </a:r>
                      <a:endParaRPr>
                        <a:solidFill>
                          <a:srgbClr val="FF0000"/>
                        </a:solidFill>
                        <a:latin typeface="Arial"/>
                        <a:ea typeface="Arial"/>
                        <a:cs typeface="Arial"/>
                      </a:endParaRPr>
                    </a:p>
                  </a:txBody>
                  <a:tcPr anchor="ctr"/>
                </a:tc>
                <a:tc>
                  <a:txBody>
                    <a:bodyPr/>
                    <a:lstStyle/>
                    <a:p>
                      <a:pPr>
                        <a:buNone/>
                      </a:pPr>
                      <a:r>
                        <a:rPr>
                          <a:solidFill>
                            <a:srgbClr val="FF0000"/>
                          </a:solidFill>
                        </a:rPr>
                        <a:t>✗</a:t>
                      </a:r>
                      <a:endParaRPr>
                        <a:solidFill>
                          <a:srgbClr val="FF0000"/>
                        </a:solidFill>
                        <a:latin typeface="Arial"/>
                        <a:ea typeface="Arial"/>
                        <a:cs typeface="Arial"/>
                      </a:endParaRPr>
                    </a:p>
                  </a:txBody>
                  <a:tcPr anchor="ctr"/>
                </a:tc>
                <a:tc>
                  <a:txBody>
                    <a:bodyPr/>
                    <a:lstStyle/>
                    <a:p>
                      <a:pPr>
                        <a:buNone/>
                      </a:pPr>
                      <a:r>
                        <a:t>Partial</a:t>
                      </a:r>
                      <a:endParaRPr>
                        <a:latin typeface="Arial"/>
                        <a:ea typeface="Arial"/>
                        <a:cs typeface="Arial"/>
                      </a:endParaRPr>
                    </a:p>
                  </a:txBody>
                  <a:tcPr anchor="ctr"/>
                </a:tc>
                <a:tc>
                  <a:txBody>
                    <a:bodyPr/>
                    <a:lstStyle/>
                    <a:p>
                      <a:pPr>
                        <a:buNone/>
                      </a:pPr>
                      <a:r>
                        <a:rPr>
                          <a:solidFill>
                            <a:schemeClr val="accent6"/>
                          </a:solidFill>
                        </a:rPr>
                        <a:t>✓</a:t>
                      </a:r>
                      <a:endParaRPr>
                        <a:solidFill>
                          <a:schemeClr val="accent6"/>
                        </a:solidFill>
                        <a:latin typeface="Arial"/>
                        <a:ea typeface="Arial"/>
                        <a:cs typeface="Arial"/>
                      </a:endParaRPr>
                    </a:p>
                  </a:txBody>
                  <a:tcPr anchor="ctr"/>
                </a:tc>
                <a:extLst>
                  <a:ext uri="{0D108BD9-81ED-4DB2-BD59-A6C34878D82A}">
                    <a16:rowId xmlns:a16="http://schemas.microsoft.com/office/drawing/2014/main" val="10006"/>
                  </a:ext>
                </a:extLst>
              </a:tr>
            </a:tbl>
          </a:graphicData>
        </a:graphic>
      </p:graphicFrame>
      <p:sp>
        <p:nvSpPr>
          <p:cNvPr id="6" name="TextBox 5">
            <a:extLst>
              <a:ext uri="{FF2B5EF4-FFF2-40B4-BE49-F238E27FC236}">
                <a16:creationId xmlns:a16="http://schemas.microsoft.com/office/drawing/2014/main" id="{D158292A-3E73-3A02-33DD-CE99E0513991}"/>
              </a:ext>
            </a:extLst>
          </p:cNvPr>
          <p:cNvSpPr>
            <a:spLocks noGrp="1"/>
          </p:cNvSpPr>
          <p:nvPr/>
        </p:nvSpPr>
        <p:spPr>
          <a:xfrm>
            <a:off x="578358" y="245102"/>
            <a:ext cx="8958834" cy="461665"/>
          </a:xfrm>
          <a:prstGeom prst="rect">
            <a:avLst/>
          </a:prstGeom>
          <a:noFill/>
        </p:spPr>
        <p:txBody>
          <a:bodyPr wrap="square">
            <a:spAutoFit/>
          </a:bodyPr>
          <a:lstStyle/>
          <a:p>
            <a:r>
              <a:rPr sz="2400" b="1">
                <a:latin typeface="Arial"/>
                <a:ea typeface="Arial"/>
                <a:cs typeface="Arial"/>
              </a:rPr>
              <a:t>Literature Review &amp; Existing System Comparison</a:t>
            </a:r>
          </a:p>
        </p:txBody>
      </p:sp>
      <p:sp>
        <p:nvSpPr>
          <p:cNvPr id="7" name="Rectangle 6">
            <a:extLst>
              <a:ext uri="{FF2B5EF4-FFF2-40B4-BE49-F238E27FC236}">
                <a16:creationId xmlns:a16="http://schemas.microsoft.com/office/drawing/2014/main" id="{E8FFCC70-6A2C-AB7E-3111-E606606778B1}"/>
              </a:ext>
            </a:extLst>
          </p:cNvPr>
          <p:cNvSpPr>
            <a:spLocks noGrp="1"/>
          </p:cNvSpPr>
          <p:nvPr/>
        </p:nvSpPr>
        <p:spPr>
          <a:xfrm>
            <a:off x="667512" y="706767"/>
            <a:ext cx="1307592" cy="7961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2160E2E1-82EF-77DD-12C8-7B22F3FB2F98}"/>
              </a:ext>
            </a:extLst>
          </p:cNvPr>
          <p:cNvSpPr>
            <a:spLocks noGrp="1"/>
          </p:cNvSpPr>
          <p:nvPr/>
        </p:nvSpPr>
        <p:spPr>
          <a:xfrm>
            <a:off x="514350" y="6419850"/>
            <a:ext cx="11096625" cy="9525"/>
          </a:xfrm>
          <a:prstGeom prst="rect">
            <a:avLst/>
          </a:prstGeom>
          <a:solidFill>
            <a:srgbClr val="C9D2D8"/>
          </a:solidFill>
          <a:ln w="0">
            <a:noFill/>
            <a:prstDash val="solid"/>
          </a:ln>
        </p:spPr>
        <p:txBody>
          <a:bodyPr/>
          <a:lstStyle/>
          <a:p>
            <a:endParaRPr lang="en-US"/>
          </a:p>
        </p:txBody>
      </p:sp>
      <p:sp>
        <p:nvSpPr>
          <p:cNvPr id="5" name="Rectangle 4">
            <a:extLst>
              <a:ext uri="{FF2B5EF4-FFF2-40B4-BE49-F238E27FC236}">
                <a16:creationId xmlns:a16="http://schemas.microsoft.com/office/drawing/2014/main" id="{2FCA03F9-E501-9D03-AD63-5530495F9D8E}"/>
              </a:ext>
            </a:extLst>
          </p:cNvPr>
          <p:cNvSpPr>
            <a:spLocks noGrp="1"/>
          </p:cNvSpPr>
          <p:nvPr/>
        </p:nvSpPr>
        <p:spPr>
          <a:xfrm>
            <a:off x="514350" y="6505575"/>
            <a:ext cx="3333750" cy="209550"/>
          </a:xfrm>
          <a:prstGeom prst="rect">
            <a:avLst/>
          </a:prstGeom>
          <a:noFill/>
          <a:ln w="0">
            <a:noFill/>
            <a:prstDash val="solid"/>
          </a:ln>
        </p:spPr>
        <p:txBody>
          <a:bodyPr anchor="ctr">
            <a:normAutofit fontScale="93939" lnSpcReduction="10000"/>
          </a:bodyPr>
          <a:lstStyle/>
          <a:p>
            <a:pPr algn="l">
              <a:defRPr sz="825" b="0">
                <a:solidFill>
                  <a:srgbClr val="5F6B76"/>
                </a:solidFill>
                <a:latin typeface="Arial"/>
                <a:ea typeface="Arial"/>
                <a:cs typeface="Arial"/>
              </a:defRPr>
            </a:pPr>
            <a:r>
              <a:rPr sz="825" b="0" dirty="0" err="1">
                <a:solidFill>
                  <a:srgbClr val="5F6B76"/>
                </a:solidFill>
                <a:latin typeface="Arial"/>
                <a:ea typeface="Arial"/>
                <a:cs typeface="Arial"/>
              </a:rPr>
              <a:t>BizTrack</a:t>
            </a:r>
            <a:r>
              <a:rPr sz="825" b="0" dirty="0">
                <a:solidFill>
                  <a:srgbClr val="5F6B76"/>
                </a:solidFill>
                <a:latin typeface="Arial"/>
                <a:ea typeface="Arial"/>
                <a:cs typeface="Arial"/>
              </a:rPr>
              <a:t> • </a:t>
            </a:r>
            <a:r>
              <a:rPr lang="en-US" sz="825" b="0" dirty="0">
                <a:solidFill>
                  <a:srgbClr val="5F6B76"/>
                </a:solidFill>
                <a:latin typeface="Arial"/>
                <a:ea typeface="Arial"/>
                <a:cs typeface="Arial"/>
              </a:rPr>
              <a:t>A Complete Business Accounting Management System</a:t>
            </a:r>
            <a:endParaRPr sz="825" b="0" dirty="0">
              <a:solidFill>
                <a:srgbClr val="5F6B76"/>
              </a:solidFill>
              <a:latin typeface="Arial"/>
              <a:ea typeface="Arial"/>
              <a:cs typeface="Arial"/>
            </a:endParaRPr>
          </a:p>
        </p:txBody>
      </p:sp>
      <p:sp>
        <p:nvSpPr>
          <p:cNvPr id="10" name="Rectangle 9">
            <a:extLst>
              <a:ext uri="{FF2B5EF4-FFF2-40B4-BE49-F238E27FC236}">
                <a16:creationId xmlns:a16="http://schemas.microsoft.com/office/drawing/2014/main" id="{E2D99A5C-4495-D01D-8658-4E7E69EDE287}"/>
              </a:ext>
            </a:extLst>
          </p:cNvPr>
          <p:cNvSpPr>
            <a:spLocks noGrp="1"/>
          </p:cNvSpPr>
          <p:nvPr/>
        </p:nvSpPr>
        <p:spPr>
          <a:xfrm>
            <a:off x="11049000" y="6505575"/>
            <a:ext cx="552450" cy="209550"/>
          </a:xfrm>
          <a:prstGeom prst="rect">
            <a:avLst/>
          </a:prstGeom>
          <a:noFill/>
          <a:ln w="0">
            <a:noFill/>
            <a:prstDash val="solid"/>
          </a:ln>
        </p:spPr>
        <p:txBody>
          <a:bodyPr anchor="ctr">
            <a:normAutofit fontScale="93939" lnSpcReduction="10000"/>
          </a:bodyPr>
          <a:lstStyle/>
          <a:p>
            <a:pPr algn="r">
              <a:defRPr sz="825" b="1">
                <a:solidFill>
                  <a:srgbClr val="5F6B76"/>
                </a:solidFill>
                <a:latin typeface="Arial"/>
                <a:ea typeface="Arial"/>
                <a:cs typeface="Arial"/>
              </a:defRPr>
            </a:pPr>
            <a:r>
              <a:rPr lang="en-US" sz="825" b="1" dirty="0">
                <a:solidFill>
                  <a:srgbClr val="5F6B76"/>
                </a:solidFill>
                <a:latin typeface="Arial"/>
                <a:ea typeface="Arial"/>
                <a:cs typeface="Arial"/>
              </a:rPr>
              <a:t>05</a:t>
            </a:r>
            <a:endParaRPr sz="825" b="1" dirty="0">
              <a:solidFill>
                <a:srgbClr val="5F6B76"/>
              </a:solidFill>
              <a:latin typeface="Arial"/>
              <a:ea typeface="Arial"/>
              <a:cs typeface="Arial"/>
            </a:endParaRPr>
          </a:p>
        </p:txBody>
      </p:sp>
    </p:spTree>
    <p:extLst>
      <p:ext uri="{BB962C8B-B14F-4D97-AF65-F5344CB8AC3E}">
        <p14:creationId xmlns:p14="http://schemas.microsoft.com/office/powerpoint/2010/main" val="1009840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7" name="Rectangle 7176">
            <a:extLst>
              <a:ext uri="{FF2B5EF4-FFF2-40B4-BE49-F238E27FC236}">
                <a16:creationId xmlns:a16="http://schemas.microsoft.com/office/drawing/2014/main" id="{37BD616B-989E-E972-975E-80E8F56ED860}"/>
              </a:ext>
            </a:extLst>
          </p:cNvPr>
          <p:cNvSpPr>
            <a:spLocks noGrp="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7F19FFA3-E2A9-A4D1-9E61-C7E18330C748}"/>
              </a:ext>
            </a:extLst>
          </p:cNvPr>
          <p:cNvSpPr>
            <a:spLocks noGrp="1"/>
          </p:cNvSpPr>
          <p:nvPr/>
        </p:nvSpPr>
        <p:spPr>
          <a:xfrm>
            <a:off x="578358" y="245102"/>
            <a:ext cx="8181594" cy="461665"/>
          </a:xfrm>
          <a:prstGeom prst="rect">
            <a:avLst/>
          </a:prstGeom>
          <a:noFill/>
        </p:spPr>
        <p:txBody>
          <a:bodyPr wrap="square">
            <a:spAutoFit/>
          </a:bodyPr>
          <a:lstStyle/>
          <a:p>
            <a:r>
              <a:rPr sz="2400" b="1" dirty="0" err="1">
                <a:latin typeface="Arial"/>
                <a:ea typeface="Arial"/>
                <a:cs typeface="Arial"/>
              </a:rPr>
              <a:t>BizTrack</a:t>
            </a:r>
            <a:r>
              <a:rPr sz="2400" b="1" dirty="0">
                <a:latin typeface="Arial"/>
                <a:ea typeface="Arial"/>
                <a:cs typeface="Arial"/>
              </a:rPr>
              <a:t> as a Multi-Tenant SaaS Application</a:t>
            </a:r>
          </a:p>
        </p:txBody>
      </p:sp>
      <p:sp>
        <p:nvSpPr>
          <p:cNvPr id="7" name="Rectangle 6">
            <a:extLst>
              <a:ext uri="{FF2B5EF4-FFF2-40B4-BE49-F238E27FC236}">
                <a16:creationId xmlns:a16="http://schemas.microsoft.com/office/drawing/2014/main" id="{08696B9F-FC8A-D210-AFDC-E2D164624A13}"/>
              </a:ext>
            </a:extLst>
          </p:cNvPr>
          <p:cNvSpPr>
            <a:spLocks noGrp="1"/>
          </p:cNvSpPr>
          <p:nvPr/>
        </p:nvSpPr>
        <p:spPr>
          <a:xfrm>
            <a:off x="667512" y="706767"/>
            <a:ext cx="1307592" cy="7961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7182" name="Picture 7183"/>
          <p:cNvPicPr>
            <a:picLocks noChangeAspect="1"/>
          </p:cNvPicPr>
          <p:nvPr/>
        </p:nvPicPr>
        <p:blipFill>
          <a:blip r:embed="rId3"/>
          <a:srcRect l="5272" t="5800" r="4869" b="5399"/>
          <a:stretch>
            <a:fillRect/>
          </a:stretch>
        </p:blipFill>
        <p:spPr>
          <a:xfrm>
            <a:off x="2642617" y="746575"/>
            <a:ext cx="7014498" cy="5661029"/>
          </a:xfrm>
          <a:prstGeom prst="rect">
            <a:avLst/>
          </a:prstGeom>
        </p:spPr>
      </p:pic>
      <p:sp>
        <p:nvSpPr>
          <p:cNvPr id="3" name="Rectangle 2">
            <a:extLst>
              <a:ext uri="{FF2B5EF4-FFF2-40B4-BE49-F238E27FC236}">
                <a16:creationId xmlns:a16="http://schemas.microsoft.com/office/drawing/2014/main" id="{E6DD3FA6-68DB-9BB7-E12B-6B4F0109C7FA}"/>
              </a:ext>
            </a:extLst>
          </p:cNvPr>
          <p:cNvSpPr>
            <a:spLocks noGrp="1"/>
          </p:cNvSpPr>
          <p:nvPr/>
        </p:nvSpPr>
        <p:spPr>
          <a:xfrm>
            <a:off x="514350" y="6419850"/>
            <a:ext cx="11096625" cy="9525"/>
          </a:xfrm>
          <a:prstGeom prst="rect">
            <a:avLst/>
          </a:prstGeom>
          <a:solidFill>
            <a:srgbClr val="C9D2D8"/>
          </a:solidFill>
          <a:ln w="0">
            <a:noFill/>
            <a:prstDash val="solid"/>
          </a:ln>
        </p:spPr>
        <p:txBody>
          <a:bodyPr/>
          <a:lstStyle/>
          <a:p>
            <a:endParaRPr lang="en-US"/>
          </a:p>
        </p:txBody>
      </p:sp>
      <p:sp>
        <p:nvSpPr>
          <p:cNvPr id="5" name="Rectangle 4">
            <a:extLst>
              <a:ext uri="{FF2B5EF4-FFF2-40B4-BE49-F238E27FC236}">
                <a16:creationId xmlns:a16="http://schemas.microsoft.com/office/drawing/2014/main" id="{655101C9-B9E6-E7C3-96A2-730C81D3FF35}"/>
              </a:ext>
            </a:extLst>
          </p:cNvPr>
          <p:cNvSpPr>
            <a:spLocks noGrp="1"/>
          </p:cNvSpPr>
          <p:nvPr/>
        </p:nvSpPr>
        <p:spPr>
          <a:xfrm>
            <a:off x="514350" y="6505575"/>
            <a:ext cx="3333750" cy="209550"/>
          </a:xfrm>
          <a:prstGeom prst="rect">
            <a:avLst/>
          </a:prstGeom>
          <a:noFill/>
          <a:ln w="0">
            <a:noFill/>
            <a:prstDash val="solid"/>
          </a:ln>
        </p:spPr>
        <p:txBody>
          <a:bodyPr anchor="ctr">
            <a:normAutofit fontScale="93939" lnSpcReduction="10000"/>
          </a:bodyPr>
          <a:lstStyle/>
          <a:p>
            <a:pPr algn="l">
              <a:defRPr sz="825" b="0">
                <a:solidFill>
                  <a:srgbClr val="5F6B76"/>
                </a:solidFill>
                <a:latin typeface="Arial"/>
                <a:ea typeface="Arial"/>
                <a:cs typeface="Arial"/>
              </a:defRPr>
            </a:pPr>
            <a:r>
              <a:rPr sz="825" b="0" dirty="0" err="1">
                <a:solidFill>
                  <a:srgbClr val="5F6B76"/>
                </a:solidFill>
                <a:latin typeface="Arial"/>
                <a:ea typeface="Arial"/>
                <a:cs typeface="Arial"/>
              </a:rPr>
              <a:t>BizTrack</a:t>
            </a:r>
            <a:r>
              <a:rPr sz="825" b="0" dirty="0">
                <a:solidFill>
                  <a:srgbClr val="5F6B76"/>
                </a:solidFill>
                <a:latin typeface="Arial"/>
                <a:ea typeface="Arial"/>
                <a:cs typeface="Arial"/>
              </a:rPr>
              <a:t> • </a:t>
            </a:r>
            <a:r>
              <a:rPr lang="en-US" sz="825" b="0" dirty="0">
                <a:solidFill>
                  <a:srgbClr val="5F6B76"/>
                </a:solidFill>
                <a:latin typeface="Arial"/>
                <a:ea typeface="Arial"/>
                <a:cs typeface="Arial"/>
              </a:rPr>
              <a:t>A Complete Business Accounting Management System</a:t>
            </a:r>
            <a:endParaRPr sz="825" b="0" dirty="0">
              <a:solidFill>
                <a:srgbClr val="5F6B76"/>
              </a:solidFill>
              <a:latin typeface="Arial"/>
              <a:ea typeface="Arial"/>
              <a:cs typeface="Arial"/>
            </a:endParaRPr>
          </a:p>
        </p:txBody>
      </p:sp>
      <p:sp>
        <p:nvSpPr>
          <p:cNvPr id="9" name="Rectangle 8">
            <a:extLst>
              <a:ext uri="{FF2B5EF4-FFF2-40B4-BE49-F238E27FC236}">
                <a16:creationId xmlns:a16="http://schemas.microsoft.com/office/drawing/2014/main" id="{A5091081-7A34-9794-33EF-43F2CFE8CBF8}"/>
              </a:ext>
            </a:extLst>
          </p:cNvPr>
          <p:cNvSpPr>
            <a:spLocks noGrp="1"/>
          </p:cNvSpPr>
          <p:nvPr/>
        </p:nvSpPr>
        <p:spPr>
          <a:xfrm>
            <a:off x="11049000" y="6505575"/>
            <a:ext cx="552450" cy="209550"/>
          </a:xfrm>
          <a:prstGeom prst="rect">
            <a:avLst/>
          </a:prstGeom>
          <a:noFill/>
          <a:ln w="0">
            <a:noFill/>
            <a:prstDash val="solid"/>
          </a:ln>
        </p:spPr>
        <p:txBody>
          <a:bodyPr anchor="ctr">
            <a:normAutofit fontScale="93939" lnSpcReduction="10000"/>
          </a:bodyPr>
          <a:lstStyle/>
          <a:p>
            <a:pPr algn="r">
              <a:defRPr sz="825" b="1">
                <a:solidFill>
                  <a:srgbClr val="5F6B76"/>
                </a:solidFill>
                <a:latin typeface="Arial"/>
                <a:ea typeface="Arial"/>
                <a:cs typeface="Arial"/>
              </a:defRPr>
            </a:pPr>
            <a:r>
              <a:rPr lang="en-US" sz="825" b="1" dirty="0">
                <a:solidFill>
                  <a:srgbClr val="5F6B76"/>
                </a:solidFill>
                <a:latin typeface="Arial"/>
                <a:ea typeface="Arial"/>
                <a:cs typeface="Arial"/>
              </a:rPr>
              <a:t>06</a:t>
            </a:r>
            <a:endParaRPr sz="825" b="1" dirty="0">
              <a:solidFill>
                <a:srgbClr val="5F6B76"/>
              </a:solidFill>
              <a:latin typeface="Arial"/>
              <a:ea typeface="Arial"/>
              <a:cs typeface="Arial"/>
            </a:endParaRPr>
          </a:p>
        </p:txBody>
      </p:sp>
    </p:spTree>
    <p:extLst>
      <p:ext uri="{BB962C8B-B14F-4D97-AF65-F5344CB8AC3E}">
        <p14:creationId xmlns:p14="http://schemas.microsoft.com/office/powerpoint/2010/main" val="3150864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F4F2FEA-BD84-5709-C9E1-5781A5894360}"/>
              </a:ext>
            </a:extLst>
          </p:cNvPr>
          <p:cNvSpPr>
            <a:spLocks noGrp="1"/>
          </p:cNvSpPr>
          <p:nvPr/>
        </p:nvSpPr>
        <p:spPr>
          <a:xfrm>
            <a:off x="357759" y="1291505"/>
            <a:ext cx="1927098" cy="3139321"/>
          </a:xfrm>
          <a:prstGeom prst="rect">
            <a:avLst/>
          </a:prstGeom>
          <a:noFill/>
        </p:spPr>
        <p:txBody>
          <a:bodyPr wrap="square">
            <a:spAutoFit/>
          </a:bodyPr>
          <a:lstStyle/>
          <a:p>
            <a:pPr>
              <a:buNone/>
            </a:pPr>
            <a:r>
              <a:rPr b="1">
                <a:latin typeface="Arial"/>
                <a:ea typeface="Arial"/>
                <a:cs typeface="Arial"/>
              </a:rPr>
              <a:t>Frontend</a:t>
            </a:r>
            <a:endParaRPr>
              <a:latin typeface="Arial"/>
              <a:ea typeface="Arial"/>
              <a:cs typeface="Arial"/>
            </a:endParaRPr>
          </a:p>
          <a:p>
            <a:pPr marL="285750" indent="-285750">
              <a:buFont typeface="Wingdings"/>
              <a:buChar char="§"/>
            </a:pPr>
            <a:r>
              <a:rPr>
                <a:latin typeface="Arial"/>
                <a:ea typeface="Arial"/>
                <a:cs typeface="Arial"/>
              </a:rPr>
              <a:t>HTML5 </a:t>
            </a:r>
          </a:p>
          <a:p>
            <a:pPr marL="285750" indent="-285750">
              <a:buFont typeface="Wingdings"/>
              <a:buChar char="§"/>
            </a:pPr>
            <a:r>
              <a:rPr>
                <a:latin typeface="Arial"/>
                <a:ea typeface="Arial"/>
                <a:cs typeface="Arial"/>
              </a:rPr>
              <a:t>CSS3 </a:t>
            </a:r>
          </a:p>
          <a:p>
            <a:pPr marL="285750" indent="-285750">
              <a:buFont typeface="Wingdings"/>
              <a:buChar char="§"/>
            </a:pPr>
            <a:r>
              <a:rPr>
                <a:latin typeface="Arial"/>
                <a:ea typeface="Arial"/>
                <a:cs typeface="Arial"/>
              </a:rPr>
              <a:t>Bootstrap </a:t>
            </a:r>
          </a:p>
          <a:p>
            <a:pPr marL="285750" indent="-285750">
              <a:buFont typeface="Wingdings"/>
              <a:buChar char="§"/>
            </a:pPr>
            <a:r>
              <a:rPr>
                <a:latin typeface="Arial"/>
                <a:ea typeface="Arial"/>
                <a:cs typeface="Arial"/>
              </a:rPr>
              <a:t>JavaScript </a:t>
            </a:r>
          </a:p>
          <a:p>
            <a:pPr marL="285750" indent="-285750">
              <a:buFont typeface="Wingdings"/>
              <a:buChar char="§"/>
            </a:pPr>
            <a:r>
              <a:rPr>
                <a:latin typeface="Arial"/>
                <a:ea typeface="Arial"/>
                <a:cs typeface="Arial"/>
              </a:rPr>
              <a:t>jQuery </a:t>
            </a:r>
          </a:p>
          <a:p>
            <a:pPr marL="285750" indent="-285750">
              <a:buFont typeface="Wingdings"/>
              <a:buChar char="§"/>
            </a:pPr>
            <a:r>
              <a:rPr>
                <a:latin typeface="Arial"/>
                <a:ea typeface="Arial"/>
                <a:cs typeface="Arial"/>
              </a:rPr>
              <a:t>AJAX </a:t>
            </a:r>
          </a:p>
          <a:p>
            <a:endParaRPr>
              <a:latin typeface="Arial"/>
              <a:ea typeface="Arial"/>
              <a:cs typeface="Arial"/>
            </a:endParaRPr>
          </a:p>
          <a:p>
            <a:pPr>
              <a:buNone/>
            </a:pPr>
            <a:r>
              <a:rPr b="1">
                <a:latin typeface="Arial"/>
                <a:ea typeface="Arial"/>
                <a:cs typeface="Arial"/>
              </a:rPr>
              <a:t>Backend</a:t>
            </a:r>
            <a:endParaRPr>
              <a:latin typeface="Arial"/>
              <a:ea typeface="Arial"/>
              <a:cs typeface="Arial"/>
            </a:endParaRPr>
          </a:p>
          <a:p>
            <a:pPr marL="285750" indent="-285750">
              <a:buFont typeface="Wingdings"/>
              <a:buChar char="§"/>
            </a:pPr>
            <a:r>
              <a:rPr>
                <a:latin typeface="Arial"/>
                <a:ea typeface="Arial"/>
                <a:cs typeface="Arial"/>
              </a:rPr>
              <a:t>Laravel </a:t>
            </a:r>
          </a:p>
          <a:p>
            <a:pPr marL="285750" indent="-285750">
              <a:buFont typeface="Wingdings"/>
              <a:buChar char="§"/>
            </a:pPr>
            <a:r>
              <a:rPr>
                <a:latin typeface="Arial"/>
                <a:ea typeface="Arial"/>
                <a:cs typeface="Arial"/>
              </a:rPr>
              <a:t>PHP </a:t>
            </a:r>
          </a:p>
        </p:txBody>
      </p:sp>
      <p:sp>
        <p:nvSpPr>
          <p:cNvPr id="8" name="TextBox 7">
            <a:extLst>
              <a:ext uri="{FF2B5EF4-FFF2-40B4-BE49-F238E27FC236}">
                <a16:creationId xmlns:a16="http://schemas.microsoft.com/office/drawing/2014/main" id="{8FEBEF8D-36C4-6344-4222-B79DD8D04097}"/>
              </a:ext>
            </a:extLst>
          </p:cNvPr>
          <p:cNvSpPr>
            <a:spLocks noGrp="1"/>
          </p:cNvSpPr>
          <p:nvPr/>
        </p:nvSpPr>
        <p:spPr>
          <a:xfrm>
            <a:off x="578358" y="245102"/>
            <a:ext cx="6094476" cy="461665"/>
          </a:xfrm>
          <a:prstGeom prst="rect">
            <a:avLst/>
          </a:prstGeom>
          <a:noFill/>
        </p:spPr>
        <p:txBody>
          <a:bodyPr wrap="square">
            <a:spAutoFit/>
          </a:bodyPr>
          <a:lstStyle/>
          <a:p>
            <a:r>
              <a:rPr sz="2400" b="1">
                <a:latin typeface="Arial"/>
                <a:ea typeface="Arial"/>
                <a:cs typeface="Arial"/>
              </a:rPr>
              <a:t>Methodology &amp; Technology Stack</a:t>
            </a:r>
          </a:p>
        </p:txBody>
      </p:sp>
      <p:sp>
        <p:nvSpPr>
          <p:cNvPr id="9" name="Rectangle 8">
            <a:extLst>
              <a:ext uri="{FF2B5EF4-FFF2-40B4-BE49-F238E27FC236}">
                <a16:creationId xmlns:a16="http://schemas.microsoft.com/office/drawing/2014/main" id="{6BC40361-5143-61B3-B305-3AA22753EE69}"/>
              </a:ext>
            </a:extLst>
          </p:cNvPr>
          <p:cNvSpPr>
            <a:spLocks noGrp="1"/>
          </p:cNvSpPr>
          <p:nvPr/>
        </p:nvSpPr>
        <p:spPr>
          <a:xfrm>
            <a:off x="667512" y="706767"/>
            <a:ext cx="1307592" cy="7961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CD3D0554-9349-8E69-745E-E24D131279CE}"/>
              </a:ext>
            </a:extLst>
          </p:cNvPr>
          <p:cNvSpPr>
            <a:spLocks noGrp="1"/>
          </p:cNvSpPr>
          <p:nvPr/>
        </p:nvSpPr>
        <p:spPr>
          <a:xfrm>
            <a:off x="357759" y="5444695"/>
            <a:ext cx="4697730" cy="646331"/>
          </a:xfrm>
          <a:prstGeom prst="rect">
            <a:avLst/>
          </a:prstGeom>
          <a:noFill/>
        </p:spPr>
        <p:txBody>
          <a:bodyPr wrap="square">
            <a:spAutoFit/>
          </a:bodyPr>
          <a:lstStyle/>
          <a:p>
            <a:pPr>
              <a:buNone/>
            </a:pPr>
            <a:r>
              <a:rPr b="1">
                <a:latin typeface="Arial"/>
                <a:ea typeface="Arial"/>
                <a:cs typeface="Arial"/>
              </a:rPr>
              <a:t>Tools</a:t>
            </a:r>
            <a:endParaRPr>
              <a:latin typeface="Arial"/>
              <a:ea typeface="Arial"/>
              <a:cs typeface="Arial"/>
            </a:endParaRPr>
          </a:p>
          <a:p>
            <a:pPr marL="285750" indent="-285750">
              <a:buFont typeface="Arial"/>
              <a:buChar char="•"/>
            </a:pPr>
            <a:r>
              <a:rPr>
                <a:latin typeface="Arial"/>
                <a:ea typeface="Arial"/>
                <a:cs typeface="Arial"/>
              </a:rPr>
              <a:t>Visual Studio Code, Composer, Git</a:t>
            </a:r>
          </a:p>
        </p:txBody>
      </p:sp>
      <p:sp>
        <p:nvSpPr>
          <p:cNvPr id="13" name="TextBox 12">
            <a:extLst>
              <a:ext uri="{FF2B5EF4-FFF2-40B4-BE49-F238E27FC236}">
                <a16:creationId xmlns:a16="http://schemas.microsoft.com/office/drawing/2014/main" id="{919AB6EE-EF67-324E-7863-03C683079C6C}"/>
              </a:ext>
            </a:extLst>
          </p:cNvPr>
          <p:cNvSpPr>
            <a:spLocks noGrp="1"/>
          </p:cNvSpPr>
          <p:nvPr/>
        </p:nvSpPr>
        <p:spPr>
          <a:xfrm>
            <a:off x="357759" y="4614595"/>
            <a:ext cx="6094476" cy="646331"/>
          </a:xfrm>
          <a:prstGeom prst="rect">
            <a:avLst/>
          </a:prstGeom>
          <a:noFill/>
        </p:spPr>
        <p:txBody>
          <a:bodyPr wrap="square">
            <a:spAutoFit/>
          </a:bodyPr>
          <a:lstStyle/>
          <a:p>
            <a:pPr>
              <a:buNone/>
            </a:pPr>
            <a:r>
              <a:rPr b="1">
                <a:latin typeface="Arial"/>
                <a:ea typeface="Arial"/>
                <a:cs typeface="Arial"/>
              </a:rPr>
              <a:t>Database</a:t>
            </a:r>
            <a:endParaRPr>
              <a:latin typeface="Arial"/>
              <a:ea typeface="Arial"/>
              <a:cs typeface="Arial"/>
            </a:endParaRPr>
          </a:p>
          <a:p>
            <a:pPr marL="285750" indent="-285750">
              <a:buFont typeface="Arial"/>
              <a:buChar char="•"/>
            </a:pPr>
            <a:r>
              <a:rPr>
                <a:latin typeface="Arial"/>
                <a:ea typeface="Arial"/>
                <a:cs typeface="Arial"/>
              </a:rPr>
              <a:t>MySQL </a:t>
            </a:r>
          </a:p>
        </p:txBody>
      </p:sp>
      <p:pic>
        <p:nvPicPr>
          <p:cNvPr id="20" name="Picture 19"/>
          <p:cNvPicPr>
            <a:picLocks noChangeAspect="1"/>
          </p:cNvPicPr>
          <p:nvPr/>
        </p:nvPicPr>
        <p:blipFill>
          <a:blip r:embed="rId3"/>
          <a:srcRect l="5218" t="6904" r="9957" b="5154"/>
          <a:stretch>
            <a:fillRect/>
          </a:stretch>
        </p:blipFill>
        <p:spPr>
          <a:xfrm>
            <a:off x="5422391" y="977137"/>
            <a:ext cx="4697730" cy="5113889"/>
          </a:xfrm>
          <a:prstGeom prst="rect">
            <a:avLst/>
          </a:prstGeom>
        </p:spPr>
      </p:pic>
      <p:sp>
        <p:nvSpPr>
          <p:cNvPr id="3" name="Rectangle 2">
            <a:extLst>
              <a:ext uri="{FF2B5EF4-FFF2-40B4-BE49-F238E27FC236}">
                <a16:creationId xmlns:a16="http://schemas.microsoft.com/office/drawing/2014/main" id="{916AEA4E-3928-E717-C59F-1DBB2BFE1E32}"/>
              </a:ext>
            </a:extLst>
          </p:cNvPr>
          <p:cNvSpPr>
            <a:spLocks noGrp="1"/>
          </p:cNvSpPr>
          <p:nvPr/>
        </p:nvSpPr>
        <p:spPr>
          <a:xfrm>
            <a:off x="514350" y="6419850"/>
            <a:ext cx="11096625" cy="9525"/>
          </a:xfrm>
          <a:prstGeom prst="rect">
            <a:avLst/>
          </a:prstGeom>
          <a:solidFill>
            <a:srgbClr val="C9D2D8"/>
          </a:solidFill>
          <a:ln w="0">
            <a:noFill/>
            <a:prstDash val="solid"/>
          </a:ln>
        </p:spPr>
        <p:txBody>
          <a:bodyPr/>
          <a:lstStyle/>
          <a:p>
            <a:endParaRPr lang="en-US"/>
          </a:p>
        </p:txBody>
      </p:sp>
      <p:sp>
        <p:nvSpPr>
          <p:cNvPr id="5" name="Rectangle 4">
            <a:extLst>
              <a:ext uri="{FF2B5EF4-FFF2-40B4-BE49-F238E27FC236}">
                <a16:creationId xmlns:a16="http://schemas.microsoft.com/office/drawing/2014/main" id="{E08AAAA4-9D79-9D7F-CA61-78EB5ED0D781}"/>
              </a:ext>
            </a:extLst>
          </p:cNvPr>
          <p:cNvSpPr>
            <a:spLocks noGrp="1"/>
          </p:cNvSpPr>
          <p:nvPr/>
        </p:nvSpPr>
        <p:spPr>
          <a:xfrm>
            <a:off x="514350" y="6505575"/>
            <a:ext cx="3333750" cy="209550"/>
          </a:xfrm>
          <a:prstGeom prst="rect">
            <a:avLst/>
          </a:prstGeom>
          <a:noFill/>
          <a:ln w="0">
            <a:noFill/>
            <a:prstDash val="solid"/>
          </a:ln>
        </p:spPr>
        <p:txBody>
          <a:bodyPr anchor="ctr">
            <a:normAutofit fontScale="93939" lnSpcReduction="10000"/>
          </a:bodyPr>
          <a:lstStyle/>
          <a:p>
            <a:pPr algn="l">
              <a:defRPr sz="825" b="0">
                <a:solidFill>
                  <a:srgbClr val="5F6B76"/>
                </a:solidFill>
                <a:latin typeface="Arial"/>
                <a:ea typeface="Arial"/>
                <a:cs typeface="Arial"/>
              </a:defRPr>
            </a:pPr>
            <a:r>
              <a:rPr sz="825" b="0" dirty="0" err="1">
                <a:solidFill>
                  <a:srgbClr val="5F6B76"/>
                </a:solidFill>
                <a:latin typeface="Arial"/>
                <a:ea typeface="Arial"/>
                <a:cs typeface="Arial"/>
              </a:rPr>
              <a:t>BizTrack</a:t>
            </a:r>
            <a:r>
              <a:rPr sz="825" b="0" dirty="0">
                <a:solidFill>
                  <a:srgbClr val="5F6B76"/>
                </a:solidFill>
                <a:latin typeface="Arial"/>
                <a:ea typeface="Arial"/>
                <a:cs typeface="Arial"/>
              </a:rPr>
              <a:t> • </a:t>
            </a:r>
            <a:r>
              <a:rPr lang="en-US" sz="825" b="0" dirty="0">
                <a:solidFill>
                  <a:srgbClr val="5F6B76"/>
                </a:solidFill>
                <a:latin typeface="Arial"/>
                <a:ea typeface="Arial"/>
                <a:cs typeface="Arial"/>
              </a:rPr>
              <a:t>A Complete Business Accounting Management System</a:t>
            </a:r>
            <a:endParaRPr sz="825" b="0" dirty="0">
              <a:solidFill>
                <a:srgbClr val="5F6B76"/>
              </a:solidFill>
              <a:latin typeface="Arial"/>
              <a:ea typeface="Arial"/>
              <a:cs typeface="Arial"/>
            </a:endParaRPr>
          </a:p>
        </p:txBody>
      </p:sp>
      <p:sp>
        <p:nvSpPr>
          <p:cNvPr id="10" name="Rectangle 9">
            <a:extLst>
              <a:ext uri="{FF2B5EF4-FFF2-40B4-BE49-F238E27FC236}">
                <a16:creationId xmlns:a16="http://schemas.microsoft.com/office/drawing/2014/main" id="{3FADFD9D-CEBC-8182-0542-D2418A23A8C4}"/>
              </a:ext>
            </a:extLst>
          </p:cNvPr>
          <p:cNvSpPr>
            <a:spLocks noGrp="1"/>
          </p:cNvSpPr>
          <p:nvPr/>
        </p:nvSpPr>
        <p:spPr>
          <a:xfrm>
            <a:off x="11049000" y="6505575"/>
            <a:ext cx="552450" cy="209550"/>
          </a:xfrm>
          <a:prstGeom prst="rect">
            <a:avLst/>
          </a:prstGeom>
          <a:noFill/>
          <a:ln w="0">
            <a:noFill/>
            <a:prstDash val="solid"/>
          </a:ln>
        </p:spPr>
        <p:txBody>
          <a:bodyPr anchor="ctr">
            <a:normAutofit fontScale="93939" lnSpcReduction="10000"/>
          </a:bodyPr>
          <a:lstStyle/>
          <a:p>
            <a:pPr algn="r">
              <a:defRPr sz="825" b="1">
                <a:solidFill>
                  <a:srgbClr val="5F6B76"/>
                </a:solidFill>
                <a:latin typeface="Arial"/>
                <a:ea typeface="Arial"/>
                <a:cs typeface="Arial"/>
              </a:defRPr>
            </a:pPr>
            <a:r>
              <a:rPr lang="en-US" sz="825" b="1" dirty="0">
                <a:solidFill>
                  <a:srgbClr val="5F6B76"/>
                </a:solidFill>
                <a:latin typeface="Arial"/>
                <a:ea typeface="Arial"/>
                <a:cs typeface="Arial"/>
              </a:rPr>
              <a:t>07</a:t>
            </a:r>
            <a:endParaRPr sz="825" b="1" dirty="0">
              <a:solidFill>
                <a:srgbClr val="5F6B76"/>
              </a:solidFill>
              <a:latin typeface="Arial"/>
              <a:ea typeface="Arial"/>
              <a:cs typeface="Arial"/>
            </a:endParaRPr>
          </a:p>
        </p:txBody>
      </p:sp>
    </p:spTree>
    <p:extLst>
      <p:ext uri="{BB962C8B-B14F-4D97-AF65-F5344CB8AC3E}">
        <p14:creationId xmlns:p14="http://schemas.microsoft.com/office/powerpoint/2010/main" val="1475054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36618A9-4DDF-41E9-2C2F-9709967DBAB5}"/>
              </a:ext>
            </a:extLst>
          </p:cNvPr>
          <p:cNvSpPr>
            <a:spLocks noGrp="1"/>
          </p:cNvSpPr>
          <p:nvPr/>
        </p:nvSpPr>
        <p:spPr>
          <a:xfrm>
            <a:off x="578358" y="245102"/>
            <a:ext cx="6094476" cy="461665"/>
          </a:xfrm>
          <a:prstGeom prst="rect">
            <a:avLst/>
          </a:prstGeom>
          <a:noFill/>
        </p:spPr>
        <p:txBody>
          <a:bodyPr wrap="square">
            <a:spAutoFit/>
          </a:bodyPr>
          <a:lstStyle/>
          <a:p>
            <a:r>
              <a:rPr sz="2400" b="1">
                <a:latin typeface="Arial"/>
                <a:ea typeface="Arial"/>
                <a:cs typeface="Arial"/>
              </a:rPr>
              <a:t>System Architecture</a:t>
            </a:r>
          </a:p>
        </p:txBody>
      </p:sp>
      <p:sp>
        <p:nvSpPr>
          <p:cNvPr id="5" name="Rectangle 4">
            <a:extLst>
              <a:ext uri="{FF2B5EF4-FFF2-40B4-BE49-F238E27FC236}">
                <a16:creationId xmlns:a16="http://schemas.microsoft.com/office/drawing/2014/main" id="{4316AA7B-A2CC-D2BE-C177-AEE44D0A6E77}"/>
              </a:ext>
            </a:extLst>
          </p:cNvPr>
          <p:cNvSpPr>
            <a:spLocks noGrp="1"/>
          </p:cNvSpPr>
          <p:nvPr/>
        </p:nvSpPr>
        <p:spPr>
          <a:xfrm>
            <a:off x="667512" y="706767"/>
            <a:ext cx="1307592" cy="7961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9" name="Picture 8"/>
          <p:cNvPicPr>
            <a:picLocks noChangeAspect="1"/>
          </p:cNvPicPr>
          <p:nvPr/>
        </p:nvPicPr>
        <p:blipFill>
          <a:blip r:embed="rId3"/>
          <a:srcRect l="11408" t="4085" r="11001" b="3471"/>
          <a:stretch>
            <a:fillRect/>
          </a:stretch>
        </p:blipFill>
        <p:spPr>
          <a:xfrm>
            <a:off x="4178808" y="321559"/>
            <a:ext cx="5477517" cy="5874049"/>
          </a:xfrm>
          <a:prstGeom prst="rect">
            <a:avLst/>
          </a:prstGeom>
        </p:spPr>
      </p:pic>
      <p:sp>
        <p:nvSpPr>
          <p:cNvPr id="3" name="Rectangle 2">
            <a:extLst>
              <a:ext uri="{FF2B5EF4-FFF2-40B4-BE49-F238E27FC236}">
                <a16:creationId xmlns:a16="http://schemas.microsoft.com/office/drawing/2014/main" id="{C167D99D-E78B-0A1D-18B9-C5445C7B3B77}"/>
              </a:ext>
            </a:extLst>
          </p:cNvPr>
          <p:cNvSpPr>
            <a:spLocks noGrp="1"/>
          </p:cNvSpPr>
          <p:nvPr/>
        </p:nvSpPr>
        <p:spPr>
          <a:xfrm>
            <a:off x="514350" y="6419850"/>
            <a:ext cx="11096625" cy="9525"/>
          </a:xfrm>
          <a:prstGeom prst="rect">
            <a:avLst/>
          </a:prstGeom>
          <a:solidFill>
            <a:srgbClr val="C9D2D8"/>
          </a:solidFill>
          <a:ln w="0">
            <a:noFill/>
            <a:prstDash val="solid"/>
          </a:ln>
        </p:spPr>
        <p:txBody>
          <a:bodyPr/>
          <a:lstStyle/>
          <a:p>
            <a:endParaRPr lang="en-US"/>
          </a:p>
        </p:txBody>
      </p:sp>
      <p:sp>
        <p:nvSpPr>
          <p:cNvPr id="7" name="Rectangle 6">
            <a:extLst>
              <a:ext uri="{FF2B5EF4-FFF2-40B4-BE49-F238E27FC236}">
                <a16:creationId xmlns:a16="http://schemas.microsoft.com/office/drawing/2014/main" id="{F520F770-766B-80FC-7751-1EB142E1C556}"/>
              </a:ext>
            </a:extLst>
          </p:cNvPr>
          <p:cNvSpPr>
            <a:spLocks noGrp="1"/>
          </p:cNvSpPr>
          <p:nvPr/>
        </p:nvSpPr>
        <p:spPr>
          <a:xfrm>
            <a:off x="514350" y="6505575"/>
            <a:ext cx="3333750" cy="209550"/>
          </a:xfrm>
          <a:prstGeom prst="rect">
            <a:avLst/>
          </a:prstGeom>
          <a:noFill/>
          <a:ln w="0">
            <a:noFill/>
            <a:prstDash val="solid"/>
          </a:ln>
        </p:spPr>
        <p:txBody>
          <a:bodyPr anchor="ctr">
            <a:normAutofit fontScale="93939" lnSpcReduction="10000"/>
          </a:bodyPr>
          <a:lstStyle/>
          <a:p>
            <a:pPr algn="l">
              <a:defRPr sz="825" b="0">
                <a:solidFill>
                  <a:srgbClr val="5F6B76"/>
                </a:solidFill>
                <a:latin typeface="Arial"/>
                <a:ea typeface="Arial"/>
                <a:cs typeface="Arial"/>
              </a:defRPr>
            </a:pPr>
            <a:r>
              <a:rPr sz="825" b="0" dirty="0" err="1">
                <a:solidFill>
                  <a:srgbClr val="5F6B76"/>
                </a:solidFill>
                <a:latin typeface="Arial"/>
                <a:ea typeface="Arial"/>
                <a:cs typeface="Arial"/>
              </a:rPr>
              <a:t>BizTrack</a:t>
            </a:r>
            <a:r>
              <a:rPr sz="825" b="0" dirty="0">
                <a:solidFill>
                  <a:srgbClr val="5F6B76"/>
                </a:solidFill>
                <a:latin typeface="Arial"/>
                <a:ea typeface="Arial"/>
                <a:cs typeface="Arial"/>
              </a:rPr>
              <a:t> • </a:t>
            </a:r>
            <a:r>
              <a:rPr lang="en-US" sz="825" b="0" dirty="0">
                <a:solidFill>
                  <a:srgbClr val="5F6B76"/>
                </a:solidFill>
                <a:latin typeface="Arial"/>
                <a:ea typeface="Arial"/>
                <a:cs typeface="Arial"/>
              </a:rPr>
              <a:t>A Complete Business Accounting Management System</a:t>
            </a:r>
            <a:endParaRPr sz="825" b="0" dirty="0">
              <a:solidFill>
                <a:srgbClr val="5F6B76"/>
              </a:solidFill>
              <a:latin typeface="Arial"/>
              <a:ea typeface="Arial"/>
              <a:cs typeface="Arial"/>
            </a:endParaRPr>
          </a:p>
        </p:txBody>
      </p:sp>
      <p:sp>
        <p:nvSpPr>
          <p:cNvPr id="10" name="Rectangle 9">
            <a:extLst>
              <a:ext uri="{FF2B5EF4-FFF2-40B4-BE49-F238E27FC236}">
                <a16:creationId xmlns:a16="http://schemas.microsoft.com/office/drawing/2014/main" id="{395643A0-D6CE-5E2A-3C86-A5E36D3BEC59}"/>
              </a:ext>
            </a:extLst>
          </p:cNvPr>
          <p:cNvSpPr>
            <a:spLocks noGrp="1"/>
          </p:cNvSpPr>
          <p:nvPr/>
        </p:nvSpPr>
        <p:spPr>
          <a:xfrm>
            <a:off x="11049000" y="6505575"/>
            <a:ext cx="552450" cy="209550"/>
          </a:xfrm>
          <a:prstGeom prst="rect">
            <a:avLst/>
          </a:prstGeom>
          <a:noFill/>
          <a:ln w="0">
            <a:noFill/>
            <a:prstDash val="solid"/>
          </a:ln>
        </p:spPr>
        <p:txBody>
          <a:bodyPr anchor="ctr">
            <a:normAutofit fontScale="93939" lnSpcReduction="10000"/>
          </a:bodyPr>
          <a:lstStyle/>
          <a:p>
            <a:pPr algn="r">
              <a:defRPr sz="825" b="1">
                <a:solidFill>
                  <a:srgbClr val="5F6B76"/>
                </a:solidFill>
                <a:latin typeface="Arial"/>
                <a:ea typeface="Arial"/>
                <a:cs typeface="Arial"/>
              </a:defRPr>
            </a:pPr>
            <a:r>
              <a:rPr lang="en-US" sz="825" b="1" dirty="0">
                <a:solidFill>
                  <a:srgbClr val="5F6B76"/>
                </a:solidFill>
                <a:latin typeface="Arial"/>
                <a:ea typeface="Arial"/>
                <a:cs typeface="Arial"/>
              </a:rPr>
              <a:t>08</a:t>
            </a:r>
            <a:endParaRPr sz="825" b="1" dirty="0">
              <a:solidFill>
                <a:srgbClr val="5F6B76"/>
              </a:solidFill>
              <a:latin typeface="Arial"/>
              <a:ea typeface="Arial"/>
              <a:cs typeface="Arial"/>
            </a:endParaRPr>
          </a:p>
        </p:txBody>
      </p:sp>
    </p:spTree>
    <p:extLst>
      <p:ext uri="{BB962C8B-B14F-4D97-AF65-F5344CB8AC3E}">
        <p14:creationId xmlns:p14="http://schemas.microsoft.com/office/powerpoint/2010/main" val="1185121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CB6434-9975-D4D2-878B-4DB276214C59}"/>
              </a:ext>
            </a:extLst>
          </p:cNvPr>
          <p:cNvSpPr>
            <a:spLocks noGrp="1"/>
          </p:cNvSpPr>
          <p:nvPr/>
        </p:nvSpPr>
        <p:spPr>
          <a:xfrm>
            <a:off x="511738" y="1168432"/>
            <a:ext cx="6094476" cy="4970591"/>
          </a:xfrm>
          <a:prstGeom prst="rect">
            <a:avLst/>
          </a:prstGeom>
          <a:noFill/>
        </p:spPr>
        <p:txBody>
          <a:bodyPr wrap="square">
            <a:spAutoFit/>
          </a:bodyPr>
          <a:lstStyle/>
          <a:p>
            <a:pPr marL="285750" indent="-285750">
              <a:spcBef>
                <a:spcPts val="600"/>
              </a:spcBef>
              <a:buFont typeface="Wingdings"/>
              <a:buChar char="§"/>
            </a:pPr>
            <a:r>
              <a:rPr>
                <a:latin typeface="Arial"/>
                <a:ea typeface="Arial"/>
                <a:cs typeface="Arial"/>
              </a:rPr>
              <a:t>Dashboard and access</a:t>
            </a:r>
          </a:p>
          <a:p>
            <a:pPr marL="285750" indent="-285750">
              <a:spcBef>
                <a:spcPts val="600"/>
              </a:spcBef>
              <a:buFont typeface="Wingdings"/>
              <a:buChar char="§"/>
            </a:pPr>
            <a:r>
              <a:rPr>
                <a:latin typeface="Arial"/>
                <a:ea typeface="Arial"/>
                <a:cs typeface="Arial"/>
              </a:rPr>
              <a:t>Products, purchase and sales</a:t>
            </a:r>
          </a:p>
          <a:p>
            <a:pPr marL="285750" indent="-285750">
              <a:spcBef>
                <a:spcPts val="600"/>
              </a:spcBef>
              <a:buFont typeface="Wingdings"/>
              <a:buChar char="§"/>
            </a:pPr>
            <a:r>
              <a:rPr>
                <a:latin typeface="Arial"/>
                <a:ea typeface="Arial"/>
                <a:cs typeface="Arial"/>
              </a:rPr>
              <a:t>Stock and manufacturing</a:t>
            </a:r>
          </a:p>
          <a:p>
            <a:pPr marL="285750" indent="-285750">
              <a:spcBef>
                <a:spcPts val="600"/>
              </a:spcBef>
              <a:buFont typeface="Wingdings"/>
              <a:buChar char="§"/>
            </a:pPr>
            <a:r>
              <a:rPr>
                <a:latin typeface="Arial"/>
                <a:ea typeface="Arial"/>
                <a:cs typeface="Arial"/>
              </a:rPr>
              <a:t>Customers and suppliers</a:t>
            </a:r>
          </a:p>
          <a:p>
            <a:pPr marL="285750" indent="-285750">
              <a:spcBef>
                <a:spcPts val="600"/>
              </a:spcBef>
              <a:buFont typeface="Wingdings"/>
              <a:buChar char="§"/>
            </a:pPr>
            <a:r>
              <a:rPr>
                <a:latin typeface="Arial"/>
                <a:ea typeface="Arial"/>
                <a:cs typeface="Arial"/>
              </a:rPr>
              <a:t>Journals and ledgers</a:t>
            </a:r>
          </a:p>
          <a:p>
            <a:pPr marL="285750" indent="-285750">
              <a:spcBef>
                <a:spcPts val="600"/>
              </a:spcBef>
              <a:buFont typeface="Wingdings"/>
              <a:buChar char="§"/>
            </a:pPr>
            <a:r>
              <a:rPr>
                <a:latin typeface="Arial"/>
                <a:ea typeface="Arial"/>
                <a:cs typeface="Arial"/>
              </a:rPr>
              <a:t>Trial balance and reports</a:t>
            </a:r>
          </a:p>
        </p:txBody>
      </p:sp>
      <p:sp>
        <p:nvSpPr>
          <p:cNvPr id="4" name="TextBox 3">
            <a:extLst>
              <a:ext uri="{FF2B5EF4-FFF2-40B4-BE49-F238E27FC236}">
                <a16:creationId xmlns:a16="http://schemas.microsoft.com/office/drawing/2014/main" id="{2C96A386-3FC8-0494-6232-D37F67973E8E}"/>
              </a:ext>
            </a:extLst>
          </p:cNvPr>
          <p:cNvSpPr>
            <a:spLocks noGrp="1"/>
          </p:cNvSpPr>
          <p:nvPr/>
        </p:nvSpPr>
        <p:spPr>
          <a:xfrm>
            <a:off x="578358" y="245102"/>
            <a:ext cx="6094476" cy="461665"/>
          </a:xfrm>
          <a:prstGeom prst="rect">
            <a:avLst/>
          </a:prstGeom>
          <a:noFill/>
        </p:spPr>
        <p:txBody>
          <a:bodyPr wrap="square">
            <a:spAutoFit/>
          </a:bodyPr>
          <a:lstStyle/>
          <a:p>
            <a:r>
              <a:rPr sz="2400" b="1">
                <a:latin typeface="Arial"/>
                <a:ea typeface="Arial"/>
                <a:cs typeface="Arial"/>
              </a:rPr>
              <a:t>Core Modules and Their Connection</a:t>
            </a:r>
          </a:p>
        </p:txBody>
      </p:sp>
      <p:sp>
        <p:nvSpPr>
          <p:cNvPr id="5" name="Rectangle 4">
            <a:extLst>
              <a:ext uri="{FF2B5EF4-FFF2-40B4-BE49-F238E27FC236}">
                <a16:creationId xmlns:a16="http://schemas.microsoft.com/office/drawing/2014/main" id="{7280585A-6835-02D9-5F04-1CEAE1D31FE1}"/>
              </a:ext>
            </a:extLst>
          </p:cNvPr>
          <p:cNvSpPr>
            <a:spLocks noGrp="1"/>
          </p:cNvSpPr>
          <p:nvPr/>
        </p:nvSpPr>
        <p:spPr>
          <a:xfrm>
            <a:off x="667512" y="706767"/>
            <a:ext cx="1307592" cy="7961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0" name="Picture 9"/>
          <p:cNvPicPr>
            <a:picLocks noChangeAspect="1"/>
          </p:cNvPicPr>
          <p:nvPr/>
        </p:nvPicPr>
        <p:blipFill>
          <a:blip r:embed="rId3"/>
          <a:srcRect l="6025" t="3173" r="5812" b="11602"/>
          <a:stretch>
            <a:fillRect/>
          </a:stretch>
        </p:blipFill>
        <p:spPr>
          <a:xfrm>
            <a:off x="4032502" y="618840"/>
            <a:ext cx="7491985" cy="5864256"/>
          </a:xfrm>
          <a:prstGeom prst="rect">
            <a:avLst/>
          </a:prstGeom>
        </p:spPr>
      </p:pic>
      <p:sp>
        <p:nvSpPr>
          <p:cNvPr id="6" name="Rectangle 5">
            <a:extLst>
              <a:ext uri="{FF2B5EF4-FFF2-40B4-BE49-F238E27FC236}">
                <a16:creationId xmlns:a16="http://schemas.microsoft.com/office/drawing/2014/main" id="{D1565D97-3FCC-37B4-79C9-B7C0C3E178CA}"/>
              </a:ext>
            </a:extLst>
          </p:cNvPr>
          <p:cNvSpPr>
            <a:spLocks noGrp="1"/>
          </p:cNvSpPr>
          <p:nvPr/>
        </p:nvSpPr>
        <p:spPr>
          <a:xfrm>
            <a:off x="514350" y="6419850"/>
            <a:ext cx="11096625" cy="9525"/>
          </a:xfrm>
          <a:prstGeom prst="rect">
            <a:avLst/>
          </a:prstGeom>
          <a:solidFill>
            <a:srgbClr val="C9D2D8"/>
          </a:solidFill>
          <a:ln w="0">
            <a:noFill/>
            <a:prstDash val="solid"/>
          </a:ln>
        </p:spPr>
        <p:txBody>
          <a:bodyPr/>
          <a:lstStyle/>
          <a:p>
            <a:endParaRPr lang="en-US"/>
          </a:p>
        </p:txBody>
      </p:sp>
      <p:sp>
        <p:nvSpPr>
          <p:cNvPr id="8" name="Rectangle 7">
            <a:extLst>
              <a:ext uri="{FF2B5EF4-FFF2-40B4-BE49-F238E27FC236}">
                <a16:creationId xmlns:a16="http://schemas.microsoft.com/office/drawing/2014/main" id="{A0D7F566-30DE-4104-7AE0-4BE67D8BA250}"/>
              </a:ext>
            </a:extLst>
          </p:cNvPr>
          <p:cNvSpPr>
            <a:spLocks noGrp="1"/>
          </p:cNvSpPr>
          <p:nvPr/>
        </p:nvSpPr>
        <p:spPr>
          <a:xfrm>
            <a:off x="514350" y="6505575"/>
            <a:ext cx="3333750" cy="209550"/>
          </a:xfrm>
          <a:prstGeom prst="rect">
            <a:avLst/>
          </a:prstGeom>
          <a:noFill/>
          <a:ln w="0">
            <a:noFill/>
            <a:prstDash val="solid"/>
          </a:ln>
        </p:spPr>
        <p:txBody>
          <a:bodyPr anchor="ctr">
            <a:normAutofit fontScale="93939" lnSpcReduction="10000"/>
          </a:bodyPr>
          <a:lstStyle/>
          <a:p>
            <a:pPr algn="l">
              <a:defRPr sz="825" b="0">
                <a:solidFill>
                  <a:srgbClr val="5F6B76"/>
                </a:solidFill>
                <a:latin typeface="Arial"/>
                <a:ea typeface="Arial"/>
                <a:cs typeface="Arial"/>
              </a:defRPr>
            </a:pPr>
            <a:r>
              <a:rPr sz="825" b="0" dirty="0" err="1">
                <a:solidFill>
                  <a:srgbClr val="5F6B76"/>
                </a:solidFill>
                <a:latin typeface="Arial"/>
                <a:ea typeface="Arial"/>
                <a:cs typeface="Arial"/>
              </a:rPr>
              <a:t>BizTrack</a:t>
            </a:r>
            <a:r>
              <a:rPr sz="825" b="0" dirty="0">
                <a:solidFill>
                  <a:srgbClr val="5F6B76"/>
                </a:solidFill>
                <a:latin typeface="Arial"/>
                <a:ea typeface="Arial"/>
                <a:cs typeface="Arial"/>
              </a:rPr>
              <a:t> • </a:t>
            </a:r>
            <a:r>
              <a:rPr lang="en-US" sz="825" b="0" dirty="0">
                <a:solidFill>
                  <a:srgbClr val="5F6B76"/>
                </a:solidFill>
                <a:latin typeface="Arial"/>
                <a:ea typeface="Arial"/>
                <a:cs typeface="Arial"/>
              </a:rPr>
              <a:t>A Complete Business Accounting Management System</a:t>
            </a:r>
            <a:endParaRPr sz="825" b="0" dirty="0">
              <a:solidFill>
                <a:srgbClr val="5F6B76"/>
              </a:solidFill>
              <a:latin typeface="Arial"/>
              <a:ea typeface="Arial"/>
              <a:cs typeface="Arial"/>
            </a:endParaRPr>
          </a:p>
        </p:txBody>
      </p:sp>
      <p:sp>
        <p:nvSpPr>
          <p:cNvPr id="11" name="Rectangle 10">
            <a:extLst>
              <a:ext uri="{FF2B5EF4-FFF2-40B4-BE49-F238E27FC236}">
                <a16:creationId xmlns:a16="http://schemas.microsoft.com/office/drawing/2014/main" id="{A121057A-052F-9947-2CC9-D64B0EF1B69E}"/>
              </a:ext>
            </a:extLst>
          </p:cNvPr>
          <p:cNvSpPr>
            <a:spLocks noGrp="1"/>
          </p:cNvSpPr>
          <p:nvPr/>
        </p:nvSpPr>
        <p:spPr>
          <a:xfrm>
            <a:off x="11049000" y="6505575"/>
            <a:ext cx="552450" cy="209550"/>
          </a:xfrm>
          <a:prstGeom prst="rect">
            <a:avLst/>
          </a:prstGeom>
          <a:noFill/>
          <a:ln w="0">
            <a:noFill/>
            <a:prstDash val="solid"/>
          </a:ln>
        </p:spPr>
        <p:txBody>
          <a:bodyPr anchor="ctr">
            <a:normAutofit fontScale="93939" lnSpcReduction="10000"/>
          </a:bodyPr>
          <a:lstStyle/>
          <a:p>
            <a:pPr algn="r">
              <a:defRPr sz="825" b="1">
                <a:solidFill>
                  <a:srgbClr val="5F6B76"/>
                </a:solidFill>
                <a:latin typeface="Arial"/>
                <a:ea typeface="Arial"/>
                <a:cs typeface="Arial"/>
              </a:defRPr>
            </a:pPr>
            <a:r>
              <a:rPr lang="en-US" sz="825" b="1" dirty="0">
                <a:solidFill>
                  <a:srgbClr val="5F6B76"/>
                </a:solidFill>
                <a:latin typeface="Arial"/>
                <a:ea typeface="Arial"/>
                <a:cs typeface="Arial"/>
              </a:rPr>
              <a:t>09</a:t>
            </a:r>
            <a:endParaRPr sz="825" b="1" dirty="0">
              <a:solidFill>
                <a:srgbClr val="5F6B76"/>
              </a:solidFill>
              <a:latin typeface="Arial"/>
              <a:ea typeface="Arial"/>
              <a:cs typeface="Arial"/>
            </a:endParaRPr>
          </a:p>
        </p:txBody>
      </p:sp>
    </p:spTree>
    <p:extLst>
      <p:ext uri="{BB962C8B-B14F-4D97-AF65-F5344CB8AC3E}">
        <p14:creationId xmlns:p14="http://schemas.microsoft.com/office/powerpoint/2010/main" val="3962579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7" name="Rectangle 7176">
            <a:extLst>
              <a:ext uri="{FF2B5EF4-FFF2-40B4-BE49-F238E27FC236}">
                <a16:creationId xmlns:a16="http://schemas.microsoft.com/office/drawing/2014/main" id="{FB03BF74-B11B-454D-9B34-A7B2745503AE}"/>
              </a:ext>
            </a:extLst>
          </p:cNvPr>
          <p:cNvSpPr>
            <a:spLocks noGrp="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C6B2636-2583-3766-0E35-85FA65F3E52B}"/>
              </a:ext>
            </a:extLst>
          </p:cNvPr>
          <p:cNvSpPr>
            <a:spLocks noGrp="1"/>
          </p:cNvSpPr>
          <p:nvPr/>
        </p:nvSpPr>
        <p:spPr>
          <a:xfrm>
            <a:off x="571500" y="238125"/>
            <a:ext cx="8096250" cy="457200"/>
          </a:xfrm>
          <a:prstGeom prst="rect">
            <a:avLst/>
          </a:prstGeom>
          <a:noFill/>
        </p:spPr>
        <p:txBody>
          <a:bodyPr wrap="square">
            <a:spAutoFit/>
          </a:bodyPr>
          <a:lstStyle/>
          <a:p>
            <a:r>
              <a:rPr sz="2400" b="1">
                <a:latin typeface="Arial"/>
                <a:ea typeface="Arial"/>
                <a:cs typeface="Arial"/>
              </a:rPr>
              <a:t>Transaction Flow</a:t>
            </a:r>
          </a:p>
        </p:txBody>
      </p:sp>
      <p:sp>
        <p:nvSpPr>
          <p:cNvPr id="7" name="Rectangle 6">
            <a:extLst>
              <a:ext uri="{FF2B5EF4-FFF2-40B4-BE49-F238E27FC236}">
                <a16:creationId xmlns:a16="http://schemas.microsoft.com/office/drawing/2014/main" id="{70CA1D7B-B4E4-C2FB-DD9B-6DE5C4441BEA}"/>
              </a:ext>
            </a:extLst>
          </p:cNvPr>
          <p:cNvSpPr>
            <a:spLocks noGrp="1"/>
          </p:cNvSpPr>
          <p:nvPr/>
        </p:nvSpPr>
        <p:spPr>
          <a:xfrm>
            <a:off x="667512" y="706767"/>
            <a:ext cx="1307592" cy="7961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7182" name="Picture 7182"/>
          <p:cNvPicPr>
            <a:picLocks noChangeAspect="1"/>
          </p:cNvPicPr>
          <p:nvPr/>
        </p:nvPicPr>
        <p:blipFill>
          <a:blip r:embed="rId3"/>
          <a:srcRect l="5671" t="2635" r="5344" b="12093"/>
          <a:stretch>
            <a:fillRect/>
          </a:stretch>
        </p:blipFill>
        <p:spPr>
          <a:xfrm>
            <a:off x="2642617" y="695325"/>
            <a:ext cx="7278624" cy="5391168"/>
          </a:xfrm>
          <a:prstGeom prst="rect">
            <a:avLst/>
          </a:prstGeom>
        </p:spPr>
      </p:pic>
      <p:sp>
        <p:nvSpPr>
          <p:cNvPr id="3" name="Rectangle 2">
            <a:extLst>
              <a:ext uri="{FF2B5EF4-FFF2-40B4-BE49-F238E27FC236}">
                <a16:creationId xmlns:a16="http://schemas.microsoft.com/office/drawing/2014/main" id="{1EEEEACE-B89A-09AE-A6CE-BE8A55B69798}"/>
              </a:ext>
            </a:extLst>
          </p:cNvPr>
          <p:cNvSpPr>
            <a:spLocks noGrp="1"/>
          </p:cNvSpPr>
          <p:nvPr/>
        </p:nvSpPr>
        <p:spPr>
          <a:xfrm>
            <a:off x="514350" y="6419850"/>
            <a:ext cx="11096625" cy="9525"/>
          </a:xfrm>
          <a:prstGeom prst="rect">
            <a:avLst/>
          </a:prstGeom>
          <a:solidFill>
            <a:srgbClr val="C9D2D8"/>
          </a:solidFill>
          <a:ln w="0">
            <a:noFill/>
            <a:prstDash val="solid"/>
          </a:ln>
        </p:spPr>
        <p:txBody>
          <a:bodyPr/>
          <a:lstStyle/>
          <a:p>
            <a:endParaRPr lang="en-US"/>
          </a:p>
        </p:txBody>
      </p:sp>
      <p:sp>
        <p:nvSpPr>
          <p:cNvPr id="5" name="Rectangle 4">
            <a:extLst>
              <a:ext uri="{FF2B5EF4-FFF2-40B4-BE49-F238E27FC236}">
                <a16:creationId xmlns:a16="http://schemas.microsoft.com/office/drawing/2014/main" id="{D9B69A25-3A29-2C08-3D02-596CF48C8270}"/>
              </a:ext>
            </a:extLst>
          </p:cNvPr>
          <p:cNvSpPr>
            <a:spLocks noGrp="1"/>
          </p:cNvSpPr>
          <p:nvPr/>
        </p:nvSpPr>
        <p:spPr>
          <a:xfrm>
            <a:off x="514350" y="6505575"/>
            <a:ext cx="3333750" cy="209550"/>
          </a:xfrm>
          <a:prstGeom prst="rect">
            <a:avLst/>
          </a:prstGeom>
          <a:noFill/>
          <a:ln w="0">
            <a:noFill/>
            <a:prstDash val="solid"/>
          </a:ln>
        </p:spPr>
        <p:txBody>
          <a:bodyPr anchor="ctr">
            <a:normAutofit fontScale="93939" lnSpcReduction="10000"/>
          </a:bodyPr>
          <a:lstStyle/>
          <a:p>
            <a:pPr algn="l">
              <a:defRPr sz="825" b="0">
                <a:solidFill>
                  <a:srgbClr val="5F6B76"/>
                </a:solidFill>
                <a:latin typeface="Arial"/>
                <a:ea typeface="Arial"/>
                <a:cs typeface="Arial"/>
              </a:defRPr>
            </a:pPr>
            <a:r>
              <a:rPr sz="825" b="0" dirty="0" err="1">
                <a:solidFill>
                  <a:srgbClr val="5F6B76"/>
                </a:solidFill>
                <a:latin typeface="Arial"/>
                <a:ea typeface="Arial"/>
                <a:cs typeface="Arial"/>
              </a:rPr>
              <a:t>BizTrack</a:t>
            </a:r>
            <a:r>
              <a:rPr sz="825" b="0" dirty="0">
                <a:solidFill>
                  <a:srgbClr val="5F6B76"/>
                </a:solidFill>
                <a:latin typeface="Arial"/>
                <a:ea typeface="Arial"/>
                <a:cs typeface="Arial"/>
              </a:rPr>
              <a:t> • </a:t>
            </a:r>
            <a:r>
              <a:rPr lang="en-US" sz="825" b="0" dirty="0">
                <a:solidFill>
                  <a:srgbClr val="5F6B76"/>
                </a:solidFill>
                <a:latin typeface="Arial"/>
                <a:ea typeface="Arial"/>
                <a:cs typeface="Arial"/>
              </a:rPr>
              <a:t>A Complete Business Accounting Management System</a:t>
            </a:r>
            <a:endParaRPr sz="825" b="0" dirty="0">
              <a:solidFill>
                <a:srgbClr val="5F6B76"/>
              </a:solidFill>
              <a:latin typeface="Arial"/>
              <a:ea typeface="Arial"/>
              <a:cs typeface="Arial"/>
            </a:endParaRPr>
          </a:p>
        </p:txBody>
      </p:sp>
      <p:sp>
        <p:nvSpPr>
          <p:cNvPr id="9" name="Rectangle 8">
            <a:extLst>
              <a:ext uri="{FF2B5EF4-FFF2-40B4-BE49-F238E27FC236}">
                <a16:creationId xmlns:a16="http://schemas.microsoft.com/office/drawing/2014/main" id="{2D49DD1D-A1E0-CB59-C388-78B11EA2AB4B}"/>
              </a:ext>
            </a:extLst>
          </p:cNvPr>
          <p:cNvSpPr>
            <a:spLocks noGrp="1"/>
          </p:cNvSpPr>
          <p:nvPr/>
        </p:nvSpPr>
        <p:spPr>
          <a:xfrm>
            <a:off x="11049000" y="6505575"/>
            <a:ext cx="552450" cy="209550"/>
          </a:xfrm>
          <a:prstGeom prst="rect">
            <a:avLst/>
          </a:prstGeom>
          <a:noFill/>
          <a:ln w="0">
            <a:noFill/>
            <a:prstDash val="solid"/>
          </a:ln>
        </p:spPr>
        <p:txBody>
          <a:bodyPr anchor="ctr">
            <a:normAutofit fontScale="93939" lnSpcReduction="10000"/>
          </a:bodyPr>
          <a:lstStyle/>
          <a:p>
            <a:pPr algn="r">
              <a:defRPr sz="825" b="1">
                <a:solidFill>
                  <a:srgbClr val="5F6B76"/>
                </a:solidFill>
                <a:latin typeface="Arial"/>
                <a:ea typeface="Arial"/>
                <a:cs typeface="Arial"/>
              </a:defRPr>
            </a:pPr>
            <a:r>
              <a:rPr lang="en-US" sz="825" b="1" dirty="0">
                <a:solidFill>
                  <a:srgbClr val="5F6B76"/>
                </a:solidFill>
                <a:latin typeface="Arial"/>
                <a:ea typeface="Arial"/>
                <a:cs typeface="Arial"/>
              </a:rPr>
              <a:t>10</a:t>
            </a:r>
            <a:endParaRPr sz="825" b="1" dirty="0">
              <a:solidFill>
                <a:srgbClr val="5F6B76"/>
              </a:solidFill>
              <a:latin typeface="Arial"/>
              <a:ea typeface="Arial"/>
              <a:cs typeface="Arial"/>
            </a:endParaRPr>
          </a:p>
        </p:txBody>
      </p:sp>
    </p:spTree>
    <p:extLst>
      <p:ext uri="{BB962C8B-B14F-4D97-AF65-F5344CB8AC3E}">
        <p14:creationId xmlns:p14="http://schemas.microsoft.com/office/powerpoint/2010/main" val="1031912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D5F1B73-7C34-988B-5E3E-FD7CFD594475}"/>
              </a:ext>
            </a:extLst>
          </p:cNvPr>
          <p:cNvSpPr>
            <a:spLocks noGrp="1"/>
          </p:cNvSpPr>
          <p:nvPr/>
        </p:nvSpPr>
        <p:spPr>
          <a:xfrm>
            <a:off x="578358" y="245102"/>
            <a:ext cx="8081010" cy="461665"/>
          </a:xfrm>
          <a:prstGeom prst="rect">
            <a:avLst/>
          </a:prstGeom>
          <a:noFill/>
        </p:spPr>
        <p:txBody>
          <a:bodyPr wrap="square">
            <a:spAutoFit/>
          </a:bodyPr>
          <a:lstStyle/>
          <a:p>
            <a:r>
              <a:rPr sz="2400" b="1" dirty="0">
                <a:latin typeface="Arial"/>
                <a:ea typeface="Arial"/>
                <a:cs typeface="Arial"/>
              </a:rPr>
              <a:t>Inventory and Recipe-Based Manufacturing Flow</a:t>
            </a:r>
          </a:p>
        </p:txBody>
      </p:sp>
      <p:sp>
        <p:nvSpPr>
          <p:cNvPr id="7" name="Rectangle 6">
            <a:extLst>
              <a:ext uri="{FF2B5EF4-FFF2-40B4-BE49-F238E27FC236}">
                <a16:creationId xmlns:a16="http://schemas.microsoft.com/office/drawing/2014/main" id="{6E13A9D0-F989-F28A-CB0D-B52E8EB1BDAA}"/>
              </a:ext>
            </a:extLst>
          </p:cNvPr>
          <p:cNvSpPr>
            <a:spLocks noGrp="1"/>
          </p:cNvSpPr>
          <p:nvPr/>
        </p:nvSpPr>
        <p:spPr>
          <a:xfrm>
            <a:off x="667512" y="706767"/>
            <a:ext cx="1307592" cy="7961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7182" name="Picture 7183"/>
          <p:cNvPicPr>
            <a:picLocks noChangeAspect="1"/>
          </p:cNvPicPr>
          <p:nvPr/>
        </p:nvPicPr>
        <p:blipFill>
          <a:blip r:embed="rId3"/>
          <a:srcRect l="5216" t="8862" r="4898" b="11569"/>
          <a:stretch>
            <a:fillRect/>
          </a:stretch>
        </p:blipFill>
        <p:spPr>
          <a:xfrm>
            <a:off x="5380516" y="1414676"/>
            <a:ext cx="6371050" cy="4464915"/>
          </a:xfrm>
          <a:prstGeom prst="rect">
            <a:avLst/>
          </a:prstGeom>
        </p:spPr>
      </p:pic>
      <p:sp>
        <p:nvSpPr>
          <p:cNvPr id="3" name="Rectangle: Rounded Corners 2">
            <a:extLst>
              <a:ext uri="{FF2B5EF4-FFF2-40B4-BE49-F238E27FC236}">
                <a16:creationId xmlns:a16="http://schemas.microsoft.com/office/drawing/2014/main" id="{F5777F0D-4E17-BBD8-C280-551D268D3F2A}"/>
              </a:ext>
            </a:extLst>
          </p:cNvPr>
          <p:cNvSpPr>
            <a:spLocks noGrp="1"/>
          </p:cNvSpPr>
          <p:nvPr/>
        </p:nvSpPr>
        <p:spPr>
          <a:xfrm>
            <a:off x="539877" y="1529727"/>
            <a:ext cx="1714500" cy="666750"/>
          </a:xfrm>
          <a:prstGeom prst="roundRect">
            <a:avLst>
              <a:gd name="adj" fmla="val 8571"/>
            </a:avLst>
          </a:prstGeom>
          <a:solidFill>
            <a:srgbClr val="EAF1F6"/>
          </a:solidFill>
          <a:ln w="12383">
            <a:solidFill>
              <a:srgbClr val="CBD3D8"/>
            </a:solidFill>
            <a:prstDash val="solid"/>
          </a:ln>
        </p:spPr>
        <p:txBody>
          <a:bodyPr/>
          <a:lstStyle/>
          <a:p>
            <a:endParaRPr lang="en-US"/>
          </a:p>
        </p:txBody>
      </p:sp>
      <p:sp>
        <p:nvSpPr>
          <p:cNvPr id="5" name="Rectangle 4">
            <a:extLst>
              <a:ext uri="{FF2B5EF4-FFF2-40B4-BE49-F238E27FC236}">
                <a16:creationId xmlns:a16="http://schemas.microsoft.com/office/drawing/2014/main" id="{0AB8D344-620B-EC4D-571B-CFDEAE892448}"/>
              </a:ext>
            </a:extLst>
          </p:cNvPr>
          <p:cNvSpPr>
            <a:spLocks noGrp="1"/>
          </p:cNvSpPr>
          <p:nvPr/>
        </p:nvSpPr>
        <p:spPr>
          <a:xfrm>
            <a:off x="616077" y="1577352"/>
            <a:ext cx="1562100" cy="571500"/>
          </a:xfrm>
          <a:prstGeom prst="rect">
            <a:avLst/>
          </a:prstGeom>
          <a:noFill/>
          <a:ln w="0">
            <a:noFill/>
            <a:prstDash val="solid"/>
          </a:ln>
        </p:spPr>
        <p:txBody>
          <a:bodyPr anchor="ctr">
            <a:normAutofit/>
          </a:bodyPr>
          <a:lstStyle/>
          <a:p>
            <a:pPr algn="ctr">
              <a:defRPr sz="1125" b="1">
                <a:solidFill>
                  <a:srgbClr val="173D56"/>
                </a:solidFill>
                <a:latin typeface="Arial"/>
                <a:ea typeface="Arial"/>
                <a:cs typeface="Arial"/>
              </a:defRPr>
            </a:pPr>
            <a:r>
              <a:rPr sz="1125" b="1">
                <a:solidFill>
                  <a:srgbClr val="173D56"/>
                </a:solidFill>
                <a:latin typeface="Arial"/>
                <a:ea typeface="Arial"/>
                <a:cs typeface="Arial"/>
              </a:rPr>
              <a:t>MATERIAL A</a:t>
            </a:r>
          </a:p>
          <a:p>
            <a:pPr algn="ctr">
              <a:defRPr sz="1125" b="1">
                <a:solidFill>
                  <a:srgbClr val="173D56"/>
                </a:solidFill>
                <a:latin typeface="Arial"/>
                <a:ea typeface="Arial"/>
                <a:cs typeface="Arial"/>
              </a:defRPr>
            </a:pPr>
            <a:r>
              <a:rPr sz="1125" b="1">
                <a:solidFill>
                  <a:srgbClr val="173D56"/>
                </a:solidFill>
                <a:latin typeface="Arial"/>
                <a:ea typeface="Arial"/>
                <a:cs typeface="Arial"/>
              </a:rPr>
              <a:t>2 units</a:t>
            </a:r>
          </a:p>
        </p:txBody>
      </p:sp>
      <p:sp>
        <p:nvSpPr>
          <p:cNvPr id="9" name="Rectangle: Rounded Corners 8">
            <a:extLst>
              <a:ext uri="{FF2B5EF4-FFF2-40B4-BE49-F238E27FC236}">
                <a16:creationId xmlns:a16="http://schemas.microsoft.com/office/drawing/2014/main" id="{535F35F5-AAE9-A9F4-999C-E16CDD9CA400}"/>
              </a:ext>
            </a:extLst>
          </p:cNvPr>
          <p:cNvSpPr>
            <a:spLocks noGrp="1"/>
          </p:cNvSpPr>
          <p:nvPr/>
        </p:nvSpPr>
        <p:spPr>
          <a:xfrm>
            <a:off x="2692146" y="1529727"/>
            <a:ext cx="1714500" cy="666750"/>
          </a:xfrm>
          <a:prstGeom prst="roundRect">
            <a:avLst>
              <a:gd name="adj" fmla="val 8571"/>
            </a:avLst>
          </a:prstGeom>
          <a:solidFill>
            <a:srgbClr val="EAF1F6"/>
          </a:solidFill>
          <a:ln w="12383">
            <a:solidFill>
              <a:srgbClr val="CBD3D8"/>
            </a:solidFill>
            <a:prstDash val="solid"/>
          </a:ln>
        </p:spPr>
        <p:txBody>
          <a:bodyPr/>
          <a:lstStyle/>
          <a:p>
            <a:endParaRPr lang="en-US"/>
          </a:p>
        </p:txBody>
      </p:sp>
      <p:sp>
        <p:nvSpPr>
          <p:cNvPr id="11" name="Rectangle 10">
            <a:extLst>
              <a:ext uri="{FF2B5EF4-FFF2-40B4-BE49-F238E27FC236}">
                <a16:creationId xmlns:a16="http://schemas.microsoft.com/office/drawing/2014/main" id="{182F1391-FBEB-2742-4F4F-5CE2736B84A0}"/>
              </a:ext>
            </a:extLst>
          </p:cNvPr>
          <p:cNvSpPr>
            <a:spLocks noGrp="1"/>
          </p:cNvSpPr>
          <p:nvPr/>
        </p:nvSpPr>
        <p:spPr>
          <a:xfrm>
            <a:off x="2768346" y="1577352"/>
            <a:ext cx="1562100" cy="571500"/>
          </a:xfrm>
          <a:prstGeom prst="rect">
            <a:avLst/>
          </a:prstGeom>
          <a:noFill/>
          <a:ln w="0">
            <a:noFill/>
            <a:prstDash val="solid"/>
          </a:ln>
        </p:spPr>
        <p:txBody>
          <a:bodyPr anchor="ctr">
            <a:normAutofit/>
          </a:bodyPr>
          <a:lstStyle/>
          <a:p>
            <a:pPr algn="ctr">
              <a:defRPr sz="1125" b="1">
                <a:solidFill>
                  <a:srgbClr val="173D56"/>
                </a:solidFill>
                <a:latin typeface="Arial"/>
                <a:ea typeface="Arial"/>
                <a:cs typeface="Arial"/>
              </a:defRPr>
            </a:pPr>
            <a:r>
              <a:rPr sz="1125" b="1">
                <a:solidFill>
                  <a:srgbClr val="173D56"/>
                </a:solidFill>
                <a:latin typeface="Arial"/>
                <a:ea typeface="Arial"/>
                <a:cs typeface="Arial"/>
              </a:rPr>
              <a:t>MATERIAL B</a:t>
            </a:r>
          </a:p>
          <a:p>
            <a:pPr algn="ctr">
              <a:defRPr sz="1125" b="1">
                <a:solidFill>
                  <a:srgbClr val="173D56"/>
                </a:solidFill>
                <a:latin typeface="Arial"/>
                <a:ea typeface="Arial"/>
                <a:cs typeface="Arial"/>
              </a:defRPr>
            </a:pPr>
            <a:r>
              <a:rPr sz="1125" b="1">
                <a:solidFill>
                  <a:srgbClr val="173D56"/>
                </a:solidFill>
                <a:latin typeface="Arial"/>
                <a:ea typeface="Arial"/>
                <a:cs typeface="Arial"/>
              </a:rPr>
              <a:t>3 units</a:t>
            </a:r>
          </a:p>
        </p:txBody>
      </p:sp>
      <p:sp>
        <p:nvSpPr>
          <p:cNvPr id="13" name="Arrow: Right 12">
            <a:extLst>
              <a:ext uri="{FF2B5EF4-FFF2-40B4-BE49-F238E27FC236}">
                <a16:creationId xmlns:a16="http://schemas.microsoft.com/office/drawing/2014/main" id="{42E4D1B4-050A-9E42-708D-39F8F6E3E5E1}"/>
              </a:ext>
            </a:extLst>
          </p:cNvPr>
          <p:cNvSpPr>
            <a:spLocks noGrp="1"/>
          </p:cNvSpPr>
          <p:nvPr/>
        </p:nvSpPr>
        <p:spPr>
          <a:xfrm rot="5400000">
            <a:off x="2201608" y="2535746"/>
            <a:ext cx="714375" cy="266700"/>
          </a:xfrm>
          <a:prstGeom prst="rightArrow">
            <a:avLst/>
          </a:prstGeom>
          <a:solidFill>
            <a:srgbClr val="CBD3D8"/>
          </a:solidFill>
          <a:ln w="12383">
            <a:solidFill>
              <a:srgbClr val="CBD3D8"/>
            </a:solidFill>
            <a:prstDash val="solid"/>
          </a:ln>
        </p:spPr>
        <p:txBody>
          <a:bodyPr/>
          <a:lstStyle/>
          <a:p>
            <a:endParaRPr lang="en-US"/>
          </a:p>
        </p:txBody>
      </p:sp>
      <p:sp>
        <p:nvSpPr>
          <p:cNvPr id="15" name="Rectangle: Rounded Corners 14">
            <a:extLst>
              <a:ext uri="{FF2B5EF4-FFF2-40B4-BE49-F238E27FC236}">
                <a16:creationId xmlns:a16="http://schemas.microsoft.com/office/drawing/2014/main" id="{3E7EEEF6-4557-0BFE-548B-3EACB9F2D66B}"/>
              </a:ext>
            </a:extLst>
          </p:cNvPr>
          <p:cNvSpPr>
            <a:spLocks noGrp="1"/>
          </p:cNvSpPr>
          <p:nvPr/>
        </p:nvSpPr>
        <p:spPr>
          <a:xfrm>
            <a:off x="996697" y="3141715"/>
            <a:ext cx="3159252" cy="1047750"/>
          </a:xfrm>
          <a:prstGeom prst="roundRect">
            <a:avLst>
              <a:gd name="adj" fmla="val 5455"/>
            </a:avLst>
          </a:prstGeom>
          <a:solidFill>
            <a:srgbClr val="EAF5F1"/>
          </a:solidFill>
          <a:ln w="12383">
            <a:solidFill>
              <a:srgbClr val="CBD3D8"/>
            </a:solidFill>
            <a:prstDash val="solid"/>
          </a:ln>
        </p:spPr>
        <p:txBody>
          <a:bodyPr/>
          <a:lstStyle/>
          <a:p>
            <a:endParaRPr lang="en-US"/>
          </a:p>
        </p:txBody>
      </p:sp>
      <p:sp>
        <p:nvSpPr>
          <p:cNvPr id="17" name="Rectangle 16">
            <a:extLst>
              <a:ext uri="{FF2B5EF4-FFF2-40B4-BE49-F238E27FC236}">
                <a16:creationId xmlns:a16="http://schemas.microsoft.com/office/drawing/2014/main" id="{2F7FF0FA-1E5F-BC76-643D-78BA8672AA27}"/>
              </a:ext>
            </a:extLst>
          </p:cNvPr>
          <p:cNvSpPr>
            <a:spLocks noGrp="1"/>
          </p:cNvSpPr>
          <p:nvPr/>
        </p:nvSpPr>
        <p:spPr>
          <a:xfrm>
            <a:off x="1072897" y="3189340"/>
            <a:ext cx="2939478" cy="952500"/>
          </a:xfrm>
          <a:prstGeom prst="rect">
            <a:avLst/>
          </a:prstGeom>
          <a:noFill/>
          <a:ln w="0">
            <a:noFill/>
            <a:prstDash val="solid"/>
          </a:ln>
        </p:spPr>
        <p:txBody>
          <a:bodyPr anchor="ctr">
            <a:normAutofit/>
          </a:bodyPr>
          <a:lstStyle/>
          <a:p>
            <a:pPr algn="ctr">
              <a:defRPr sz="1275" b="1">
                <a:solidFill>
                  <a:srgbClr val="173D56"/>
                </a:solidFill>
                <a:latin typeface="Arial"/>
                <a:ea typeface="Arial"/>
                <a:cs typeface="Arial"/>
              </a:defRPr>
            </a:pPr>
            <a:r>
              <a:rPr sz="1275" b="1">
                <a:solidFill>
                  <a:srgbClr val="173D56"/>
                </a:solidFill>
                <a:latin typeface="Arial"/>
                <a:ea typeface="Arial"/>
                <a:cs typeface="Arial"/>
              </a:rPr>
              <a:t>RECIPE +</a:t>
            </a:r>
          </a:p>
          <a:p>
            <a:pPr algn="ctr">
              <a:defRPr sz="1275" b="1">
                <a:solidFill>
                  <a:srgbClr val="173D56"/>
                </a:solidFill>
                <a:latin typeface="Arial"/>
                <a:ea typeface="Arial"/>
                <a:cs typeface="Arial"/>
              </a:defRPr>
            </a:pPr>
            <a:r>
              <a:rPr sz="1275" b="1">
                <a:solidFill>
                  <a:srgbClr val="173D56"/>
                </a:solidFill>
                <a:latin typeface="Arial"/>
                <a:ea typeface="Arial"/>
                <a:cs typeface="Arial"/>
              </a:rPr>
              <a:t>PRODUCTION QTY</a:t>
            </a:r>
          </a:p>
        </p:txBody>
      </p:sp>
      <p:sp>
        <p:nvSpPr>
          <p:cNvPr id="19" name="Arrow: Right 18">
            <a:extLst>
              <a:ext uri="{FF2B5EF4-FFF2-40B4-BE49-F238E27FC236}">
                <a16:creationId xmlns:a16="http://schemas.microsoft.com/office/drawing/2014/main" id="{56CA50AB-651F-7124-E11E-57BE68073A18}"/>
              </a:ext>
            </a:extLst>
          </p:cNvPr>
          <p:cNvSpPr>
            <a:spLocks noGrp="1"/>
          </p:cNvSpPr>
          <p:nvPr/>
        </p:nvSpPr>
        <p:spPr>
          <a:xfrm rot="5400000">
            <a:off x="2201608" y="4644166"/>
            <a:ext cx="714375" cy="266700"/>
          </a:xfrm>
          <a:prstGeom prst="rightArrow">
            <a:avLst/>
          </a:prstGeom>
          <a:solidFill>
            <a:srgbClr val="CBD3D8"/>
          </a:solidFill>
          <a:ln w="12383">
            <a:solidFill>
              <a:srgbClr val="CBD3D8"/>
            </a:solidFill>
            <a:prstDash val="solid"/>
          </a:ln>
        </p:spPr>
        <p:txBody>
          <a:bodyPr/>
          <a:lstStyle/>
          <a:p>
            <a:endParaRPr lang="en-US"/>
          </a:p>
        </p:txBody>
      </p:sp>
      <p:sp>
        <p:nvSpPr>
          <p:cNvPr id="21" name="Rectangle: Rounded Corners 20">
            <a:extLst>
              <a:ext uri="{FF2B5EF4-FFF2-40B4-BE49-F238E27FC236}">
                <a16:creationId xmlns:a16="http://schemas.microsoft.com/office/drawing/2014/main" id="{304F0B85-ACE2-272D-5CB2-5BA27F50B9FD}"/>
              </a:ext>
            </a:extLst>
          </p:cNvPr>
          <p:cNvSpPr>
            <a:spLocks noGrp="1"/>
          </p:cNvSpPr>
          <p:nvPr/>
        </p:nvSpPr>
        <p:spPr>
          <a:xfrm>
            <a:off x="1344930" y="5215368"/>
            <a:ext cx="2381250" cy="1047750"/>
          </a:xfrm>
          <a:prstGeom prst="roundRect">
            <a:avLst>
              <a:gd name="adj" fmla="val 5455"/>
            </a:avLst>
          </a:prstGeom>
          <a:solidFill>
            <a:srgbClr val="FFF3DB"/>
          </a:solidFill>
          <a:ln w="12383">
            <a:solidFill>
              <a:srgbClr val="CBD3D8"/>
            </a:solidFill>
            <a:prstDash val="solid"/>
          </a:ln>
        </p:spPr>
        <p:txBody>
          <a:bodyPr/>
          <a:lstStyle/>
          <a:p>
            <a:endParaRPr lang="en-US"/>
          </a:p>
        </p:txBody>
      </p:sp>
      <p:sp>
        <p:nvSpPr>
          <p:cNvPr id="23" name="Rectangle 22">
            <a:extLst>
              <a:ext uri="{FF2B5EF4-FFF2-40B4-BE49-F238E27FC236}">
                <a16:creationId xmlns:a16="http://schemas.microsoft.com/office/drawing/2014/main" id="{94FD0716-8761-AA4E-7FAF-31EB09714D99}"/>
              </a:ext>
            </a:extLst>
          </p:cNvPr>
          <p:cNvSpPr>
            <a:spLocks noGrp="1"/>
          </p:cNvSpPr>
          <p:nvPr/>
        </p:nvSpPr>
        <p:spPr>
          <a:xfrm>
            <a:off x="1421130" y="5262993"/>
            <a:ext cx="2228850" cy="952500"/>
          </a:xfrm>
          <a:prstGeom prst="rect">
            <a:avLst/>
          </a:prstGeom>
          <a:noFill/>
          <a:ln w="0">
            <a:noFill/>
            <a:prstDash val="solid"/>
          </a:ln>
        </p:spPr>
        <p:txBody>
          <a:bodyPr anchor="ctr">
            <a:normAutofit/>
          </a:bodyPr>
          <a:lstStyle/>
          <a:p>
            <a:pPr algn="ctr">
              <a:defRPr sz="1275" b="1">
                <a:solidFill>
                  <a:srgbClr val="173D56"/>
                </a:solidFill>
                <a:latin typeface="Arial"/>
                <a:ea typeface="Arial"/>
                <a:cs typeface="Arial"/>
              </a:defRPr>
            </a:pPr>
            <a:r>
              <a:rPr sz="1275" b="1">
                <a:solidFill>
                  <a:srgbClr val="173D56"/>
                </a:solidFill>
                <a:latin typeface="Arial"/>
                <a:ea typeface="Arial"/>
                <a:cs typeface="Arial"/>
              </a:rPr>
              <a:t>FINISHED PRODUCT</a:t>
            </a:r>
          </a:p>
          <a:p>
            <a:pPr algn="ctr">
              <a:defRPr sz="1275" b="1">
                <a:solidFill>
                  <a:srgbClr val="173D56"/>
                </a:solidFill>
                <a:latin typeface="Arial"/>
                <a:ea typeface="Arial"/>
                <a:cs typeface="Arial"/>
              </a:defRPr>
            </a:pPr>
            <a:r>
              <a:rPr sz="1275" b="1">
                <a:solidFill>
                  <a:srgbClr val="173D56"/>
                </a:solidFill>
                <a:latin typeface="Arial"/>
                <a:ea typeface="Arial"/>
                <a:cs typeface="Arial"/>
              </a:rPr>
              <a:t>Stock added</a:t>
            </a:r>
          </a:p>
        </p:txBody>
      </p:sp>
      <p:sp>
        <p:nvSpPr>
          <p:cNvPr id="4" name="Rectangle 3">
            <a:extLst>
              <a:ext uri="{FF2B5EF4-FFF2-40B4-BE49-F238E27FC236}">
                <a16:creationId xmlns:a16="http://schemas.microsoft.com/office/drawing/2014/main" id="{0913244B-975E-7E1C-73FA-605AB93345C8}"/>
              </a:ext>
            </a:extLst>
          </p:cNvPr>
          <p:cNvSpPr>
            <a:spLocks noGrp="1"/>
          </p:cNvSpPr>
          <p:nvPr/>
        </p:nvSpPr>
        <p:spPr>
          <a:xfrm>
            <a:off x="514350" y="6419850"/>
            <a:ext cx="11096625" cy="9525"/>
          </a:xfrm>
          <a:prstGeom prst="rect">
            <a:avLst/>
          </a:prstGeom>
          <a:solidFill>
            <a:srgbClr val="C9D2D8"/>
          </a:solidFill>
          <a:ln w="0">
            <a:noFill/>
            <a:prstDash val="solid"/>
          </a:ln>
        </p:spPr>
        <p:txBody>
          <a:bodyPr/>
          <a:lstStyle/>
          <a:p>
            <a:endParaRPr lang="en-US"/>
          </a:p>
        </p:txBody>
      </p:sp>
      <p:sp>
        <p:nvSpPr>
          <p:cNvPr id="10" name="Rectangle 9">
            <a:extLst>
              <a:ext uri="{FF2B5EF4-FFF2-40B4-BE49-F238E27FC236}">
                <a16:creationId xmlns:a16="http://schemas.microsoft.com/office/drawing/2014/main" id="{B168C9CA-528C-5898-7274-B1D29A26C8AD}"/>
              </a:ext>
            </a:extLst>
          </p:cNvPr>
          <p:cNvSpPr>
            <a:spLocks noGrp="1"/>
          </p:cNvSpPr>
          <p:nvPr/>
        </p:nvSpPr>
        <p:spPr>
          <a:xfrm>
            <a:off x="514350" y="6505575"/>
            <a:ext cx="3333750" cy="209550"/>
          </a:xfrm>
          <a:prstGeom prst="rect">
            <a:avLst/>
          </a:prstGeom>
          <a:noFill/>
          <a:ln w="0">
            <a:noFill/>
            <a:prstDash val="solid"/>
          </a:ln>
        </p:spPr>
        <p:txBody>
          <a:bodyPr anchor="ctr">
            <a:normAutofit fontScale="93939" lnSpcReduction="10000"/>
          </a:bodyPr>
          <a:lstStyle/>
          <a:p>
            <a:pPr algn="l">
              <a:defRPr sz="825" b="0">
                <a:solidFill>
                  <a:srgbClr val="5F6B76"/>
                </a:solidFill>
                <a:latin typeface="Arial"/>
                <a:ea typeface="Arial"/>
                <a:cs typeface="Arial"/>
              </a:defRPr>
            </a:pPr>
            <a:r>
              <a:rPr sz="825" b="0" dirty="0" err="1">
                <a:solidFill>
                  <a:srgbClr val="5F6B76"/>
                </a:solidFill>
                <a:latin typeface="Arial"/>
                <a:ea typeface="Arial"/>
                <a:cs typeface="Arial"/>
              </a:rPr>
              <a:t>BizTrack</a:t>
            </a:r>
            <a:r>
              <a:rPr sz="825" b="0" dirty="0">
                <a:solidFill>
                  <a:srgbClr val="5F6B76"/>
                </a:solidFill>
                <a:latin typeface="Arial"/>
                <a:ea typeface="Arial"/>
                <a:cs typeface="Arial"/>
              </a:rPr>
              <a:t> • </a:t>
            </a:r>
            <a:r>
              <a:rPr lang="en-US" sz="825" b="0" dirty="0">
                <a:solidFill>
                  <a:srgbClr val="5F6B76"/>
                </a:solidFill>
                <a:latin typeface="Arial"/>
                <a:ea typeface="Arial"/>
                <a:cs typeface="Arial"/>
              </a:rPr>
              <a:t>A Complete Business Accounting Management System</a:t>
            </a:r>
            <a:endParaRPr sz="825" b="0" dirty="0">
              <a:solidFill>
                <a:srgbClr val="5F6B76"/>
              </a:solidFill>
              <a:latin typeface="Arial"/>
              <a:ea typeface="Arial"/>
              <a:cs typeface="Arial"/>
            </a:endParaRPr>
          </a:p>
        </p:txBody>
      </p:sp>
      <p:sp>
        <p:nvSpPr>
          <p:cNvPr id="14" name="Rectangle 13">
            <a:extLst>
              <a:ext uri="{FF2B5EF4-FFF2-40B4-BE49-F238E27FC236}">
                <a16:creationId xmlns:a16="http://schemas.microsoft.com/office/drawing/2014/main" id="{0614A306-61E8-F9AC-72B1-C3A1C21A52C7}"/>
              </a:ext>
            </a:extLst>
          </p:cNvPr>
          <p:cNvSpPr>
            <a:spLocks noGrp="1"/>
          </p:cNvSpPr>
          <p:nvPr/>
        </p:nvSpPr>
        <p:spPr>
          <a:xfrm>
            <a:off x="11049000" y="6505575"/>
            <a:ext cx="552450" cy="209550"/>
          </a:xfrm>
          <a:prstGeom prst="rect">
            <a:avLst/>
          </a:prstGeom>
          <a:noFill/>
          <a:ln w="0">
            <a:noFill/>
            <a:prstDash val="solid"/>
          </a:ln>
        </p:spPr>
        <p:txBody>
          <a:bodyPr anchor="ctr">
            <a:normAutofit fontScale="93939" lnSpcReduction="10000"/>
          </a:bodyPr>
          <a:lstStyle/>
          <a:p>
            <a:pPr algn="r">
              <a:defRPr sz="825" b="1">
                <a:solidFill>
                  <a:srgbClr val="5F6B76"/>
                </a:solidFill>
                <a:latin typeface="Arial"/>
                <a:ea typeface="Arial"/>
                <a:cs typeface="Arial"/>
              </a:defRPr>
            </a:pPr>
            <a:r>
              <a:rPr lang="en-US" sz="825" b="1" dirty="0">
                <a:solidFill>
                  <a:srgbClr val="5F6B76"/>
                </a:solidFill>
                <a:latin typeface="Arial"/>
                <a:ea typeface="Arial"/>
                <a:cs typeface="Arial"/>
              </a:rPr>
              <a:t>11</a:t>
            </a:r>
            <a:endParaRPr sz="825" b="1" dirty="0">
              <a:solidFill>
                <a:srgbClr val="5F6B76"/>
              </a:solidFill>
              <a:latin typeface="Arial"/>
              <a:ea typeface="Arial"/>
              <a:cs typeface="Arial"/>
            </a:endParaRPr>
          </a:p>
        </p:txBody>
      </p:sp>
    </p:spTree>
    <p:extLst>
      <p:ext uri="{BB962C8B-B14F-4D97-AF65-F5344CB8AC3E}">
        <p14:creationId xmlns:p14="http://schemas.microsoft.com/office/powerpoint/2010/main" val="1206733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75FE5C1-32E1-866F-4AE6-7EA77B7BC182}"/>
              </a:ext>
            </a:extLst>
          </p:cNvPr>
          <p:cNvSpPr>
            <a:spLocks noGrp="1"/>
          </p:cNvSpPr>
          <p:nvPr/>
        </p:nvSpPr>
        <p:spPr>
          <a:xfrm>
            <a:off x="578358" y="245102"/>
            <a:ext cx="6094476" cy="461665"/>
          </a:xfrm>
          <a:prstGeom prst="rect">
            <a:avLst/>
          </a:prstGeom>
          <a:noFill/>
        </p:spPr>
        <p:txBody>
          <a:bodyPr wrap="square">
            <a:spAutoFit/>
          </a:bodyPr>
          <a:lstStyle/>
          <a:p>
            <a:r>
              <a:rPr sz="2400" b="1" dirty="0">
                <a:latin typeface="Arial"/>
                <a:ea typeface="Arial"/>
                <a:cs typeface="Arial"/>
              </a:rPr>
              <a:t>Software </a:t>
            </a:r>
            <a:r>
              <a:rPr lang="en-US" sz="2400" b="1" dirty="0">
                <a:latin typeface="Arial"/>
                <a:ea typeface="Arial"/>
                <a:cs typeface="Arial"/>
              </a:rPr>
              <a:t>Screenshot</a:t>
            </a:r>
            <a:r>
              <a:rPr sz="2400" b="1" dirty="0">
                <a:latin typeface="Arial"/>
                <a:ea typeface="Arial"/>
                <a:cs typeface="Arial"/>
              </a:rPr>
              <a:t>: Dashboard</a:t>
            </a:r>
          </a:p>
        </p:txBody>
      </p:sp>
      <p:sp>
        <p:nvSpPr>
          <p:cNvPr id="5" name="Rectangle 4">
            <a:extLst>
              <a:ext uri="{FF2B5EF4-FFF2-40B4-BE49-F238E27FC236}">
                <a16:creationId xmlns:a16="http://schemas.microsoft.com/office/drawing/2014/main" id="{AD24629B-C2C0-92C4-DBFA-894BFEE9D05C}"/>
              </a:ext>
            </a:extLst>
          </p:cNvPr>
          <p:cNvSpPr>
            <a:spLocks noGrp="1"/>
          </p:cNvSpPr>
          <p:nvPr/>
        </p:nvSpPr>
        <p:spPr>
          <a:xfrm>
            <a:off x="667512" y="706767"/>
            <a:ext cx="1307592" cy="7961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A0EBE917-7825-4A91-8624-93500CE611B2}"/>
              </a:ext>
            </a:extLst>
          </p:cNvPr>
          <p:cNvSpPr>
            <a:spLocks noGrp="1"/>
          </p:cNvSpPr>
          <p:nvPr/>
        </p:nvSpPr>
        <p:spPr>
          <a:xfrm>
            <a:off x="9773983" y="1168432"/>
            <a:ext cx="2476500" cy="285750"/>
          </a:xfrm>
          <a:prstGeom prst="rect">
            <a:avLst/>
          </a:prstGeom>
          <a:noFill/>
          <a:ln w="0">
            <a:noFill/>
            <a:prstDash val="solid"/>
          </a:ln>
        </p:spPr>
        <p:txBody>
          <a:bodyPr anchor="t">
            <a:normAutofit fontScale="94444" lnSpcReduction="10000"/>
          </a:bodyPr>
          <a:lstStyle/>
          <a:p>
            <a:pPr algn="l">
              <a:defRPr sz="1350" b="1">
                <a:solidFill>
                  <a:srgbClr val="252525"/>
                </a:solidFill>
                <a:latin typeface="Arial"/>
                <a:ea typeface="Arial"/>
                <a:cs typeface="Arial"/>
              </a:defRPr>
            </a:pPr>
            <a:r>
              <a:rPr sz="1350" b="1" dirty="0">
                <a:solidFill>
                  <a:srgbClr val="252525"/>
                </a:solidFill>
                <a:latin typeface="Arial"/>
                <a:ea typeface="Arial"/>
                <a:cs typeface="Arial"/>
              </a:rPr>
              <a:t>Key points</a:t>
            </a:r>
          </a:p>
        </p:txBody>
      </p:sp>
      <p:sp>
        <p:nvSpPr>
          <p:cNvPr id="12" name="Rectangle 11">
            <a:extLst>
              <a:ext uri="{FF2B5EF4-FFF2-40B4-BE49-F238E27FC236}">
                <a16:creationId xmlns:a16="http://schemas.microsoft.com/office/drawing/2014/main" id="{0C45B07E-64D0-488A-8969-9B14F8ED321E}"/>
              </a:ext>
            </a:extLst>
          </p:cNvPr>
          <p:cNvSpPr>
            <a:spLocks noGrp="1"/>
          </p:cNvSpPr>
          <p:nvPr/>
        </p:nvSpPr>
        <p:spPr>
          <a:xfrm>
            <a:off x="9773983" y="1641729"/>
            <a:ext cx="2714625" cy="3048000"/>
          </a:xfrm>
          <a:prstGeom prst="rect">
            <a:avLst/>
          </a:prstGeom>
          <a:noFill/>
          <a:ln w="0">
            <a:noFill/>
            <a:prstDash val="solid"/>
          </a:ln>
        </p:spPr>
        <p:txBody>
          <a:bodyPr anchor="t">
            <a:normAutofit/>
          </a:bodyPr>
          <a:lstStyle/>
          <a:p>
            <a:pPr marL="171450" indent="-171450" algn="l">
              <a:buFont typeface="Wingdings" panose="05000000000000000000" pitchFamily="2" charset="2"/>
              <a:buChar char="§"/>
              <a:defRPr sz="1200" b="0">
                <a:solidFill>
                  <a:srgbClr val="252525"/>
                </a:solidFill>
                <a:latin typeface="Arial"/>
                <a:ea typeface="Arial"/>
                <a:cs typeface="Arial"/>
              </a:defRPr>
            </a:pPr>
            <a:r>
              <a:rPr sz="1400" b="0" dirty="0">
                <a:solidFill>
                  <a:srgbClr val="252525"/>
                </a:solidFill>
                <a:latin typeface="Arial"/>
                <a:ea typeface="Arial"/>
                <a:cs typeface="Arial"/>
              </a:rPr>
              <a:t>Business summary</a:t>
            </a:r>
          </a:p>
          <a:p>
            <a:pPr marL="171450" indent="-171450">
              <a:buFont typeface="Wingdings" panose="05000000000000000000" pitchFamily="2" charset="2"/>
              <a:buChar char="§"/>
            </a:pPr>
            <a:endParaRPr sz="1400" b="0" dirty="0">
              <a:solidFill>
                <a:srgbClr val="252525"/>
              </a:solidFill>
              <a:latin typeface="Arial"/>
              <a:ea typeface="Arial"/>
              <a:cs typeface="Arial"/>
            </a:endParaRPr>
          </a:p>
          <a:p>
            <a:pPr marL="171450" indent="-171450" algn="l">
              <a:buFont typeface="Wingdings" panose="05000000000000000000" pitchFamily="2" charset="2"/>
              <a:buChar char="§"/>
              <a:defRPr sz="1200" b="0">
                <a:solidFill>
                  <a:srgbClr val="252525"/>
                </a:solidFill>
                <a:latin typeface="Arial"/>
                <a:ea typeface="Arial"/>
                <a:cs typeface="Arial"/>
              </a:defRPr>
            </a:pPr>
            <a:r>
              <a:rPr sz="1400" b="0" dirty="0">
                <a:solidFill>
                  <a:srgbClr val="252525"/>
                </a:solidFill>
                <a:latin typeface="Arial"/>
                <a:ea typeface="Arial"/>
                <a:cs typeface="Arial"/>
              </a:rPr>
              <a:t>Stock and party balances</a:t>
            </a:r>
          </a:p>
          <a:p>
            <a:pPr marL="171450" indent="-171450">
              <a:buFont typeface="Wingdings" panose="05000000000000000000" pitchFamily="2" charset="2"/>
              <a:buChar char="§"/>
            </a:pPr>
            <a:endParaRPr sz="1400" b="0" dirty="0">
              <a:solidFill>
                <a:srgbClr val="252525"/>
              </a:solidFill>
              <a:latin typeface="Arial"/>
              <a:ea typeface="Arial"/>
              <a:cs typeface="Arial"/>
            </a:endParaRPr>
          </a:p>
          <a:p>
            <a:pPr marL="171450" indent="-171450" algn="l">
              <a:buFont typeface="Wingdings" panose="05000000000000000000" pitchFamily="2" charset="2"/>
              <a:buChar char="§"/>
              <a:defRPr sz="1200" b="0">
                <a:solidFill>
                  <a:srgbClr val="252525"/>
                </a:solidFill>
                <a:latin typeface="Arial"/>
                <a:ea typeface="Arial"/>
                <a:cs typeface="Arial"/>
              </a:defRPr>
            </a:pPr>
            <a:r>
              <a:rPr sz="1400" b="0" dirty="0">
                <a:solidFill>
                  <a:srgbClr val="252525"/>
                </a:solidFill>
                <a:latin typeface="Arial"/>
                <a:ea typeface="Arial"/>
                <a:cs typeface="Arial"/>
              </a:rPr>
              <a:t>Recent transactions</a:t>
            </a:r>
          </a:p>
          <a:p>
            <a:pPr marL="171450" indent="-171450">
              <a:buFont typeface="Wingdings" panose="05000000000000000000" pitchFamily="2" charset="2"/>
              <a:buChar char="§"/>
            </a:pPr>
            <a:endParaRPr sz="1400" b="0" dirty="0">
              <a:solidFill>
                <a:srgbClr val="252525"/>
              </a:solidFill>
              <a:latin typeface="Arial"/>
              <a:ea typeface="Arial"/>
              <a:cs typeface="Arial"/>
            </a:endParaRPr>
          </a:p>
          <a:p>
            <a:pPr marL="171450" indent="-171450" algn="l">
              <a:buFont typeface="Wingdings" panose="05000000000000000000" pitchFamily="2" charset="2"/>
              <a:buChar char="§"/>
              <a:defRPr sz="1200" b="0">
                <a:solidFill>
                  <a:srgbClr val="252525"/>
                </a:solidFill>
                <a:latin typeface="Arial"/>
                <a:ea typeface="Arial"/>
                <a:cs typeface="Arial"/>
              </a:defRPr>
            </a:pPr>
            <a:r>
              <a:rPr sz="1400" b="0" dirty="0">
                <a:solidFill>
                  <a:srgbClr val="252525"/>
                </a:solidFill>
                <a:latin typeface="Arial"/>
                <a:ea typeface="Arial"/>
                <a:cs typeface="Arial"/>
              </a:rPr>
              <a:t>Useful reports or alerts</a:t>
            </a:r>
          </a:p>
        </p:txBody>
      </p:sp>
      <p:pic>
        <p:nvPicPr>
          <p:cNvPr id="2" name="Picture 1">
            <a:extLst>
              <a:ext uri="{FF2B5EF4-FFF2-40B4-BE49-F238E27FC236}">
                <a16:creationId xmlns:a16="http://schemas.microsoft.com/office/drawing/2014/main" id="{DB3960D9-0DBE-18D7-D1B0-6546CBDDBCCF}"/>
              </a:ext>
            </a:extLst>
          </p:cNvPr>
          <p:cNvPicPr>
            <a:picLocks noChangeAspect="1"/>
          </p:cNvPicPr>
          <p:nvPr/>
        </p:nvPicPr>
        <p:blipFill>
          <a:blip r:embed="rId3"/>
          <a:stretch>
            <a:fillRect/>
          </a:stretch>
        </p:blipFill>
        <p:spPr>
          <a:xfrm>
            <a:off x="578358" y="1168432"/>
            <a:ext cx="8848496" cy="508606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Rectangle 5">
            <a:extLst>
              <a:ext uri="{FF2B5EF4-FFF2-40B4-BE49-F238E27FC236}">
                <a16:creationId xmlns:a16="http://schemas.microsoft.com/office/drawing/2014/main" id="{DFA18138-384B-929C-5006-F0EFCDC6EFF5}"/>
              </a:ext>
            </a:extLst>
          </p:cNvPr>
          <p:cNvSpPr>
            <a:spLocks noGrp="1"/>
          </p:cNvSpPr>
          <p:nvPr/>
        </p:nvSpPr>
        <p:spPr>
          <a:xfrm>
            <a:off x="514350" y="6419850"/>
            <a:ext cx="11096625" cy="9525"/>
          </a:xfrm>
          <a:prstGeom prst="rect">
            <a:avLst/>
          </a:prstGeom>
          <a:solidFill>
            <a:srgbClr val="C9D2D8"/>
          </a:solidFill>
          <a:ln w="0">
            <a:noFill/>
            <a:prstDash val="solid"/>
          </a:ln>
        </p:spPr>
        <p:txBody>
          <a:bodyPr/>
          <a:lstStyle/>
          <a:p>
            <a:endParaRPr lang="en-US"/>
          </a:p>
        </p:txBody>
      </p:sp>
      <p:sp>
        <p:nvSpPr>
          <p:cNvPr id="8" name="Rectangle 7">
            <a:extLst>
              <a:ext uri="{FF2B5EF4-FFF2-40B4-BE49-F238E27FC236}">
                <a16:creationId xmlns:a16="http://schemas.microsoft.com/office/drawing/2014/main" id="{475693FF-A5D2-2240-8F82-3AC5345F3CC3}"/>
              </a:ext>
            </a:extLst>
          </p:cNvPr>
          <p:cNvSpPr>
            <a:spLocks noGrp="1"/>
          </p:cNvSpPr>
          <p:nvPr/>
        </p:nvSpPr>
        <p:spPr>
          <a:xfrm>
            <a:off x="514350" y="6505575"/>
            <a:ext cx="3333750" cy="209550"/>
          </a:xfrm>
          <a:prstGeom prst="rect">
            <a:avLst/>
          </a:prstGeom>
          <a:noFill/>
          <a:ln w="0">
            <a:noFill/>
            <a:prstDash val="solid"/>
          </a:ln>
        </p:spPr>
        <p:txBody>
          <a:bodyPr anchor="ctr">
            <a:normAutofit fontScale="93939" lnSpcReduction="10000"/>
          </a:bodyPr>
          <a:lstStyle/>
          <a:p>
            <a:pPr algn="l">
              <a:defRPr sz="825" b="0">
                <a:solidFill>
                  <a:srgbClr val="5F6B76"/>
                </a:solidFill>
                <a:latin typeface="Arial"/>
                <a:ea typeface="Arial"/>
                <a:cs typeface="Arial"/>
              </a:defRPr>
            </a:pPr>
            <a:r>
              <a:rPr sz="825" b="0" dirty="0" err="1">
                <a:solidFill>
                  <a:srgbClr val="5F6B76"/>
                </a:solidFill>
                <a:latin typeface="Arial"/>
                <a:ea typeface="Arial"/>
                <a:cs typeface="Arial"/>
              </a:rPr>
              <a:t>BizTrack</a:t>
            </a:r>
            <a:r>
              <a:rPr sz="825" b="0" dirty="0">
                <a:solidFill>
                  <a:srgbClr val="5F6B76"/>
                </a:solidFill>
                <a:latin typeface="Arial"/>
                <a:ea typeface="Arial"/>
                <a:cs typeface="Arial"/>
              </a:rPr>
              <a:t> • </a:t>
            </a:r>
            <a:r>
              <a:rPr lang="en-US" sz="825" b="0" dirty="0">
                <a:solidFill>
                  <a:srgbClr val="5F6B76"/>
                </a:solidFill>
                <a:latin typeface="Arial"/>
                <a:ea typeface="Arial"/>
                <a:cs typeface="Arial"/>
              </a:rPr>
              <a:t>A Complete Business Accounting Management System</a:t>
            </a:r>
            <a:endParaRPr sz="825" b="0" dirty="0">
              <a:solidFill>
                <a:srgbClr val="5F6B76"/>
              </a:solidFill>
              <a:latin typeface="Arial"/>
              <a:ea typeface="Arial"/>
              <a:cs typeface="Arial"/>
            </a:endParaRPr>
          </a:p>
        </p:txBody>
      </p:sp>
      <p:sp>
        <p:nvSpPr>
          <p:cNvPr id="10" name="Rectangle 9">
            <a:extLst>
              <a:ext uri="{FF2B5EF4-FFF2-40B4-BE49-F238E27FC236}">
                <a16:creationId xmlns:a16="http://schemas.microsoft.com/office/drawing/2014/main" id="{4695C0CD-5FE8-25E6-6A7F-2CAB7DD15B35}"/>
              </a:ext>
            </a:extLst>
          </p:cNvPr>
          <p:cNvSpPr>
            <a:spLocks noGrp="1"/>
          </p:cNvSpPr>
          <p:nvPr/>
        </p:nvSpPr>
        <p:spPr>
          <a:xfrm>
            <a:off x="11049000" y="6505575"/>
            <a:ext cx="552450" cy="209550"/>
          </a:xfrm>
          <a:prstGeom prst="rect">
            <a:avLst/>
          </a:prstGeom>
          <a:noFill/>
          <a:ln w="0">
            <a:noFill/>
            <a:prstDash val="solid"/>
          </a:ln>
        </p:spPr>
        <p:txBody>
          <a:bodyPr anchor="ctr">
            <a:normAutofit fontScale="93939" lnSpcReduction="10000"/>
          </a:bodyPr>
          <a:lstStyle/>
          <a:p>
            <a:pPr algn="r">
              <a:defRPr sz="825" b="1">
                <a:solidFill>
                  <a:srgbClr val="5F6B76"/>
                </a:solidFill>
                <a:latin typeface="Arial"/>
                <a:ea typeface="Arial"/>
                <a:cs typeface="Arial"/>
              </a:defRPr>
            </a:pPr>
            <a:r>
              <a:rPr lang="en-US" sz="825" b="1" dirty="0">
                <a:solidFill>
                  <a:srgbClr val="5F6B76"/>
                </a:solidFill>
                <a:latin typeface="Arial"/>
                <a:ea typeface="Arial"/>
                <a:cs typeface="Arial"/>
              </a:rPr>
              <a:t>12</a:t>
            </a:r>
            <a:endParaRPr sz="825" b="1" dirty="0">
              <a:solidFill>
                <a:srgbClr val="5F6B76"/>
              </a:solidFill>
              <a:latin typeface="Arial"/>
              <a:ea typeface="Arial"/>
              <a:cs typeface="Arial"/>
            </a:endParaRPr>
          </a:p>
        </p:txBody>
      </p:sp>
    </p:spTree>
    <p:extLst>
      <p:ext uri="{BB962C8B-B14F-4D97-AF65-F5344CB8AC3E}">
        <p14:creationId xmlns:p14="http://schemas.microsoft.com/office/powerpoint/2010/main" val="5158032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75FE5C1-32E1-866F-4AE6-7EA77B7BC182}"/>
              </a:ext>
            </a:extLst>
          </p:cNvPr>
          <p:cNvSpPr>
            <a:spLocks noGrp="1"/>
          </p:cNvSpPr>
          <p:nvPr/>
        </p:nvSpPr>
        <p:spPr>
          <a:xfrm>
            <a:off x="578358" y="245102"/>
            <a:ext cx="6094476" cy="461665"/>
          </a:xfrm>
          <a:prstGeom prst="rect">
            <a:avLst/>
          </a:prstGeom>
          <a:noFill/>
        </p:spPr>
        <p:txBody>
          <a:bodyPr wrap="square">
            <a:spAutoFit/>
          </a:bodyPr>
          <a:lstStyle/>
          <a:p>
            <a:r>
              <a:rPr sz="2400" b="1" dirty="0">
                <a:latin typeface="Arial"/>
                <a:ea typeface="Arial"/>
                <a:cs typeface="Arial"/>
              </a:rPr>
              <a:t>Software </a:t>
            </a:r>
            <a:r>
              <a:rPr lang="en-US" sz="2400" b="1" dirty="0">
                <a:latin typeface="Arial"/>
                <a:ea typeface="Arial"/>
                <a:cs typeface="Arial"/>
              </a:rPr>
              <a:t>Screenshot</a:t>
            </a:r>
            <a:r>
              <a:rPr sz="2400" b="1" dirty="0">
                <a:latin typeface="Arial"/>
                <a:ea typeface="Arial"/>
                <a:cs typeface="Arial"/>
              </a:rPr>
              <a:t>: Sales and POS</a:t>
            </a:r>
          </a:p>
        </p:txBody>
      </p:sp>
      <p:sp>
        <p:nvSpPr>
          <p:cNvPr id="5" name="Rectangle 4">
            <a:extLst>
              <a:ext uri="{FF2B5EF4-FFF2-40B4-BE49-F238E27FC236}">
                <a16:creationId xmlns:a16="http://schemas.microsoft.com/office/drawing/2014/main" id="{AD24629B-C2C0-92C4-DBFA-894BFEE9D05C}"/>
              </a:ext>
            </a:extLst>
          </p:cNvPr>
          <p:cNvSpPr>
            <a:spLocks noGrp="1"/>
          </p:cNvSpPr>
          <p:nvPr/>
        </p:nvSpPr>
        <p:spPr>
          <a:xfrm>
            <a:off x="667512" y="706767"/>
            <a:ext cx="1307592" cy="7961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543105E6-EEC6-4A1C-A759-27C68B0634F5}"/>
              </a:ext>
            </a:extLst>
          </p:cNvPr>
          <p:cNvSpPr>
            <a:spLocks noGrp="1"/>
          </p:cNvSpPr>
          <p:nvPr/>
        </p:nvSpPr>
        <p:spPr>
          <a:xfrm>
            <a:off x="8935593" y="1119188"/>
            <a:ext cx="3256407" cy="3048000"/>
          </a:xfrm>
          <a:prstGeom prst="rect">
            <a:avLst/>
          </a:prstGeom>
          <a:noFill/>
          <a:ln w="0">
            <a:noFill/>
            <a:prstDash val="solid"/>
          </a:ln>
        </p:spPr>
        <p:txBody>
          <a:bodyPr anchor="t">
            <a:normAutofit/>
          </a:bodyPr>
          <a:lstStyle/>
          <a:p>
            <a:pPr>
              <a:defRPr sz="1200" b="0">
                <a:solidFill>
                  <a:srgbClr val="252525"/>
                </a:solidFill>
                <a:latin typeface="Arial"/>
                <a:ea typeface="Arial"/>
                <a:cs typeface="Arial"/>
              </a:defRPr>
            </a:pPr>
            <a:r>
              <a:rPr lang="en-US" sz="1600" b="1" dirty="0">
                <a:solidFill>
                  <a:srgbClr val="252525"/>
                </a:solidFill>
                <a:latin typeface="Arial"/>
                <a:ea typeface="Arial"/>
                <a:cs typeface="Arial"/>
              </a:rPr>
              <a:t>Key points</a:t>
            </a:r>
          </a:p>
          <a:p>
            <a:pPr algn="l">
              <a:defRPr sz="1200" b="0">
                <a:solidFill>
                  <a:srgbClr val="252525"/>
                </a:solidFill>
                <a:latin typeface="Arial"/>
                <a:ea typeface="Arial"/>
                <a:cs typeface="Arial"/>
              </a:defRPr>
            </a:pPr>
            <a:endParaRPr lang="en-US" sz="1200" b="0" dirty="0">
              <a:solidFill>
                <a:srgbClr val="252525"/>
              </a:solidFill>
              <a:latin typeface="Arial"/>
              <a:ea typeface="Arial"/>
              <a:cs typeface="Arial"/>
            </a:endParaRPr>
          </a:p>
          <a:p>
            <a:pPr marL="285750" indent="-285750" algn="l">
              <a:buFont typeface="Wingdings" panose="05000000000000000000" pitchFamily="2" charset="2"/>
              <a:buChar char="§"/>
              <a:defRPr sz="1200" b="0">
                <a:solidFill>
                  <a:srgbClr val="252525"/>
                </a:solidFill>
                <a:latin typeface="Arial"/>
                <a:ea typeface="Arial"/>
                <a:cs typeface="Arial"/>
              </a:defRPr>
            </a:pPr>
            <a:r>
              <a:rPr sz="1600" b="0" dirty="0">
                <a:solidFill>
                  <a:srgbClr val="252525"/>
                </a:solidFill>
                <a:latin typeface="Arial"/>
                <a:ea typeface="Arial"/>
                <a:cs typeface="Arial"/>
              </a:rPr>
              <a:t>Product and quantity entry</a:t>
            </a:r>
          </a:p>
          <a:p>
            <a:pPr marL="285750" indent="-285750">
              <a:buFont typeface="Wingdings" panose="05000000000000000000" pitchFamily="2" charset="2"/>
              <a:buChar char="§"/>
            </a:pPr>
            <a:endParaRPr sz="1600" b="0" dirty="0">
              <a:solidFill>
                <a:srgbClr val="252525"/>
              </a:solidFill>
              <a:latin typeface="Arial"/>
              <a:ea typeface="Arial"/>
              <a:cs typeface="Arial"/>
            </a:endParaRPr>
          </a:p>
          <a:p>
            <a:pPr marL="285750" indent="-285750" algn="l">
              <a:buFont typeface="Wingdings" panose="05000000000000000000" pitchFamily="2" charset="2"/>
              <a:buChar char="§"/>
              <a:defRPr sz="1200" b="0">
                <a:solidFill>
                  <a:srgbClr val="252525"/>
                </a:solidFill>
                <a:latin typeface="Arial"/>
                <a:ea typeface="Arial"/>
                <a:cs typeface="Arial"/>
              </a:defRPr>
            </a:pPr>
            <a:r>
              <a:rPr sz="1600" b="0" dirty="0">
                <a:solidFill>
                  <a:srgbClr val="252525"/>
                </a:solidFill>
                <a:latin typeface="Arial"/>
                <a:ea typeface="Arial"/>
                <a:cs typeface="Arial"/>
              </a:rPr>
              <a:t>Cash or credit sale</a:t>
            </a:r>
          </a:p>
          <a:p>
            <a:pPr marL="285750" indent="-285750">
              <a:buFont typeface="Wingdings" panose="05000000000000000000" pitchFamily="2" charset="2"/>
              <a:buChar char="§"/>
            </a:pPr>
            <a:endParaRPr sz="1600" b="0" dirty="0">
              <a:solidFill>
                <a:srgbClr val="252525"/>
              </a:solidFill>
              <a:latin typeface="Arial"/>
              <a:ea typeface="Arial"/>
              <a:cs typeface="Arial"/>
            </a:endParaRPr>
          </a:p>
          <a:p>
            <a:pPr marL="285750" indent="-285750" algn="l">
              <a:buFont typeface="Wingdings" panose="05000000000000000000" pitchFamily="2" charset="2"/>
              <a:buChar char="§"/>
              <a:defRPr sz="1200" b="0">
                <a:solidFill>
                  <a:srgbClr val="252525"/>
                </a:solidFill>
                <a:latin typeface="Arial"/>
                <a:ea typeface="Arial"/>
                <a:cs typeface="Arial"/>
              </a:defRPr>
            </a:pPr>
            <a:r>
              <a:rPr sz="1600" b="0" dirty="0">
                <a:solidFill>
                  <a:srgbClr val="252525"/>
                </a:solidFill>
                <a:latin typeface="Arial"/>
                <a:ea typeface="Arial"/>
                <a:cs typeface="Arial"/>
              </a:rPr>
              <a:t>Invoice completion</a:t>
            </a:r>
          </a:p>
          <a:p>
            <a:pPr marL="285750" indent="-285750">
              <a:buFont typeface="Wingdings" panose="05000000000000000000" pitchFamily="2" charset="2"/>
              <a:buChar char="§"/>
            </a:pPr>
            <a:endParaRPr sz="1600" b="0" dirty="0">
              <a:solidFill>
                <a:srgbClr val="252525"/>
              </a:solidFill>
              <a:latin typeface="Arial"/>
              <a:ea typeface="Arial"/>
              <a:cs typeface="Arial"/>
            </a:endParaRPr>
          </a:p>
          <a:p>
            <a:pPr marL="285750" indent="-285750" algn="l">
              <a:buFont typeface="Wingdings" panose="05000000000000000000" pitchFamily="2" charset="2"/>
              <a:buChar char="§"/>
              <a:defRPr sz="1200" b="0">
                <a:solidFill>
                  <a:srgbClr val="252525"/>
                </a:solidFill>
                <a:latin typeface="Arial"/>
                <a:ea typeface="Arial"/>
                <a:cs typeface="Arial"/>
              </a:defRPr>
            </a:pPr>
            <a:r>
              <a:rPr sz="1600" b="0" dirty="0">
                <a:solidFill>
                  <a:srgbClr val="252525"/>
                </a:solidFill>
                <a:latin typeface="Arial"/>
                <a:ea typeface="Arial"/>
                <a:cs typeface="Arial"/>
              </a:rPr>
              <a:t>Stock and customer update</a:t>
            </a:r>
          </a:p>
        </p:txBody>
      </p:sp>
      <p:pic>
        <p:nvPicPr>
          <p:cNvPr id="2" name="Picture 1">
            <a:extLst>
              <a:ext uri="{FF2B5EF4-FFF2-40B4-BE49-F238E27FC236}">
                <a16:creationId xmlns:a16="http://schemas.microsoft.com/office/drawing/2014/main" id="{3A16727C-5225-D2CF-7247-B8E364E3BC0F}"/>
              </a:ext>
            </a:extLst>
          </p:cNvPr>
          <p:cNvPicPr>
            <a:picLocks noChangeAspect="1"/>
          </p:cNvPicPr>
          <p:nvPr/>
        </p:nvPicPr>
        <p:blipFill>
          <a:blip r:embed="rId3"/>
          <a:stretch>
            <a:fillRect/>
          </a:stretch>
        </p:blipFill>
        <p:spPr>
          <a:xfrm>
            <a:off x="343923" y="1119188"/>
            <a:ext cx="8465454" cy="473297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Rectangle 5">
            <a:extLst>
              <a:ext uri="{FF2B5EF4-FFF2-40B4-BE49-F238E27FC236}">
                <a16:creationId xmlns:a16="http://schemas.microsoft.com/office/drawing/2014/main" id="{C95B667A-1FE9-56C2-85F9-E67A46B1AB4C}"/>
              </a:ext>
            </a:extLst>
          </p:cNvPr>
          <p:cNvSpPr>
            <a:spLocks noGrp="1"/>
          </p:cNvSpPr>
          <p:nvPr/>
        </p:nvSpPr>
        <p:spPr>
          <a:xfrm>
            <a:off x="514350" y="6419850"/>
            <a:ext cx="11096625" cy="9525"/>
          </a:xfrm>
          <a:prstGeom prst="rect">
            <a:avLst/>
          </a:prstGeom>
          <a:solidFill>
            <a:srgbClr val="C9D2D8"/>
          </a:solidFill>
          <a:ln w="0">
            <a:noFill/>
            <a:prstDash val="solid"/>
          </a:ln>
        </p:spPr>
        <p:txBody>
          <a:bodyPr/>
          <a:lstStyle/>
          <a:p>
            <a:endParaRPr lang="en-US"/>
          </a:p>
        </p:txBody>
      </p:sp>
      <p:sp>
        <p:nvSpPr>
          <p:cNvPr id="8" name="Rectangle 7">
            <a:extLst>
              <a:ext uri="{FF2B5EF4-FFF2-40B4-BE49-F238E27FC236}">
                <a16:creationId xmlns:a16="http://schemas.microsoft.com/office/drawing/2014/main" id="{EED7E76A-3EF5-8CF3-F164-FA6B43B17B3B}"/>
              </a:ext>
            </a:extLst>
          </p:cNvPr>
          <p:cNvSpPr>
            <a:spLocks noGrp="1"/>
          </p:cNvSpPr>
          <p:nvPr/>
        </p:nvSpPr>
        <p:spPr>
          <a:xfrm>
            <a:off x="514350" y="6505575"/>
            <a:ext cx="3333750" cy="209550"/>
          </a:xfrm>
          <a:prstGeom prst="rect">
            <a:avLst/>
          </a:prstGeom>
          <a:noFill/>
          <a:ln w="0">
            <a:noFill/>
            <a:prstDash val="solid"/>
          </a:ln>
        </p:spPr>
        <p:txBody>
          <a:bodyPr anchor="ctr">
            <a:normAutofit fontScale="93939" lnSpcReduction="10000"/>
          </a:bodyPr>
          <a:lstStyle/>
          <a:p>
            <a:pPr algn="l">
              <a:defRPr sz="825" b="0">
                <a:solidFill>
                  <a:srgbClr val="5F6B76"/>
                </a:solidFill>
                <a:latin typeface="Arial"/>
                <a:ea typeface="Arial"/>
                <a:cs typeface="Arial"/>
              </a:defRPr>
            </a:pPr>
            <a:r>
              <a:rPr sz="825" b="0" dirty="0" err="1">
                <a:solidFill>
                  <a:srgbClr val="5F6B76"/>
                </a:solidFill>
                <a:latin typeface="Arial"/>
                <a:ea typeface="Arial"/>
                <a:cs typeface="Arial"/>
              </a:rPr>
              <a:t>BizTrack</a:t>
            </a:r>
            <a:r>
              <a:rPr sz="825" b="0" dirty="0">
                <a:solidFill>
                  <a:srgbClr val="5F6B76"/>
                </a:solidFill>
                <a:latin typeface="Arial"/>
                <a:ea typeface="Arial"/>
                <a:cs typeface="Arial"/>
              </a:rPr>
              <a:t> • </a:t>
            </a:r>
            <a:r>
              <a:rPr lang="en-US" sz="825" b="0" dirty="0">
                <a:solidFill>
                  <a:srgbClr val="5F6B76"/>
                </a:solidFill>
                <a:latin typeface="Arial"/>
                <a:ea typeface="Arial"/>
                <a:cs typeface="Arial"/>
              </a:rPr>
              <a:t>A Complete Business Accounting Management System</a:t>
            </a:r>
            <a:endParaRPr sz="825" b="0" dirty="0">
              <a:solidFill>
                <a:srgbClr val="5F6B76"/>
              </a:solidFill>
              <a:latin typeface="Arial"/>
              <a:ea typeface="Arial"/>
              <a:cs typeface="Arial"/>
            </a:endParaRPr>
          </a:p>
        </p:txBody>
      </p:sp>
      <p:sp>
        <p:nvSpPr>
          <p:cNvPr id="10" name="Rectangle 9">
            <a:extLst>
              <a:ext uri="{FF2B5EF4-FFF2-40B4-BE49-F238E27FC236}">
                <a16:creationId xmlns:a16="http://schemas.microsoft.com/office/drawing/2014/main" id="{1E63E391-335E-BAB6-350F-F6C4344FCA66}"/>
              </a:ext>
            </a:extLst>
          </p:cNvPr>
          <p:cNvSpPr>
            <a:spLocks noGrp="1"/>
          </p:cNvSpPr>
          <p:nvPr/>
        </p:nvSpPr>
        <p:spPr>
          <a:xfrm>
            <a:off x="11049000" y="6505575"/>
            <a:ext cx="552450" cy="209550"/>
          </a:xfrm>
          <a:prstGeom prst="rect">
            <a:avLst/>
          </a:prstGeom>
          <a:noFill/>
          <a:ln w="0">
            <a:noFill/>
            <a:prstDash val="solid"/>
          </a:ln>
        </p:spPr>
        <p:txBody>
          <a:bodyPr anchor="ctr">
            <a:normAutofit fontScale="93939" lnSpcReduction="10000"/>
          </a:bodyPr>
          <a:lstStyle/>
          <a:p>
            <a:pPr algn="r">
              <a:defRPr sz="825" b="1">
                <a:solidFill>
                  <a:srgbClr val="5F6B76"/>
                </a:solidFill>
                <a:latin typeface="Arial"/>
                <a:ea typeface="Arial"/>
                <a:cs typeface="Arial"/>
              </a:defRPr>
            </a:pPr>
            <a:r>
              <a:rPr lang="en-US" sz="825" b="1" dirty="0">
                <a:solidFill>
                  <a:srgbClr val="5F6B76"/>
                </a:solidFill>
                <a:latin typeface="Arial"/>
                <a:ea typeface="Arial"/>
                <a:cs typeface="Arial"/>
              </a:rPr>
              <a:t>13</a:t>
            </a:r>
            <a:endParaRPr sz="825" b="1" dirty="0">
              <a:solidFill>
                <a:srgbClr val="5F6B76"/>
              </a:solidFill>
              <a:latin typeface="Arial"/>
              <a:ea typeface="Arial"/>
              <a:cs typeface="Arial"/>
            </a:endParaRPr>
          </a:p>
        </p:txBody>
      </p:sp>
    </p:spTree>
    <p:extLst>
      <p:ext uri="{BB962C8B-B14F-4D97-AF65-F5344CB8AC3E}">
        <p14:creationId xmlns:p14="http://schemas.microsoft.com/office/powerpoint/2010/main" val="5158032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75FE5C1-32E1-866F-4AE6-7EA77B7BC182}"/>
              </a:ext>
            </a:extLst>
          </p:cNvPr>
          <p:cNvSpPr>
            <a:spLocks noGrp="1"/>
          </p:cNvSpPr>
          <p:nvPr/>
        </p:nvSpPr>
        <p:spPr>
          <a:xfrm>
            <a:off x="578358" y="245102"/>
            <a:ext cx="6094476" cy="461665"/>
          </a:xfrm>
          <a:prstGeom prst="rect">
            <a:avLst/>
          </a:prstGeom>
          <a:noFill/>
        </p:spPr>
        <p:txBody>
          <a:bodyPr wrap="square">
            <a:spAutoFit/>
          </a:bodyPr>
          <a:lstStyle/>
          <a:p>
            <a:r>
              <a:rPr sz="2400" b="1" dirty="0">
                <a:latin typeface="Arial"/>
                <a:ea typeface="Arial"/>
                <a:cs typeface="Arial"/>
              </a:rPr>
              <a:t>Software </a:t>
            </a:r>
            <a:r>
              <a:rPr lang="en-US" sz="2400" b="1" dirty="0">
                <a:latin typeface="Arial"/>
                <a:ea typeface="Arial"/>
                <a:cs typeface="Arial"/>
              </a:rPr>
              <a:t>Screenshot </a:t>
            </a:r>
            <a:r>
              <a:rPr sz="2400" b="1" dirty="0">
                <a:latin typeface="Arial"/>
                <a:ea typeface="Arial"/>
                <a:cs typeface="Arial"/>
              </a:rPr>
              <a:t>: Manufacturing</a:t>
            </a:r>
          </a:p>
        </p:txBody>
      </p:sp>
      <p:sp>
        <p:nvSpPr>
          <p:cNvPr id="5" name="Rectangle 4">
            <a:extLst>
              <a:ext uri="{FF2B5EF4-FFF2-40B4-BE49-F238E27FC236}">
                <a16:creationId xmlns:a16="http://schemas.microsoft.com/office/drawing/2014/main" id="{AD24629B-C2C0-92C4-DBFA-894BFEE9D05C}"/>
              </a:ext>
            </a:extLst>
          </p:cNvPr>
          <p:cNvSpPr>
            <a:spLocks noGrp="1"/>
          </p:cNvSpPr>
          <p:nvPr/>
        </p:nvSpPr>
        <p:spPr>
          <a:xfrm>
            <a:off x="667512" y="706767"/>
            <a:ext cx="1307592" cy="7961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98A7BB7-DDBB-4849-9FFD-92A577199159}"/>
              </a:ext>
            </a:extLst>
          </p:cNvPr>
          <p:cNvSpPr>
            <a:spLocks noGrp="1"/>
          </p:cNvSpPr>
          <p:nvPr/>
        </p:nvSpPr>
        <p:spPr>
          <a:xfrm>
            <a:off x="9373552" y="678101"/>
            <a:ext cx="2714625" cy="3048000"/>
          </a:xfrm>
          <a:prstGeom prst="rect">
            <a:avLst/>
          </a:prstGeom>
          <a:noFill/>
          <a:ln w="0">
            <a:noFill/>
            <a:prstDash val="solid"/>
          </a:ln>
        </p:spPr>
        <p:txBody>
          <a:bodyPr anchor="t">
            <a:normAutofit/>
          </a:bodyPr>
          <a:lstStyle/>
          <a:p>
            <a:pPr>
              <a:defRPr sz="1200" b="0">
                <a:solidFill>
                  <a:srgbClr val="252525"/>
                </a:solidFill>
                <a:latin typeface="Arial"/>
                <a:ea typeface="Arial"/>
                <a:cs typeface="Arial"/>
              </a:defRPr>
            </a:pPr>
            <a:r>
              <a:rPr lang="en-US" sz="1600" b="1" dirty="0">
                <a:solidFill>
                  <a:srgbClr val="252525"/>
                </a:solidFill>
                <a:latin typeface="Arial"/>
                <a:ea typeface="Arial"/>
                <a:cs typeface="Arial"/>
              </a:rPr>
              <a:t>Key points</a:t>
            </a:r>
          </a:p>
          <a:p>
            <a:pPr algn="l">
              <a:defRPr sz="1200" b="0">
                <a:solidFill>
                  <a:srgbClr val="252525"/>
                </a:solidFill>
                <a:latin typeface="Arial"/>
                <a:ea typeface="Arial"/>
                <a:cs typeface="Arial"/>
              </a:defRPr>
            </a:pPr>
            <a:endParaRPr lang="en-US" sz="1200" b="0" dirty="0">
              <a:solidFill>
                <a:srgbClr val="252525"/>
              </a:solidFill>
              <a:latin typeface="Arial"/>
              <a:ea typeface="Arial"/>
              <a:cs typeface="Arial"/>
            </a:endParaRPr>
          </a:p>
          <a:p>
            <a:pPr marL="285750" indent="-285750">
              <a:spcAft>
                <a:spcPts val="1200"/>
              </a:spcAft>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cs typeface="Arial"/>
              </a:rPr>
              <a:t>Recipe materials</a:t>
            </a:r>
          </a:p>
          <a:p>
            <a:pPr marL="285750" indent="-285750">
              <a:spcAft>
                <a:spcPts val="1200"/>
              </a:spcAft>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cs typeface="Arial"/>
              </a:rPr>
              <a:t>Production quantity</a:t>
            </a:r>
          </a:p>
          <a:p>
            <a:pPr marL="285750" indent="-285750">
              <a:spcAft>
                <a:spcPts val="1200"/>
              </a:spcAft>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cs typeface="Arial"/>
              </a:rPr>
              <a:t>Raw stock reduction</a:t>
            </a:r>
          </a:p>
          <a:p>
            <a:pPr marL="285750" indent="-285750">
              <a:spcAft>
                <a:spcPts val="1200"/>
              </a:spcAft>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cs typeface="Arial"/>
              </a:rPr>
              <a:t>Finished stock increase</a:t>
            </a:r>
          </a:p>
        </p:txBody>
      </p:sp>
      <p:sp>
        <p:nvSpPr>
          <p:cNvPr id="3" name="Rectangle 2">
            <a:extLst>
              <a:ext uri="{FF2B5EF4-FFF2-40B4-BE49-F238E27FC236}">
                <a16:creationId xmlns:a16="http://schemas.microsoft.com/office/drawing/2014/main" id="{037CBF88-F6B0-D504-4883-29F91E31BD17}"/>
              </a:ext>
            </a:extLst>
          </p:cNvPr>
          <p:cNvSpPr>
            <a:spLocks noGrp="1"/>
          </p:cNvSpPr>
          <p:nvPr/>
        </p:nvSpPr>
        <p:spPr>
          <a:xfrm>
            <a:off x="514350" y="6419850"/>
            <a:ext cx="11096625" cy="9525"/>
          </a:xfrm>
          <a:prstGeom prst="rect">
            <a:avLst/>
          </a:prstGeom>
          <a:solidFill>
            <a:srgbClr val="C9D2D8"/>
          </a:solidFill>
          <a:ln w="0">
            <a:noFill/>
            <a:prstDash val="solid"/>
          </a:ln>
        </p:spPr>
        <p:txBody>
          <a:bodyPr/>
          <a:lstStyle/>
          <a:p>
            <a:endParaRPr lang="en-US"/>
          </a:p>
        </p:txBody>
      </p:sp>
      <p:sp>
        <p:nvSpPr>
          <p:cNvPr id="7" name="Rectangle 6">
            <a:extLst>
              <a:ext uri="{FF2B5EF4-FFF2-40B4-BE49-F238E27FC236}">
                <a16:creationId xmlns:a16="http://schemas.microsoft.com/office/drawing/2014/main" id="{5F1F808A-5C9D-F52A-EE6D-B6BA2D9C4170}"/>
              </a:ext>
            </a:extLst>
          </p:cNvPr>
          <p:cNvSpPr>
            <a:spLocks noGrp="1"/>
          </p:cNvSpPr>
          <p:nvPr/>
        </p:nvSpPr>
        <p:spPr>
          <a:xfrm>
            <a:off x="514350" y="6505575"/>
            <a:ext cx="3333750" cy="209550"/>
          </a:xfrm>
          <a:prstGeom prst="rect">
            <a:avLst/>
          </a:prstGeom>
          <a:noFill/>
          <a:ln w="0">
            <a:noFill/>
            <a:prstDash val="solid"/>
          </a:ln>
        </p:spPr>
        <p:txBody>
          <a:bodyPr anchor="ctr">
            <a:normAutofit fontScale="93939" lnSpcReduction="10000"/>
          </a:bodyPr>
          <a:lstStyle/>
          <a:p>
            <a:pPr algn="l">
              <a:defRPr sz="825" b="0">
                <a:solidFill>
                  <a:srgbClr val="5F6B76"/>
                </a:solidFill>
                <a:latin typeface="Arial"/>
                <a:ea typeface="Arial"/>
                <a:cs typeface="Arial"/>
              </a:defRPr>
            </a:pPr>
            <a:r>
              <a:rPr sz="825" b="0" dirty="0" err="1">
                <a:solidFill>
                  <a:srgbClr val="5F6B76"/>
                </a:solidFill>
                <a:latin typeface="Arial"/>
                <a:ea typeface="Arial"/>
                <a:cs typeface="Arial"/>
              </a:rPr>
              <a:t>BizTrack</a:t>
            </a:r>
            <a:r>
              <a:rPr sz="825" b="0" dirty="0">
                <a:solidFill>
                  <a:srgbClr val="5F6B76"/>
                </a:solidFill>
                <a:latin typeface="Arial"/>
                <a:ea typeface="Arial"/>
                <a:cs typeface="Arial"/>
              </a:rPr>
              <a:t> • </a:t>
            </a:r>
            <a:r>
              <a:rPr lang="en-US" sz="825" b="0" dirty="0">
                <a:solidFill>
                  <a:srgbClr val="5F6B76"/>
                </a:solidFill>
                <a:latin typeface="Arial"/>
                <a:ea typeface="Arial"/>
                <a:cs typeface="Arial"/>
              </a:rPr>
              <a:t>A Complete Business Accounting Management System</a:t>
            </a:r>
            <a:endParaRPr sz="825" b="0" dirty="0">
              <a:solidFill>
                <a:srgbClr val="5F6B76"/>
              </a:solidFill>
              <a:latin typeface="Arial"/>
              <a:ea typeface="Arial"/>
              <a:cs typeface="Arial"/>
            </a:endParaRPr>
          </a:p>
        </p:txBody>
      </p:sp>
      <p:sp>
        <p:nvSpPr>
          <p:cNvPr id="14" name="Rectangle 13">
            <a:extLst>
              <a:ext uri="{FF2B5EF4-FFF2-40B4-BE49-F238E27FC236}">
                <a16:creationId xmlns:a16="http://schemas.microsoft.com/office/drawing/2014/main" id="{E031168B-7C5D-53B5-0D48-9E440C90F79F}"/>
              </a:ext>
            </a:extLst>
          </p:cNvPr>
          <p:cNvSpPr>
            <a:spLocks noGrp="1"/>
          </p:cNvSpPr>
          <p:nvPr/>
        </p:nvSpPr>
        <p:spPr>
          <a:xfrm>
            <a:off x="11049000" y="6505575"/>
            <a:ext cx="552450" cy="209550"/>
          </a:xfrm>
          <a:prstGeom prst="rect">
            <a:avLst/>
          </a:prstGeom>
          <a:noFill/>
          <a:ln w="0">
            <a:noFill/>
            <a:prstDash val="solid"/>
          </a:ln>
        </p:spPr>
        <p:txBody>
          <a:bodyPr anchor="ctr">
            <a:normAutofit fontScale="93939" lnSpcReduction="10000"/>
          </a:bodyPr>
          <a:lstStyle/>
          <a:p>
            <a:pPr algn="r">
              <a:defRPr sz="825" b="1">
                <a:solidFill>
                  <a:srgbClr val="5F6B76"/>
                </a:solidFill>
                <a:latin typeface="Arial"/>
                <a:ea typeface="Arial"/>
                <a:cs typeface="Arial"/>
              </a:defRPr>
            </a:pPr>
            <a:r>
              <a:rPr lang="en-US" sz="825" b="1" dirty="0">
                <a:solidFill>
                  <a:srgbClr val="5F6B76"/>
                </a:solidFill>
                <a:latin typeface="Arial"/>
                <a:ea typeface="Arial"/>
                <a:cs typeface="Arial"/>
              </a:rPr>
              <a:t>14</a:t>
            </a:r>
            <a:endParaRPr sz="825" b="1" dirty="0">
              <a:solidFill>
                <a:srgbClr val="5F6B76"/>
              </a:solidFill>
              <a:latin typeface="Arial"/>
              <a:ea typeface="Arial"/>
              <a:cs typeface="Arial"/>
            </a:endParaRPr>
          </a:p>
        </p:txBody>
      </p:sp>
      <p:pic>
        <p:nvPicPr>
          <p:cNvPr id="16" name="Picture 15">
            <a:extLst>
              <a:ext uri="{FF2B5EF4-FFF2-40B4-BE49-F238E27FC236}">
                <a16:creationId xmlns:a16="http://schemas.microsoft.com/office/drawing/2014/main" id="{10EFADDB-AF9C-E182-36A8-498CA0C965F6}"/>
              </a:ext>
            </a:extLst>
          </p:cNvPr>
          <p:cNvPicPr>
            <a:picLocks noChangeAspect="1"/>
          </p:cNvPicPr>
          <p:nvPr/>
        </p:nvPicPr>
        <p:blipFill>
          <a:blip r:embed="rId3"/>
          <a:stretch>
            <a:fillRect/>
          </a:stretch>
        </p:blipFill>
        <p:spPr>
          <a:xfrm>
            <a:off x="667512" y="1169198"/>
            <a:ext cx="5143039" cy="4794686"/>
          </a:xfrm>
          <a:prstGeom prst="rect">
            <a:avLst/>
          </a:prstGeom>
        </p:spPr>
      </p:pic>
      <p:pic>
        <p:nvPicPr>
          <p:cNvPr id="18" name="Picture 17">
            <a:extLst>
              <a:ext uri="{FF2B5EF4-FFF2-40B4-BE49-F238E27FC236}">
                <a16:creationId xmlns:a16="http://schemas.microsoft.com/office/drawing/2014/main" id="{F38D0A0E-CC4F-C8DC-C932-18DCEE2DAD1D}"/>
              </a:ext>
            </a:extLst>
          </p:cNvPr>
          <p:cNvPicPr>
            <a:picLocks noChangeAspect="1"/>
          </p:cNvPicPr>
          <p:nvPr/>
        </p:nvPicPr>
        <p:blipFill>
          <a:blip r:embed="rId4"/>
          <a:srcRect r="11125"/>
          <a:stretch>
            <a:fillRect/>
          </a:stretch>
        </p:blipFill>
        <p:spPr>
          <a:xfrm>
            <a:off x="6115240" y="2780455"/>
            <a:ext cx="5844157" cy="3183429"/>
          </a:xfrm>
          <a:prstGeom prst="rect">
            <a:avLst/>
          </a:prstGeom>
        </p:spPr>
      </p:pic>
    </p:spTree>
    <p:extLst>
      <p:ext uri="{BB962C8B-B14F-4D97-AF65-F5344CB8AC3E}">
        <p14:creationId xmlns:p14="http://schemas.microsoft.com/office/powerpoint/2010/main" val="515803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AF831-1556-4E11-4BE9-07ACE99D951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0B5B491-762A-36A6-3034-C8AD47A2B321}"/>
              </a:ext>
            </a:extLst>
          </p:cNvPr>
          <p:cNvSpPr>
            <a:spLocks noGrp="1"/>
          </p:cNvSpPr>
          <p:nvPr/>
        </p:nvSpPr>
        <p:spPr>
          <a:xfrm>
            <a:off x="578358" y="245102"/>
            <a:ext cx="6094476" cy="461665"/>
          </a:xfrm>
          <a:prstGeom prst="rect">
            <a:avLst/>
          </a:prstGeom>
          <a:noFill/>
        </p:spPr>
        <p:txBody>
          <a:bodyPr wrap="square">
            <a:spAutoFit/>
          </a:bodyPr>
          <a:lstStyle/>
          <a:p>
            <a:r>
              <a:rPr sz="2400" b="1" dirty="0">
                <a:latin typeface="Arial"/>
                <a:ea typeface="Arial"/>
                <a:cs typeface="Arial"/>
              </a:rPr>
              <a:t>Software </a:t>
            </a:r>
            <a:r>
              <a:rPr lang="en-US" sz="2400" b="1" dirty="0">
                <a:latin typeface="Arial"/>
                <a:ea typeface="Arial"/>
                <a:cs typeface="Arial"/>
              </a:rPr>
              <a:t>Screenshot </a:t>
            </a:r>
            <a:r>
              <a:rPr sz="2400" b="1" dirty="0">
                <a:latin typeface="Arial"/>
                <a:ea typeface="Arial"/>
                <a:cs typeface="Arial"/>
              </a:rPr>
              <a:t>: Manufacturing</a:t>
            </a:r>
          </a:p>
        </p:txBody>
      </p:sp>
      <p:sp>
        <p:nvSpPr>
          <p:cNvPr id="5" name="Rectangle 4">
            <a:extLst>
              <a:ext uri="{FF2B5EF4-FFF2-40B4-BE49-F238E27FC236}">
                <a16:creationId xmlns:a16="http://schemas.microsoft.com/office/drawing/2014/main" id="{1AFA01CF-A088-B889-9741-89FF0729C254}"/>
              </a:ext>
            </a:extLst>
          </p:cNvPr>
          <p:cNvSpPr>
            <a:spLocks noGrp="1"/>
          </p:cNvSpPr>
          <p:nvPr/>
        </p:nvSpPr>
        <p:spPr>
          <a:xfrm>
            <a:off x="667512" y="706767"/>
            <a:ext cx="1307592" cy="7961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A23EA574-8F5B-36BD-BAFC-FA6AA69C1318}"/>
              </a:ext>
            </a:extLst>
          </p:cNvPr>
          <p:cNvSpPr>
            <a:spLocks noGrp="1"/>
          </p:cNvSpPr>
          <p:nvPr/>
        </p:nvSpPr>
        <p:spPr>
          <a:xfrm>
            <a:off x="9373552" y="678101"/>
            <a:ext cx="2714625" cy="3048000"/>
          </a:xfrm>
          <a:prstGeom prst="rect">
            <a:avLst/>
          </a:prstGeom>
          <a:noFill/>
          <a:ln w="0">
            <a:noFill/>
            <a:prstDash val="solid"/>
          </a:ln>
        </p:spPr>
        <p:txBody>
          <a:bodyPr anchor="t">
            <a:normAutofit/>
          </a:bodyPr>
          <a:lstStyle/>
          <a:p>
            <a:pPr>
              <a:defRPr sz="1200" b="0">
                <a:solidFill>
                  <a:srgbClr val="252525"/>
                </a:solidFill>
                <a:latin typeface="Arial"/>
                <a:ea typeface="Arial"/>
                <a:cs typeface="Arial"/>
              </a:defRPr>
            </a:pPr>
            <a:r>
              <a:rPr lang="en-US" sz="1600" b="1" dirty="0">
                <a:solidFill>
                  <a:srgbClr val="252525"/>
                </a:solidFill>
                <a:latin typeface="Arial"/>
                <a:ea typeface="Arial"/>
                <a:cs typeface="Arial"/>
              </a:rPr>
              <a:t>Key points</a:t>
            </a:r>
          </a:p>
          <a:p>
            <a:pPr algn="l">
              <a:defRPr sz="1200" b="0">
                <a:solidFill>
                  <a:srgbClr val="252525"/>
                </a:solidFill>
                <a:latin typeface="Arial"/>
                <a:ea typeface="Arial"/>
                <a:cs typeface="Arial"/>
              </a:defRPr>
            </a:pPr>
            <a:endParaRPr lang="en-US" sz="1200" b="0" dirty="0">
              <a:solidFill>
                <a:srgbClr val="252525"/>
              </a:solidFill>
              <a:latin typeface="Arial"/>
              <a:ea typeface="Arial"/>
              <a:cs typeface="Arial"/>
            </a:endParaRPr>
          </a:p>
          <a:p>
            <a:pPr marL="285750" indent="-285750">
              <a:spcAft>
                <a:spcPts val="1200"/>
              </a:spcAft>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cs typeface="Arial"/>
              </a:rPr>
              <a:t>Recipe materials</a:t>
            </a:r>
          </a:p>
          <a:p>
            <a:pPr marL="285750" indent="-285750">
              <a:spcAft>
                <a:spcPts val="1200"/>
              </a:spcAft>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cs typeface="Arial"/>
              </a:rPr>
              <a:t>Production quantity</a:t>
            </a:r>
          </a:p>
          <a:p>
            <a:pPr marL="285750" indent="-285750">
              <a:spcAft>
                <a:spcPts val="1200"/>
              </a:spcAft>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cs typeface="Arial"/>
              </a:rPr>
              <a:t>Raw stock reduction</a:t>
            </a:r>
          </a:p>
          <a:p>
            <a:pPr marL="285750" indent="-285750">
              <a:spcAft>
                <a:spcPts val="1200"/>
              </a:spcAft>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cs typeface="Arial"/>
              </a:rPr>
              <a:t>Finished stock increase</a:t>
            </a:r>
          </a:p>
        </p:txBody>
      </p:sp>
      <p:sp>
        <p:nvSpPr>
          <p:cNvPr id="3" name="Rectangle 2">
            <a:extLst>
              <a:ext uri="{FF2B5EF4-FFF2-40B4-BE49-F238E27FC236}">
                <a16:creationId xmlns:a16="http://schemas.microsoft.com/office/drawing/2014/main" id="{001F31D8-6970-D9B0-9405-C374FBC6070C}"/>
              </a:ext>
            </a:extLst>
          </p:cNvPr>
          <p:cNvSpPr>
            <a:spLocks noGrp="1"/>
          </p:cNvSpPr>
          <p:nvPr/>
        </p:nvSpPr>
        <p:spPr>
          <a:xfrm>
            <a:off x="514350" y="6419850"/>
            <a:ext cx="11096625" cy="9525"/>
          </a:xfrm>
          <a:prstGeom prst="rect">
            <a:avLst/>
          </a:prstGeom>
          <a:solidFill>
            <a:srgbClr val="C9D2D8"/>
          </a:solidFill>
          <a:ln w="0">
            <a:noFill/>
            <a:prstDash val="solid"/>
          </a:ln>
        </p:spPr>
        <p:txBody>
          <a:bodyPr/>
          <a:lstStyle/>
          <a:p>
            <a:endParaRPr lang="en-US"/>
          </a:p>
        </p:txBody>
      </p:sp>
      <p:sp>
        <p:nvSpPr>
          <p:cNvPr id="7" name="Rectangle 6">
            <a:extLst>
              <a:ext uri="{FF2B5EF4-FFF2-40B4-BE49-F238E27FC236}">
                <a16:creationId xmlns:a16="http://schemas.microsoft.com/office/drawing/2014/main" id="{F59C977B-4582-2E8E-899B-A54DE68F0E17}"/>
              </a:ext>
            </a:extLst>
          </p:cNvPr>
          <p:cNvSpPr>
            <a:spLocks noGrp="1"/>
          </p:cNvSpPr>
          <p:nvPr/>
        </p:nvSpPr>
        <p:spPr>
          <a:xfrm>
            <a:off x="514350" y="6505575"/>
            <a:ext cx="3333750" cy="209550"/>
          </a:xfrm>
          <a:prstGeom prst="rect">
            <a:avLst/>
          </a:prstGeom>
          <a:noFill/>
          <a:ln w="0">
            <a:noFill/>
            <a:prstDash val="solid"/>
          </a:ln>
        </p:spPr>
        <p:txBody>
          <a:bodyPr anchor="ctr">
            <a:normAutofit fontScale="93939" lnSpcReduction="10000"/>
          </a:bodyPr>
          <a:lstStyle/>
          <a:p>
            <a:pPr algn="l">
              <a:defRPr sz="825" b="0">
                <a:solidFill>
                  <a:srgbClr val="5F6B76"/>
                </a:solidFill>
                <a:latin typeface="Arial"/>
                <a:ea typeface="Arial"/>
                <a:cs typeface="Arial"/>
              </a:defRPr>
            </a:pPr>
            <a:r>
              <a:rPr sz="825" b="0" dirty="0" err="1">
                <a:solidFill>
                  <a:srgbClr val="5F6B76"/>
                </a:solidFill>
                <a:latin typeface="Arial"/>
                <a:ea typeface="Arial"/>
                <a:cs typeface="Arial"/>
              </a:rPr>
              <a:t>BizTrack</a:t>
            </a:r>
            <a:r>
              <a:rPr sz="825" b="0" dirty="0">
                <a:solidFill>
                  <a:srgbClr val="5F6B76"/>
                </a:solidFill>
                <a:latin typeface="Arial"/>
                <a:ea typeface="Arial"/>
                <a:cs typeface="Arial"/>
              </a:rPr>
              <a:t> • </a:t>
            </a:r>
            <a:r>
              <a:rPr lang="en-US" sz="825" b="0" dirty="0">
                <a:solidFill>
                  <a:srgbClr val="5F6B76"/>
                </a:solidFill>
                <a:latin typeface="Arial"/>
                <a:ea typeface="Arial"/>
                <a:cs typeface="Arial"/>
              </a:rPr>
              <a:t>A Complete Business Accounting Management System</a:t>
            </a:r>
            <a:endParaRPr sz="825" b="0" dirty="0">
              <a:solidFill>
                <a:srgbClr val="5F6B76"/>
              </a:solidFill>
              <a:latin typeface="Arial"/>
              <a:ea typeface="Arial"/>
              <a:cs typeface="Arial"/>
            </a:endParaRPr>
          </a:p>
        </p:txBody>
      </p:sp>
      <p:sp>
        <p:nvSpPr>
          <p:cNvPr id="14" name="Rectangle 13">
            <a:extLst>
              <a:ext uri="{FF2B5EF4-FFF2-40B4-BE49-F238E27FC236}">
                <a16:creationId xmlns:a16="http://schemas.microsoft.com/office/drawing/2014/main" id="{4420FE85-63CF-C5F7-E108-F5F4AFFBC7DB}"/>
              </a:ext>
            </a:extLst>
          </p:cNvPr>
          <p:cNvSpPr>
            <a:spLocks noGrp="1"/>
          </p:cNvSpPr>
          <p:nvPr/>
        </p:nvSpPr>
        <p:spPr>
          <a:xfrm>
            <a:off x="11049000" y="6505575"/>
            <a:ext cx="552450" cy="209550"/>
          </a:xfrm>
          <a:prstGeom prst="rect">
            <a:avLst/>
          </a:prstGeom>
          <a:noFill/>
          <a:ln w="0">
            <a:noFill/>
            <a:prstDash val="solid"/>
          </a:ln>
        </p:spPr>
        <p:txBody>
          <a:bodyPr anchor="ctr">
            <a:normAutofit fontScale="93939" lnSpcReduction="10000"/>
          </a:bodyPr>
          <a:lstStyle/>
          <a:p>
            <a:pPr algn="r">
              <a:defRPr sz="825" b="1">
                <a:solidFill>
                  <a:srgbClr val="5F6B76"/>
                </a:solidFill>
                <a:latin typeface="Arial"/>
                <a:ea typeface="Arial"/>
                <a:cs typeface="Arial"/>
              </a:defRPr>
            </a:pPr>
            <a:r>
              <a:rPr lang="en-US" sz="825" b="1" dirty="0">
                <a:solidFill>
                  <a:srgbClr val="5F6B76"/>
                </a:solidFill>
                <a:latin typeface="Arial"/>
                <a:ea typeface="Arial"/>
                <a:cs typeface="Arial"/>
              </a:rPr>
              <a:t>14</a:t>
            </a:r>
            <a:endParaRPr sz="825" b="1" dirty="0">
              <a:solidFill>
                <a:srgbClr val="5F6B76"/>
              </a:solidFill>
              <a:latin typeface="Arial"/>
              <a:ea typeface="Arial"/>
              <a:cs typeface="Arial"/>
            </a:endParaRPr>
          </a:p>
        </p:txBody>
      </p:sp>
      <p:pic>
        <p:nvPicPr>
          <p:cNvPr id="16" name="Picture 15">
            <a:extLst>
              <a:ext uri="{FF2B5EF4-FFF2-40B4-BE49-F238E27FC236}">
                <a16:creationId xmlns:a16="http://schemas.microsoft.com/office/drawing/2014/main" id="{B48CD2FD-A95E-1649-37F1-32CDE68790F4}"/>
              </a:ext>
            </a:extLst>
          </p:cNvPr>
          <p:cNvPicPr>
            <a:picLocks noChangeAspect="1"/>
          </p:cNvPicPr>
          <p:nvPr/>
        </p:nvPicPr>
        <p:blipFill>
          <a:blip r:embed="rId3"/>
          <a:stretch>
            <a:fillRect/>
          </a:stretch>
        </p:blipFill>
        <p:spPr>
          <a:xfrm>
            <a:off x="715518" y="1042198"/>
            <a:ext cx="7991856" cy="7450544"/>
          </a:xfrm>
          <a:prstGeom prst="rect">
            <a:avLst/>
          </a:prstGeom>
        </p:spPr>
      </p:pic>
      <p:pic>
        <p:nvPicPr>
          <p:cNvPr id="18" name="Picture 17">
            <a:extLst>
              <a:ext uri="{FF2B5EF4-FFF2-40B4-BE49-F238E27FC236}">
                <a16:creationId xmlns:a16="http://schemas.microsoft.com/office/drawing/2014/main" id="{D9C72955-8CD3-FE36-D4FB-B723A0EAE0F6}"/>
              </a:ext>
            </a:extLst>
          </p:cNvPr>
          <p:cNvPicPr>
            <a:picLocks noChangeAspect="1"/>
          </p:cNvPicPr>
          <p:nvPr/>
        </p:nvPicPr>
        <p:blipFill>
          <a:blip r:embed="rId4"/>
          <a:srcRect r="11125"/>
          <a:stretch>
            <a:fillRect/>
          </a:stretch>
        </p:blipFill>
        <p:spPr>
          <a:xfrm>
            <a:off x="12267628" y="4322271"/>
            <a:ext cx="5844157" cy="3183429"/>
          </a:xfrm>
          <a:prstGeom prst="rect">
            <a:avLst/>
          </a:prstGeom>
        </p:spPr>
      </p:pic>
    </p:spTree>
    <p:extLst>
      <p:ext uri="{BB962C8B-B14F-4D97-AF65-F5344CB8AC3E}">
        <p14:creationId xmlns:p14="http://schemas.microsoft.com/office/powerpoint/2010/main" val="34695809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54621-8A1F-0468-A3F7-6945785B326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09FA0C3-D932-4B01-2863-D805AABDEB2E}"/>
              </a:ext>
            </a:extLst>
          </p:cNvPr>
          <p:cNvSpPr>
            <a:spLocks noGrp="1"/>
          </p:cNvSpPr>
          <p:nvPr/>
        </p:nvSpPr>
        <p:spPr>
          <a:xfrm>
            <a:off x="578358" y="245102"/>
            <a:ext cx="6094476" cy="461665"/>
          </a:xfrm>
          <a:prstGeom prst="rect">
            <a:avLst/>
          </a:prstGeom>
          <a:noFill/>
        </p:spPr>
        <p:txBody>
          <a:bodyPr wrap="square">
            <a:spAutoFit/>
          </a:bodyPr>
          <a:lstStyle/>
          <a:p>
            <a:r>
              <a:rPr sz="2400" b="1" dirty="0">
                <a:latin typeface="Arial"/>
                <a:ea typeface="Arial"/>
                <a:cs typeface="Arial"/>
              </a:rPr>
              <a:t>Software </a:t>
            </a:r>
            <a:r>
              <a:rPr lang="en-US" sz="2400" b="1" dirty="0">
                <a:latin typeface="Arial"/>
                <a:ea typeface="Arial"/>
                <a:cs typeface="Arial"/>
              </a:rPr>
              <a:t>Screenshot </a:t>
            </a:r>
            <a:r>
              <a:rPr sz="2400" b="1" dirty="0">
                <a:latin typeface="Arial"/>
                <a:ea typeface="Arial"/>
                <a:cs typeface="Arial"/>
              </a:rPr>
              <a:t>: Manufacturing</a:t>
            </a:r>
          </a:p>
        </p:txBody>
      </p:sp>
      <p:sp>
        <p:nvSpPr>
          <p:cNvPr id="5" name="Rectangle 4">
            <a:extLst>
              <a:ext uri="{FF2B5EF4-FFF2-40B4-BE49-F238E27FC236}">
                <a16:creationId xmlns:a16="http://schemas.microsoft.com/office/drawing/2014/main" id="{9E048E5D-3C70-5390-47C2-F2DF95EAEE11}"/>
              </a:ext>
            </a:extLst>
          </p:cNvPr>
          <p:cNvSpPr>
            <a:spLocks noGrp="1"/>
          </p:cNvSpPr>
          <p:nvPr/>
        </p:nvSpPr>
        <p:spPr>
          <a:xfrm>
            <a:off x="667512" y="706767"/>
            <a:ext cx="1307592" cy="7961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CB7349FF-7685-C0AF-D5A5-03D2868D0228}"/>
              </a:ext>
            </a:extLst>
          </p:cNvPr>
          <p:cNvSpPr>
            <a:spLocks noGrp="1"/>
          </p:cNvSpPr>
          <p:nvPr/>
        </p:nvSpPr>
        <p:spPr>
          <a:xfrm>
            <a:off x="9373552" y="678101"/>
            <a:ext cx="2714625" cy="3048000"/>
          </a:xfrm>
          <a:prstGeom prst="rect">
            <a:avLst/>
          </a:prstGeom>
          <a:noFill/>
          <a:ln w="0">
            <a:noFill/>
            <a:prstDash val="solid"/>
          </a:ln>
        </p:spPr>
        <p:txBody>
          <a:bodyPr anchor="t">
            <a:normAutofit/>
          </a:bodyPr>
          <a:lstStyle/>
          <a:p>
            <a:pPr>
              <a:defRPr sz="1200" b="0">
                <a:solidFill>
                  <a:srgbClr val="252525"/>
                </a:solidFill>
                <a:latin typeface="Arial"/>
                <a:ea typeface="Arial"/>
                <a:cs typeface="Arial"/>
              </a:defRPr>
            </a:pPr>
            <a:r>
              <a:rPr lang="en-US" sz="1600" b="1" dirty="0">
                <a:solidFill>
                  <a:srgbClr val="252525"/>
                </a:solidFill>
                <a:latin typeface="Arial"/>
                <a:ea typeface="Arial"/>
                <a:cs typeface="Arial"/>
              </a:rPr>
              <a:t>Key points</a:t>
            </a:r>
          </a:p>
          <a:p>
            <a:pPr algn="l">
              <a:defRPr sz="1200" b="0">
                <a:solidFill>
                  <a:srgbClr val="252525"/>
                </a:solidFill>
                <a:latin typeface="Arial"/>
                <a:ea typeface="Arial"/>
                <a:cs typeface="Arial"/>
              </a:defRPr>
            </a:pPr>
            <a:endParaRPr lang="en-US" sz="1200" b="0" dirty="0">
              <a:solidFill>
                <a:srgbClr val="252525"/>
              </a:solidFill>
              <a:latin typeface="Arial"/>
              <a:ea typeface="Arial"/>
              <a:cs typeface="Arial"/>
            </a:endParaRPr>
          </a:p>
          <a:p>
            <a:pPr marL="285750" indent="-285750">
              <a:spcAft>
                <a:spcPts val="1200"/>
              </a:spcAft>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cs typeface="Arial"/>
              </a:rPr>
              <a:t>Recipe materials</a:t>
            </a:r>
          </a:p>
          <a:p>
            <a:pPr marL="285750" indent="-285750">
              <a:spcAft>
                <a:spcPts val="1200"/>
              </a:spcAft>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cs typeface="Arial"/>
              </a:rPr>
              <a:t>Production quantity</a:t>
            </a:r>
          </a:p>
          <a:p>
            <a:pPr marL="285750" indent="-285750">
              <a:spcAft>
                <a:spcPts val="1200"/>
              </a:spcAft>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cs typeface="Arial"/>
              </a:rPr>
              <a:t>Raw stock reduction</a:t>
            </a:r>
          </a:p>
          <a:p>
            <a:pPr marL="285750" indent="-285750">
              <a:spcAft>
                <a:spcPts val="1200"/>
              </a:spcAft>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cs typeface="Arial"/>
              </a:rPr>
              <a:t>Finished stock increase</a:t>
            </a:r>
          </a:p>
        </p:txBody>
      </p:sp>
      <p:sp>
        <p:nvSpPr>
          <p:cNvPr id="3" name="Rectangle 2">
            <a:extLst>
              <a:ext uri="{FF2B5EF4-FFF2-40B4-BE49-F238E27FC236}">
                <a16:creationId xmlns:a16="http://schemas.microsoft.com/office/drawing/2014/main" id="{BDE16D45-FDC0-5143-7E72-E43344ECB533}"/>
              </a:ext>
            </a:extLst>
          </p:cNvPr>
          <p:cNvSpPr>
            <a:spLocks noGrp="1"/>
          </p:cNvSpPr>
          <p:nvPr/>
        </p:nvSpPr>
        <p:spPr>
          <a:xfrm>
            <a:off x="514350" y="6419850"/>
            <a:ext cx="11096625" cy="9525"/>
          </a:xfrm>
          <a:prstGeom prst="rect">
            <a:avLst/>
          </a:prstGeom>
          <a:solidFill>
            <a:srgbClr val="C9D2D8"/>
          </a:solidFill>
          <a:ln w="0">
            <a:noFill/>
            <a:prstDash val="solid"/>
          </a:ln>
        </p:spPr>
        <p:txBody>
          <a:bodyPr/>
          <a:lstStyle/>
          <a:p>
            <a:endParaRPr lang="en-US"/>
          </a:p>
        </p:txBody>
      </p:sp>
      <p:sp>
        <p:nvSpPr>
          <p:cNvPr id="7" name="Rectangle 6">
            <a:extLst>
              <a:ext uri="{FF2B5EF4-FFF2-40B4-BE49-F238E27FC236}">
                <a16:creationId xmlns:a16="http://schemas.microsoft.com/office/drawing/2014/main" id="{2E8B65F7-B080-E57B-5074-423252E94BC4}"/>
              </a:ext>
            </a:extLst>
          </p:cNvPr>
          <p:cNvSpPr>
            <a:spLocks noGrp="1"/>
          </p:cNvSpPr>
          <p:nvPr/>
        </p:nvSpPr>
        <p:spPr>
          <a:xfrm>
            <a:off x="514350" y="6505575"/>
            <a:ext cx="3333750" cy="209550"/>
          </a:xfrm>
          <a:prstGeom prst="rect">
            <a:avLst/>
          </a:prstGeom>
          <a:noFill/>
          <a:ln w="0">
            <a:noFill/>
            <a:prstDash val="solid"/>
          </a:ln>
        </p:spPr>
        <p:txBody>
          <a:bodyPr anchor="ctr">
            <a:normAutofit fontScale="93939" lnSpcReduction="10000"/>
          </a:bodyPr>
          <a:lstStyle/>
          <a:p>
            <a:pPr algn="l">
              <a:defRPr sz="825" b="0">
                <a:solidFill>
                  <a:srgbClr val="5F6B76"/>
                </a:solidFill>
                <a:latin typeface="Arial"/>
                <a:ea typeface="Arial"/>
                <a:cs typeface="Arial"/>
              </a:defRPr>
            </a:pPr>
            <a:r>
              <a:rPr sz="825" b="0" dirty="0" err="1">
                <a:solidFill>
                  <a:srgbClr val="5F6B76"/>
                </a:solidFill>
                <a:latin typeface="Arial"/>
                <a:ea typeface="Arial"/>
                <a:cs typeface="Arial"/>
              </a:rPr>
              <a:t>BizTrack</a:t>
            </a:r>
            <a:r>
              <a:rPr sz="825" b="0" dirty="0">
                <a:solidFill>
                  <a:srgbClr val="5F6B76"/>
                </a:solidFill>
                <a:latin typeface="Arial"/>
                <a:ea typeface="Arial"/>
                <a:cs typeface="Arial"/>
              </a:rPr>
              <a:t> • </a:t>
            </a:r>
            <a:r>
              <a:rPr lang="en-US" sz="825" b="0" dirty="0">
                <a:solidFill>
                  <a:srgbClr val="5F6B76"/>
                </a:solidFill>
                <a:latin typeface="Arial"/>
                <a:ea typeface="Arial"/>
                <a:cs typeface="Arial"/>
              </a:rPr>
              <a:t>A Complete Business Accounting Management System</a:t>
            </a:r>
            <a:endParaRPr sz="825" b="0" dirty="0">
              <a:solidFill>
                <a:srgbClr val="5F6B76"/>
              </a:solidFill>
              <a:latin typeface="Arial"/>
              <a:ea typeface="Arial"/>
              <a:cs typeface="Arial"/>
            </a:endParaRPr>
          </a:p>
        </p:txBody>
      </p:sp>
      <p:sp>
        <p:nvSpPr>
          <p:cNvPr id="14" name="Rectangle 13">
            <a:extLst>
              <a:ext uri="{FF2B5EF4-FFF2-40B4-BE49-F238E27FC236}">
                <a16:creationId xmlns:a16="http://schemas.microsoft.com/office/drawing/2014/main" id="{A70CAEC4-7B0B-0CB6-96F9-558043BC3C4B}"/>
              </a:ext>
            </a:extLst>
          </p:cNvPr>
          <p:cNvSpPr>
            <a:spLocks noGrp="1"/>
          </p:cNvSpPr>
          <p:nvPr/>
        </p:nvSpPr>
        <p:spPr>
          <a:xfrm>
            <a:off x="11049000" y="6505575"/>
            <a:ext cx="552450" cy="209550"/>
          </a:xfrm>
          <a:prstGeom prst="rect">
            <a:avLst/>
          </a:prstGeom>
          <a:noFill/>
          <a:ln w="0">
            <a:noFill/>
            <a:prstDash val="solid"/>
          </a:ln>
        </p:spPr>
        <p:txBody>
          <a:bodyPr anchor="ctr">
            <a:normAutofit fontScale="93939" lnSpcReduction="10000"/>
          </a:bodyPr>
          <a:lstStyle/>
          <a:p>
            <a:pPr algn="r">
              <a:defRPr sz="825" b="1">
                <a:solidFill>
                  <a:srgbClr val="5F6B76"/>
                </a:solidFill>
                <a:latin typeface="Arial"/>
                <a:ea typeface="Arial"/>
                <a:cs typeface="Arial"/>
              </a:defRPr>
            </a:pPr>
            <a:r>
              <a:rPr lang="en-US" sz="825" b="1" dirty="0">
                <a:solidFill>
                  <a:srgbClr val="5F6B76"/>
                </a:solidFill>
                <a:latin typeface="Arial"/>
                <a:ea typeface="Arial"/>
                <a:cs typeface="Arial"/>
              </a:rPr>
              <a:t>14</a:t>
            </a:r>
            <a:endParaRPr sz="825" b="1" dirty="0">
              <a:solidFill>
                <a:srgbClr val="5F6B76"/>
              </a:solidFill>
              <a:latin typeface="Arial"/>
              <a:ea typeface="Arial"/>
              <a:cs typeface="Arial"/>
            </a:endParaRPr>
          </a:p>
        </p:txBody>
      </p:sp>
      <p:pic>
        <p:nvPicPr>
          <p:cNvPr id="16" name="Picture 15">
            <a:extLst>
              <a:ext uri="{FF2B5EF4-FFF2-40B4-BE49-F238E27FC236}">
                <a16:creationId xmlns:a16="http://schemas.microsoft.com/office/drawing/2014/main" id="{12FC32D4-5B2A-3435-E3C5-753066318522}"/>
              </a:ext>
            </a:extLst>
          </p:cNvPr>
          <p:cNvPicPr>
            <a:picLocks noChangeAspect="1"/>
          </p:cNvPicPr>
          <p:nvPr/>
        </p:nvPicPr>
        <p:blipFill>
          <a:blip r:embed="rId3"/>
          <a:stretch>
            <a:fillRect/>
          </a:stretch>
        </p:blipFill>
        <p:spPr>
          <a:xfrm>
            <a:off x="667512" y="-1650202"/>
            <a:ext cx="7991856" cy="7450544"/>
          </a:xfrm>
          <a:prstGeom prst="rect">
            <a:avLst/>
          </a:prstGeom>
          <a:solidFill>
            <a:schemeClr val="accent2"/>
          </a:solidFill>
        </p:spPr>
      </p:pic>
      <p:pic>
        <p:nvPicPr>
          <p:cNvPr id="18" name="Picture 17">
            <a:extLst>
              <a:ext uri="{FF2B5EF4-FFF2-40B4-BE49-F238E27FC236}">
                <a16:creationId xmlns:a16="http://schemas.microsoft.com/office/drawing/2014/main" id="{BA24ACA5-10F3-C24E-6D22-CEAE6A583EC8}"/>
              </a:ext>
            </a:extLst>
          </p:cNvPr>
          <p:cNvPicPr>
            <a:picLocks noChangeAspect="1"/>
          </p:cNvPicPr>
          <p:nvPr/>
        </p:nvPicPr>
        <p:blipFill>
          <a:blip r:embed="rId4"/>
          <a:srcRect r="11125"/>
          <a:stretch>
            <a:fillRect/>
          </a:stretch>
        </p:blipFill>
        <p:spPr>
          <a:xfrm>
            <a:off x="12267628" y="4322271"/>
            <a:ext cx="5844157" cy="3183429"/>
          </a:xfrm>
          <a:prstGeom prst="rect">
            <a:avLst/>
          </a:prstGeom>
        </p:spPr>
      </p:pic>
      <p:sp>
        <p:nvSpPr>
          <p:cNvPr id="6" name="Oval 5">
            <a:extLst>
              <a:ext uri="{FF2B5EF4-FFF2-40B4-BE49-F238E27FC236}">
                <a16:creationId xmlns:a16="http://schemas.microsoft.com/office/drawing/2014/main" id="{1C40BC79-3DFA-83DE-8C5D-2DB5D0F5B2F4}"/>
              </a:ext>
            </a:extLst>
          </p:cNvPr>
          <p:cNvSpPr/>
          <p:nvPr/>
        </p:nvSpPr>
        <p:spPr>
          <a:xfrm>
            <a:off x="5378164" y="5215485"/>
            <a:ext cx="2679700" cy="698500"/>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99937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C8709-A791-FEC7-00BD-C539F5A4447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68B9EF5-668C-22FF-58E2-CFB79EBA1D8D}"/>
              </a:ext>
            </a:extLst>
          </p:cNvPr>
          <p:cNvSpPr>
            <a:spLocks noGrp="1"/>
          </p:cNvSpPr>
          <p:nvPr/>
        </p:nvSpPr>
        <p:spPr>
          <a:xfrm>
            <a:off x="578358" y="245102"/>
            <a:ext cx="6094476" cy="461665"/>
          </a:xfrm>
          <a:prstGeom prst="rect">
            <a:avLst/>
          </a:prstGeom>
          <a:noFill/>
        </p:spPr>
        <p:txBody>
          <a:bodyPr wrap="square">
            <a:spAutoFit/>
          </a:bodyPr>
          <a:lstStyle/>
          <a:p>
            <a:r>
              <a:rPr sz="2400" b="1" dirty="0">
                <a:latin typeface="Arial"/>
                <a:ea typeface="Arial"/>
                <a:cs typeface="Arial"/>
              </a:rPr>
              <a:t>Software </a:t>
            </a:r>
            <a:r>
              <a:rPr lang="en-US" sz="2400" b="1" dirty="0">
                <a:latin typeface="Arial"/>
                <a:ea typeface="Arial"/>
                <a:cs typeface="Arial"/>
              </a:rPr>
              <a:t>Screenshot </a:t>
            </a:r>
            <a:r>
              <a:rPr sz="2400" b="1" dirty="0">
                <a:latin typeface="Arial"/>
                <a:ea typeface="Arial"/>
                <a:cs typeface="Arial"/>
              </a:rPr>
              <a:t>: Manufacturing</a:t>
            </a:r>
          </a:p>
        </p:txBody>
      </p:sp>
      <p:sp>
        <p:nvSpPr>
          <p:cNvPr id="5" name="Rectangle 4">
            <a:extLst>
              <a:ext uri="{FF2B5EF4-FFF2-40B4-BE49-F238E27FC236}">
                <a16:creationId xmlns:a16="http://schemas.microsoft.com/office/drawing/2014/main" id="{3F1E4E91-C9D1-8824-E404-BB4AF20958AA}"/>
              </a:ext>
            </a:extLst>
          </p:cNvPr>
          <p:cNvSpPr>
            <a:spLocks noGrp="1"/>
          </p:cNvSpPr>
          <p:nvPr/>
        </p:nvSpPr>
        <p:spPr>
          <a:xfrm>
            <a:off x="667512" y="706767"/>
            <a:ext cx="1307592" cy="7961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959CC483-4EB5-9CB2-9E8B-DE7A9A232D2A}"/>
              </a:ext>
            </a:extLst>
          </p:cNvPr>
          <p:cNvSpPr>
            <a:spLocks noGrp="1"/>
          </p:cNvSpPr>
          <p:nvPr/>
        </p:nvSpPr>
        <p:spPr>
          <a:xfrm>
            <a:off x="9373552" y="678101"/>
            <a:ext cx="2714625" cy="3048000"/>
          </a:xfrm>
          <a:prstGeom prst="rect">
            <a:avLst/>
          </a:prstGeom>
          <a:noFill/>
          <a:ln w="0">
            <a:noFill/>
            <a:prstDash val="solid"/>
          </a:ln>
        </p:spPr>
        <p:txBody>
          <a:bodyPr anchor="t">
            <a:normAutofit/>
          </a:bodyPr>
          <a:lstStyle/>
          <a:p>
            <a:pPr>
              <a:defRPr sz="1200" b="0">
                <a:solidFill>
                  <a:srgbClr val="252525"/>
                </a:solidFill>
                <a:latin typeface="Arial"/>
                <a:ea typeface="Arial"/>
                <a:cs typeface="Arial"/>
              </a:defRPr>
            </a:pPr>
            <a:r>
              <a:rPr lang="en-US" sz="1600" b="1" dirty="0">
                <a:solidFill>
                  <a:srgbClr val="252525"/>
                </a:solidFill>
                <a:latin typeface="Arial"/>
                <a:ea typeface="Arial"/>
                <a:cs typeface="Arial"/>
              </a:rPr>
              <a:t>Key points</a:t>
            </a:r>
          </a:p>
          <a:p>
            <a:pPr algn="l">
              <a:defRPr sz="1200" b="0">
                <a:solidFill>
                  <a:srgbClr val="252525"/>
                </a:solidFill>
                <a:latin typeface="Arial"/>
                <a:ea typeface="Arial"/>
                <a:cs typeface="Arial"/>
              </a:defRPr>
            </a:pPr>
            <a:endParaRPr lang="en-US" sz="1200" b="0" dirty="0">
              <a:solidFill>
                <a:srgbClr val="252525"/>
              </a:solidFill>
              <a:latin typeface="Arial"/>
              <a:ea typeface="Arial"/>
              <a:cs typeface="Arial"/>
            </a:endParaRPr>
          </a:p>
          <a:p>
            <a:pPr marL="285750" indent="-285750">
              <a:spcAft>
                <a:spcPts val="1200"/>
              </a:spcAft>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cs typeface="Arial"/>
              </a:rPr>
              <a:t>Recipe materials</a:t>
            </a:r>
          </a:p>
          <a:p>
            <a:pPr marL="285750" indent="-285750">
              <a:spcAft>
                <a:spcPts val="1200"/>
              </a:spcAft>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cs typeface="Arial"/>
              </a:rPr>
              <a:t>Production quantity</a:t>
            </a:r>
          </a:p>
          <a:p>
            <a:pPr marL="285750" indent="-285750">
              <a:spcAft>
                <a:spcPts val="1200"/>
              </a:spcAft>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cs typeface="Arial"/>
              </a:rPr>
              <a:t>Raw stock reduction</a:t>
            </a:r>
          </a:p>
          <a:p>
            <a:pPr marL="285750" indent="-285750">
              <a:spcAft>
                <a:spcPts val="1200"/>
              </a:spcAft>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cs typeface="Arial"/>
              </a:rPr>
              <a:t>Finished stock increase</a:t>
            </a:r>
          </a:p>
        </p:txBody>
      </p:sp>
      <p:sp>
        <p:nvSpPr>
          <p:cNvPr id="3" name="Rectangle 2">
            <a:extLst>
              <a:ext uri="{FF2B5EF4-FFF2-40B4-BE49-F238E27FC236}">
                <a16:creationId xmlns:a16="http://schemas.microsoft.com/office/drawing/2014/main" id="{A7E635E8-C943-831B-8443-51B8B0E18BEB}"/>
              </a:ext>
            </a:extLst>
          </p:cNvPr>
          <p:cNvSpPr>
            <a:spLocks noGrp="1"/>
          </p:cNvSpPr>
          <p:nvPr/>
        </p:nvSpPr>
        <p:spPr>
          <a:xfrm>
            <a:off x="514350" y="6419850"/>
            <a:ext cx="11096625" cy="9525"/>
          </a:xfrm>
          <a:prstGeom prst="rect">
            <a:avLst/>
          </a:prstGeom>
          <a:solidFill>
            <a:srgbClr val="C9D2D8"/>
          </a:solidFill>
          <a:ln w="0">
            <a:noFill/>
            <a:prstDash val="solid"/>
          </a:ln>
        </p:spPr>
        <p:txBody>
          <a:bodyPr/>
          <a:lstStyle/>
          <a:p>
            <a:endParaRPr lang="en-US"/>
          </a:p>
        </p:txBody>
      </p:sp>
      <p:sp>
        <p:nvSpPr>
          <p:cNvPr id="7" name="Rectangle 6">
            <a:extLst>
              <a:ext uri="{FF2B5EF4-FFF2-40B4-BE49-F238E27FC236}">
                <a16:creationId xmlns:a16="http://schemas.microsoft.com/office/drawing/2014/main" id="{8B0014B6-7FC8-3629-3CB7-C14C9715FFF6}"/>
              </a:ext>
            </a:extLst>
          </p:cNvPr>
          <p:cNvSpPr>
            <a:spLocks noGrp="1"/>
          </p:cNvSpPr>
          <p:nvPr/>
        </p:nvSpPr>
        <p:spPr>
          <a:xfrm>
            <a:off x="514350" y="6505575"/>
            <a:ext cx="3333750" cy="209550"/>
          </a:xfrm>
          <a:prstGeom prst="rect">
            <a:avLst/>
          </a:prstGeom>
          <a:noFill/>
          <a:ln w="0">
            <a:noFill/>
            <a:prstDash val="solid"/>
          </a:ln>
        </p:spPr>
        <p:txBody>
          <a:bodyPr anchor="ctr">
            <a:normAutofit fontScale="93939" lnSpcReduction="10000"/>
          </a:bodyPr>
          <a:lstStyle/>
          <a:p>
            <a:pPr algn="l">
              <a:defRPr sz="825" b="0">
                <a:solidFill>
                  <a:srgbClr val="5F6B76"/>
                </a:solidFill>
                <a:latin typeface="Arial"/>
                <a:ea typeface="Arial"/>
                <a:cs typeface="Arial"/>
              </a:defRPr>
            </a:pPr>
            <a:r>
              <a:rPr sz="825" b="0" dirty="0" err="1">
                <a:solidFill>
                  <a:srgbClr val="5F6B76"/>
                </a:solidFill>
                <a:latin typeface="Arial"/>
                <a:ea typeface="Arial"/>
                <a:cs typeface="Arial"/>
              </a:rPr>
              <a:t>BizTrack</a:t>
            </a:r>
            <a:r>
              <a:rPr sz="825" b="0" dirty="0">
                <a:solidFill>
                  <a:srgbClr val="5F6B76"/>
                </a:solidFill>
                <a:latin typeface="Arial"/>
                <a:ea typeface="Arial"/>
                <a:cs typeface="Arial"/>
              </a:rPr>
              <a:t> • </a:t>
            </a:r>
            <a:r>
              <a:rPr lang="en-US" sz="825" b="0" dirty="0">
                <a:solidFill>
                  <a:srgbClr val="5F6B76"/>
                </a:solidFill>
                <a:latin typeface="Arial"/>
                <a:ea typeface="Arial"/>
                <a:cs typeface="Arial"/>
              </a:rPr>
              <a:t>A Complete Business Accounting Management System</a:t>
            </a:r>
            <a:endParaRPr sz="825" b="0" dirty="0">
              <a:solidFill>
                <a:srgbClr val="5F6B76"/>
              </a:solidFill>
              <a:latin typeface="Arial"/>
              <a:ea typeface="Arial"/>
              <a:cs typeface="Arial"/>
            </a:endParaRPr>
          </a:p>
        </p:txBody>
      </p:sp>
      <p:sp>
        <p:nvSpPr>
          <p:cNvPr id="14" name="Rectangle 13">
            <a:extLst>
              <a:ext uri="{FF2B5EF4-FFF2-40B4-BE49-F238E27FC236}">
                <a16:creationId xmlns:a16="http://schemas.microsoft.com/office/drawing/2014/main" id="{E83502EF-4317-07C3-B097-6ACB2F673FC8}"/>
              </a:ext>
            </a:extLst>
          </p:cNvPr>
          <p:cNvSpPr>
            <a:spLocks noGrp="1"/>
          </p:cNvSpPr>
          <p:nvPr/>
        </p:nvSpPr>
        <p:spPr>
          <a:xfrm>
            <a:off x="11049000" y="6505575"/>
            <a:ext cx="552450" cy="209550"/>
          </a:xfrm>
          <a:prstGeom prst="rect">
            <a:avLst/>
          </a:prstGeom>
          <a:noFill/>
          <a:ln w="0">
            <a:noFill/>
            <a:prstDash val="solid"/>
          </a:ln>
        </p:spPr>
        <p:txBody>
          <a:bodyPr anchor="ctr">
            <a:normAutofit fontScale="93939" lnSpcReduction="10000"/>
          </a:bodyPr>
          <a:lstStyle/>
          <a:p>
            <a:pPr algn="r">
              <a:defRPr sz="825" b="1">
                <a:solidFill>
                  <a:srgbClr val="5F6B76"/>
                </a:solidFill>
                <a:latin typeface="Arial"/>
                <a:ea typeface="Arial"/>
                <a:cs typeface="Arial"/>
              </a:defRPr>
            </a:pPr>
            <a:r>
              <a:rPr lang="en-US" sz="825" b="1" dirty="0">
                <a:solidFill>
                  <a:srgbClr val="5F6B76"/>
                </a:solidFill>
                <a:latin typeface="Arial"/>
                <a:ea typeface="Arial"/>
                <a:cs typeface="Arial"/>
              </a:rPr>
              <a:t>14</a:t>
            </a:r>
            <a:endParaRPr sz="825" b="1" dirty="0">
              <a:solidFill>
                <a:srgbClr val="5F6B76"/>
              </a:solidFill>
              <a:latin typeface="Arial"/>
              <a:ea typeface="Arial"/>
              <a:cs typeface="Arial"/>
            </a:endParaRPr>
          </a:p>
        </p:txBody>
      </p:sp>
      <p:pic>
        <p:nvPicPr>
          <p:cNvPr id="16" name="Picture 15">
            <a:extLst>
              <a:ext uri="{FF2B5EF4-FFF2-40B4-BE49-F238E27FC236}">
                <a16:creationId xmlns:a16="http://schemas.microsoft.com/office/drawing/2014/main" id="{56D3B8C9-CBE5-1F1B-FDB7-4266B38D15A3}"/>
              </a:ext>
            </a:extLst>
          </p:cNvPr>
          <p:cNvPicPr>
            <a:picLocks noChangeAspect="1"/>
          </p:cNvPicPr>
          <p:nvPr/>
        </p:nvPicPr>
        <p:blipFill>
          <a:blip r:embed="rId3"/>
          <a:stretch>
            <a:fillRect/>
          </a:stretch>
        </p:blipFill>
        <p:spPr>
          <a:xfrm>
            <a:off x="667512" y="1169198"/>
            <a:ext cx="5143039" cy="4794686"/>
          </a:xfrm>
          <a:prstGeom prst="rect">
            <a:avLst/>
          </a:prstGeom>
        </p:spPr>
      </p:pic>
      <p:pic>
        <p:nvPicPr>
          <p:cNvPr id="18" name="Picture 17">
            <a:extLst>
              <a:ext uri="{FF2B5EF4-FFF2-40B4-BE49-F238E27FC236}">
                <a16:creationId xmlns:a16="http://schemas.microsoft.com/office/drawing/2014/main" id="{1D9D6104-B0FC-2423-C2C6-8AB856BFBC56}"/>
              </a:ext>
            </a:extLst>
          </p:cNvPr>
          <p:cNvPicPr>
            <a:picLocks noChangeAspect="1"/>
          </p:cNvPicPr>
          <p:nvPr/>
        </p:nvPicPr>
        <p:blipFill>
          <a:blip r:embed="rId4"/>
          <a:srcRect r="11125"/>
          <a:stretch>
            <a:fillRect/>
          </a:stretch>
        </p:blipFill>
        <p:spPr>
          <a:xfrm>
            <a:off x="6115240" y="2780455"/>
            <a:ext cx="5844157" cy="3183429"/>
          </a:xfrm>
          <a:prstGeom prst="rect">
            <a:avLst/>
          </a:prstGeom>
        </p:spPr>
      </p:pic>
    </p:spTree>
    <p:extLst>
      <p:ext uri="{BB962C8B-B14F-4D97-AF65-F5344CB8AC3E}">
        <p14:creationId xmlns:p14="http://schemas.microsoft.com/office/powerpoint/2010/main" val="40388593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75FE5C1-32E1-866F-4AE6-7EA77B7BC182}"/>
              </a:ext>
            </a:extLst>
          </p:cNvPr>
          <p:cNvSpPr>
            <a:spLocks noGrp="1"/>
          </p:cNvSpPr>
          <p:nvPr/>
        </p:nvSpPr>
        <p:spPr>
          <a:xfrm>
            <a:off x="6801358" y="245102"/>
            <a:ext cx="6094476" cy="461665"/>
          </a:xfrm>
          <a:prstGeom prst="rect">
            <a:avLst/>
          </a:prstGeom>
          <a:noFill/>
        </p:spPr>
        <p:txBody>
          <a:bodyPr wrap="square">
            <a:spAutoFit/>
          </a:bodyPr>
          <a:lstStyle/>
          <a:p>
            <a:r>
              <a:rPr sz="2400" b="1" dirty="0">
                <a:latin typeface="Arial"/>
                <a:ea typeface="Arial"/>
                <a:cs typeface="Arial"/>
              </a:rPr>
              <a:t>Software </a:t>
            </a:r>
            <a:r>
              <a:rPr lang="en-US" sz="2400" b="1" dirty="0">
                <a:latin typeface="Arial"/>
                <a:ea typeface="Arial"/>
                <a:cs typeface="Arial"/>
              </a:rPr>
              <a:t>Screenshot</a:t>
            </a:r>
            <a:r>
              <a:rPr sz="2400" b="1" dirty="0">
                <a:latin typeface="Arial"/>
                <a:ea typeface="Arial"/>
                <a:cs typeface="Arial"/>
              </a:rPr>
              <a:t>: Accounting</a:t>
            </a:r>
          </a:p>
        </p:txBody>
      </p:sp>
      <p:sp>
        <p:nvSpPr>
          <p:cNvPr id="5" name="Rectangle 4">
            <a:extLst>
              <a:ext uri="{FF2B5EF4-FFF2-40B4-BE49-F238E27FC236}">
                <a16:creationId xmlns:a16="http://schemas.microsoft.com/office/drawing/2014/main" id="{AD24629B-C2C0-92C4-DBFA-894BFEE9D05C}"/>
              </a:ext>
            </a:extLst>
          </p:cNvPr>
          <p:cNvSpPr>
            <a:spLocks noGrp="1"/>
          </p:cNvSpPr>
          <p:nvPr/>
        </p:nvSpPr>
        <p:spPr>
          <a:xfrm>
            <a:off x="10357612" y="706767"/>
            <a:ext cx="1307592" cy="7961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5E6B6A9-F9B3-C6BB-7DB4-03CC7BD7445A}"/>
              </a:ext>
            </a:extLst>
          </p:cNvPr>
          <p:cNvSpPr>
            <a:spLocks noGrp="1"/>
          </p:cNvSpPr>
          <p:nvPr/>
        </p:nvSpPr>
        <p:spPr>
          <a:xfrm>
            <a:off x="7048500" y="5810250"/>
            <a:ext cx="3714750" cy="944880"/>
          </a:xfrm>
          <a:prstGeom prst="rect">
            <a:avLst/>
          </a:prstGeom>
          <a:noFill/>
        </p:spPr>
        <p:txBody>
          <a:bodyPr wrap="square" anchor="ctr">
            <a:spAutoFit/>
          </a:bodyPr>
          <a:lstStyle/>
          <a:p>
            <a:pPr algn="ctr">
              <a:defRPr sz="975">
                <a:solidFill>
                  <a:srgbClr val="666666"/>
                </a:solidFill>
                <a:latin typeface="Arial"/>
                <a:ea typeface="Arial"/>
                <a:cs typeface="Arial"/>
              </a:defRPr>
            </a:pPr>
            <a:r>
              <a:rPr sz="975" b="1">
                <a:solidFill>
                  <a:srgbClr val="666666"/>
                </a:solidFill>
                <a:latin typeface="Arial"/>
                <a:ea typeface="Arial"/>
                <a:cs typeface="Arial"/>
              </a:rPr>
              <a:t>Real BizTrack software evidence</a:t>
            </a:r>
          </a:p>
        </p:txBody>
      </p:sp>
      <p:sp>
        <p:nvSpPr>
          <p:cNvPr id="12" name="Rectangle 11">
            <a:extLst>
              <a:ext uri="{FF2B5EF4-FFF2-40B4-BE49-F238E27FC236}">
                <a16:creationId xmlns:a16="http://schemas.microsoft.com/office/drawing/2014/main" id="{76DD7227-143A-4D34-9C8E-CC24A235E648}"/>
              </a:ext>
            </a:extLst>
          </p:cNvPr>
          <p:cNvSpPr>
            <a:spLocks noGrp="1"/>
          </p:cNvSpPr>
          <p:nvPr/>
        </p:nvSpPr>
        <p:spPr>
          <a:xfrm>
            <a:off x="6833108" y="1139664"/>
            <a:ext cx="4634992" cy="3048000"/>
          </a:xfrm>
          <a:prstGeom prst="rect">
            <a:avLst/>
          </a:prstGeom>
          <a:noFill/>
          <a:ln w="0">
            <a:noFill/>
            <a:prstDash val="solid"/>
          </a:ln>
        </p:spPr>
        <p:txBody>
          <a:bodyPr anchor="t">
            <a:normAutofit/>
          </a:bodyPr>
          <a:lstStyle/>
          <a:p>
            <a:pPr>
              <a:defRPr sz="1200" b="0">
                <a:solidFill>
                  <a:srgbClr val="252525"/>
                </a:solidFill>
                <a:latin typeface="Arial"/>
                <a:ea typeface="Arial"/>
                <a:cs typeface="Arial"/>
              </a:defRPr>
            </a:pPr>
            <a:r>
              <a:rPr lang="en-US" sz="2000" b="1" dirty="0">
                <a:solidFill>
                  <a:srgbClr val="252525"/>
                </a:solidFill>
                <a:latin typeface="Arial"/>
                <a:ea typeface="Arial"/>
                <a:cs typeface="Arial"/>
              </a:rPr>
              <a:t>Key points</a:t>
            </a:r>
            <a:endParaRPr lang="en-US" sz="2000" dirty="0">
              <a:solidFill>
                <a:srgbClr val="252525"/>
              </a:solidFill>
              <a:latin typeface="Arial"/>
              <a:ea typeface="Arial"/>
              <a:cs typeface="Arial"/>
            </a:endParaRPr>
          </a:p>
          <a:p>
            <a:pPr algn="l">
              <a:defRPr sz="1200" b="0">
                <a:solidFill>
                  <a:srgbClr val="252525"/>
                </a:solidFill>
                <a:latin typeface="Arial"/>
                <a:ea typeface="Arial"/>
                <a:cs typeface="Arial"/>
              </a:defRPr>
            </a:pPr>
            <a:endParaRPr lang="en-US" sz="1200" b="0" dirty="0">
              <a:solidFill>
                <a:srgbClr val="252525"/>
              </a:solidFill>
              <a:latin typeface="Arial"/>
              <a:ea typeface="Arial"/>
              <a:cs typeface="Arial"/>
            </a:endParaRPr>
          </a:p>
          <a:p>
            <a:pPr marL="285750" indent="-285750" algn="l">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ea typeface="Arial"/>
                <a:cs typeface="Arial"/>
              </a:rPr>
              <a:t>Related source transaction</a:t>
            </a:r>
          </a:p>
          <a:p>
            <a:pPr marL="285750" indent="-285750">
              <a:buFont typeface="Wingdings" panose="05000000000000000000" pitchFamily="2" charset="2"/>
              <a:buChar char="§"/>
            </a:pPr>
            <a:endParaRPr sz="2400" dirty="0">
              <a:solidFill>
                <a:srgbClr val="252525"/>
              </a:solidFill>
              <a:latin typeface="Arial"/>
              <a:ea typeface="Arial"/>
              <a:cs typeface="Arial"/>
            </a:endParaRPr>
          </a:p>
          <a:p>
            <a:pPr marL="285750" indent="-285750" algn="l">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ea typeface="Arial"/>
                <a:cs typeface="Arial"/>
              </a:rPr>
              <a:t>Debit and credit effect</a:t>
            </a:r>
          </a:p>
          <a:p>
            <a:pPr marL="285750" indent="-285750">
              <a:buFont typeface="Wingdings" panose="05000000000000000000" pitchFamily="2" charset="2"/>
              <a:buChar char="§"/>
            </a:pPr>
            <a:endParaRPr sz="2400" dirty="0">
              <a:solidFill>
                <a:srgbClr val="252525"/>
              </a:solidFill>
              <a:latin typeface="Arial"/>
              <a:ea typeface="Arial"/>
              <a:cs typeface="Arial"/>
            </a:endParaRPr>
          </a:p>
          <a:p>
            <a:pPr marL="285750" indent="-285750" algn="l">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ea typeface="Arial"/>
                <a:cs typeface="Arial"/>
              </a:rPr>
              <a:t>Account or party ledger</a:t>
            </a:r>
          </a:p>
          <a:p>
            <a:pPr marL="285750" indent="-285750">
              <a:buFont typeface="Wingdings" panose="05000000000000000000" pitchFamily="2" charset="2"/>
              <a:buChar char="§"/>
            </a:pPr>
            <a:endParaRPr sz="2400" dirty="0">
              <a:solidFill>
                <a:srgbClr val="252525"/>
              </a:solidFill>
              <a:latin typeface="Arial"/>
              <a:ea typeface="Arial"/>
              <a:cs typeface="Arial"/>
            </a:endParaRPr>
          </a:p>
          <a:p>
            <a:pPr marL="285750" indent="-285750" algn="l">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ea typeface="Arial"/>
                <a:cs typeface="Arial"/>
              </a:rPr>
              <a:t>Balanced report</a:t>
            </a:r>
          </a:p>
        </p:txBody>
      </p:sp>
      <p:sp>
        <p:nvSpPr>
          <p:cNvPr id="3" name="Rectangle 2">
            <a:extLst>
              <a:ext uri="{FF2B5EF4-FFF2-40B4-BE49-F238E27FC236}">
                <a16:creationId xmlns:a16="http://schemas.microsoft.com/office/drawing/2014/main" id="{69DAF30B-CF26-9C6C-9385-979C6DA3CA56}"/>
              </a:ext>
            </a:extLst>
          </p:cNvPr>
          <p:cNvSpPr>
            <a:spLocks noGrp="1"/>
          </p:cNvSpPr>
          <p:nvPr/>
        </p:nvSpPr>
        <p:spPr>
          <a:xfrm>
            <a:off x="514350" y="6419850"/>
            <a:ext cx="11096625" cy="9525"/>
          </a:xfrm>
          <a:prstGeom prst="rect">
            <a:avLst/>
          </a:prstGeom>
          <a:solidFill>
            <a:srgbClr val="C9D2D8"/>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0EE2D0A9-E359-F61A-9F2D-0D0F525E01BC}"/>
              </a:ext>
            </a:extLst>
          </p:cNvPr>
          <p:cNvSpPr>
            <a:spLocks noGrp="1"/>
          </p:cNvSpPr>
          <p:nvPr/>
        </p:nvSpPr>
        <p:spPr>
          <a:xfrm>
            <a:off x="514350" y="6505575"/>
            <a:ext cx="3333750" cy="209550"/>
          </a:xfrm>
          <a:prstGeom prst="rect">
            <a:avLst/>
          </a:prstGeom>
          <a:noFill/>
          <a:ln w="0">
            <a:noFill/>
            <a:prstDash val="solid"/>
          </a:ln>
        </p:spPr>
        <p:txBody>
          <a:bodyPr anchor="ctr">
            <a:normAutofit fontScale="93939" lnSpcReduction="10000"/>
          </a:bodyPr>
          <a:lstStyle/>
          <a:p>
            <a:pPr algn="l">
              <a:defRPr sz="825" b="0">
                <a:solidFill>
                  <a:srgbClr val="5F6B76"/>
                </a:solidFill>
                <a:latin typeface="Arial"/>
                <a:ea typeface="Arial"/>
                <a:cs typeface="Arial"/>
              </a:defRPr>
            </a:pPr>
            <a:r>
              <a:rPr sz="825" b="0" dirty="0" err="1">
                <a:solidFill>
                  <a:srgbClr val="5F6B76"/>
                </a:solidFill>
                <a:latin typeface="Arial"/>
                <a:ea typeface="Arial"/>
                <a:cs typeface="Arial"/>
              </a:rPr>
              <a:t>BizTrack</a:t>
            </a:r>
            <a:r>
              <a:rPr sz="825" b="0" dirty="0">
                <a:solidFill>
                  <a:srgbClr val="5F6B76"/>
                </a:solidFill>
                <a:latin typeface="Arial"/>
                <a:ea typeface="Arial"/>
                <a:cs typeface="Arial"/>
              </a:rPr>
              <a:t> • </a:t>
            </a:r>
            <a:r>
              <a:rPr lang="en-US" sz="825" b="0" dirty="0">
                <a:solidFill>
                  <a:srgbClr val="5F6B76"/>
                </a:solidFill>
                <a:latin typeface="Arial"/>
                <a:ea typeface="Arial"/>
                <a:cs typeface="Arial"/>
              </a:rPr>
              <a:t>A Complete Business Accounting Management System</a:t>
            </a:r>
            <a:endParaRPr sz="825" b="0" dirty="0">
              <a:solidFill>
                <a:srgbClr val="5F6B76"/>
              </a:solidFill>
              <a:latin typeface="Arial"/>
              <a:ea typeface="Arial"/>
              <a:cs typeface="Arial"/>
            </a:endParaRPr>
          </a:p>
        </p:txBody>
      </p:sp>
      <p:sp>
        <p:nvSpPr>
          <p:cNvPr id="15" name="Rectangle 14">
            <a:extLst>
              <a:ext uri="{FF2B5EF4-FFF2-40B4-BE49-F238E27FC236}">
                <a16:creationId xmlns:a16="http://schemas.microsoft.com/office/drawing/2014/main" id="{D87EB41F-A5BD-2AE6-C428-23338F14C33B}"/>
              </a:ext>
            </a:extLst>
          </p:cNvPr>
          <p:cNvSpPr>
            <a:spLocks noGrp="1"/>
          </p:cNvSpPr>
          <p:nvPr/>
        </p:nvSpPr>
        <p:spPr>
          <a:xfrm>
            <a:off x="11049000" y="6505575"/>
            <a:ext cx="552450" cy="209550"/>
          </a:xfrm>
          <a:prstGeom prst="rect">
            <a:avLst/>
          </a:prstGeom>
          <a:noFill/>
          <a:ln w="0">
            <a:noFill/>
            <a:prstDash val="solid"/>
          </a:ln>
        </p:spPr>
        <p:txBody>
          <a:bodyPr anchor="ctr">
            <a:normAutofit fontScale="93939" lnSpcReduction="10000"/>
          </a:bodyPr>
          <a:lstStyle/>
          <a:p>
            <a:pPr algn="r">
              <a:defRPr sz="825" b="1">
                <a:solidFill>
                  <a:srgbClr val="5F6B76"/>
                </a:solidFill>
                <a:latin typeface="Arial"/>
                <a:ea typeface="Arial"/>
                <a:cs typeface="Arial"/>
              </a:defRPr>
            </a:pPr>
            <a:r>
              <a:rPr lang="en-US" sz="825" b="1" dirty="0">
                <a:solidFill>
                  <a:srgbClr val="5F6B76"/>
                </a:solidFill>
                <a:latin typeface="Arial"/>
                <a:ea typeface="Arial"/>
                <a:cs typeface="Arial"/>
              </a:rPr>
              <a:t>15</a:t>
            </a:r>
            <a:endParaRPr sz="825" b="1" dirty="0">
              <a:solidFill>
                <a:srgbClr val="5F6B76"/>
              </a:solidFill>
              <a:latin typeface="Arial"/>
              <a:ea typeface="Arial"/>
              <a:cs typeface="Arial"/>
            </a:endParaRPr>
          </a:p>
        </p:txBody>
      </p:sp>
      <p:grpSp>
        <p:nvGrpSpPr>
          <p:cNvPr id="20" name="Group 19">
            <a:extLst>
              <a:ext uri="{FF2B5EF4-FFF2-40B4-BE49-F238E27FC236}">
                <a16:creationId xmlns:a16="http://schemas.microsoft.com/office/drawing/2014/main" id="{E4AEB936-99D9-8579-0529-628ED37FC7FF}"/>
              </a:ext>
            </a:extLst>
          </p:cNvPr>
          <p:cNvGrpSpPr/>
          <p:nvPr/>
        </p:nvGrpSpPr>
        <p:grpSpPr>
          <a:xfrm>
            <a:off x="128496" y="126677"/>
            <a:ext cx="5796816" cy="6293173"/>
            <a:chOff x="128496" y="126677"/>
            <a:chExt cx="5796816" cy="6293173"/>
          </a:xfrm>
        </p:grpSpPr>
        <p:pic>
          <p:nvPicPr>
            <p:cNvPr id="17" name="Picture 16">
              <a:extLst>
                <a:ext uri="{FF2B5EF4-FFF2-40B4-BE49-F238E27FC236}">
                  <a16:creationId xmlns:a16="http://schemas.microsoft.com/office/drawing/2014/main" id="{EAAEAA68-3483-2C92-D9B5-4D2FA0728DE3}"/>
                </a:ext>
              </a:extLst>
            </p:cNvPr>
            <p:cNvPicPr>
              <a:picLocks noChangeAspect="1"/>
            </p:cNvPicPr>
            <p:nvPr/>
          </p:nvPicPr>
          <p:blipFill>
            <a:blip r:embed="rId3"/>
            <a:stretch>
              <a:fillRect/>
            </a:stretch>
          </p:blipFill>
          <p:spPr>
            <a:xfrm>
              <a:off x="128496" y="126677"/>
              <a:ext cx="5493032" cy="6293173"/>
            </a:xfrm>
            <a:prstGeom prst="rect">
              <a:avLst/>
            </a:prstGeom>
          </p:spPr>
        </p:pic>
        <p:sp>
          <p:nvSpPr>
            <p:cNvPr id="19" name="Oval 18">
              <a:extLst>
                <a:ext uri="{FF2B5EF4-FFF2-40B4-BE49-F238E27FC236}">
                  <a16:creationId xmlns:a16="http://schemas.microsoft.com/office/drawing/2014/main" id="{F15E6195-8FEE-0B46-AC00-EF279EE0307B}"/>
                </a:ext>
              </a:extLst>
            </p:cNvPr>
            <p:cNvSpPr/>
            <p:nvPr/>
          </p:nvSpPr>
          <p:spPr>
            <a:xfrm>
              <a:off x="3247612" y="5642229"/>
              <a:ext cx="2677700" cy="404241"/>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158032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925A5-26DD-F251-C716-8F9942600E1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CBBECE8-F9B6-AA75-CC8B-1749D8D5E4C4}"/>
              </a:ext>
            </a:extLst>
          </p:cNvPr>
          <p:cNvSpPr>
            <a:spLocks noGrp="1"/>
          </p:cNvSpPr>
          <p:nvPr/>
        </p:nvSpPr>
        <p:spPr>
          <a:xfrm>
            <a:off x="6801358" y="245102"/>
            <a:ext cx="6094476" cy="461665"/>
          </a:xfrm>
          <a:prstGeom prst="rect">
            <a:avLst/>
          </a:prstGeom>
          <a:noFill/>
        </p:spPr>
        <p:txBody>
          <a:bodyPr wrap="square">
            <a:spAutoFit/>
          </a:bodyPr>
          <a:lstStyle/>
          <a:p>
            <a:r>
              <a:rPr sz="2400" b="1" dirty="0">
                <a:latin typeface="Arial"/>
                <a:ea typeface="Arial"/>
                <a:cs typeface="Arial"/>
              </a:rPr>
              <a:t>Software </a:t>
            </a:r>
            <a:r>
              <a:rPr lang="en-US" sz="2400" b="1" dirty="0">
                <a:latin typeface="Arial"/>
                <a:ea typeface="Arial"/>
                <a:cs typeface="Arial"/>
              </a:rPr>
              <a:t>Screenshot</a:t>
            </a:r>
            <a:r>
              <a:rPr sz="2400" b="1" dirty="0">
                <a:latin typeface="Arial"/>
                <a:ea typeface="Arial"/>
                <a:cs typeface="Arial"/>
              </a:rPr>
              <a:t>: Accounting</a:t>
            </a:r>
          </a:p>
        </p:txBody>
      </p:sp>
      <p:sp>
        <p:nvSpPr>
          <p:cNvPr id="5" name="Rectangle 4">
            <a:extLst>
              <a:ext uri="{FF2B5EF4-FFF2-40B4-BE49-F238E27FC236}">
                <a16:creationId xmlns:a16="http://schemas.microsoft.com/office/drawing/2014/main" id="{999DE4D6-2785-72D8-275D-580D23591064}"/>
              </a:ext>
            </a:extLst>
          </p:cNvPr>
          <p:cNvSpPr>
            <a:spLocks noGrp="1"/>
          </p:cNvSpPr>
          <p:nvPr/>
        </p:nvSpPr>
        <p:spPr>
          <a:xfrm>
            <a:off x="10357612" y="706767"/>
            <a:ext cx="1307592" cy="7961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D32CE94-4CE9-FDF8-D283-82AE1BE79A6D}"/>
              </a:ext>
            </a:extLst>
          </p:cNvPr>
          <p:cNvSpPr>
            <a:spLocks noGrp="1"/>
          </p:cNvSpPr>
          <p:nvPr/>
        </p:nvSpPr>
        <p:spPr>
          <a:xfrm>
            <a:off x="7048500" y="5810250"/>
            <a:ext cx="3714750" cy="944880"/>
          </a:xfrm>
          <a:prstGeom prst="rect">
            <a:avLst/>
          </a:prstGeom>
          <a:noFill/>
        </p:spPr>
        <p:txBody>
          <a:bodyPr wrap="square" anchor="ctr">
            <a:spAutoFit/>
          </a:bodyPr>
          <a:lstStyle/>
          <a:p>
            <a:pPr algn="ctr">
              <a:defRPr sz="975">
                <a:solidFill>
                  <a:srgbClr val="666666"/>
                </a:solidFill>
                <a:latin typeface="Arial"/>
                <a:ea typeface="Arial"/>
                <a:cs typeface="Arial"/>
              </a:defRPr>
            </a:pPr>
            <a:r>
              <a:rPr sz="975" b="1">
                <a:solidFill>
                  <a:srgbClr val="666666"/>
                </a:solidFill>
                <a:latin typeface="Arial"/>
                <a:ea typeface="Arial"/>
                <a:cs typeface="Arial"/>
              </a:rPr>
              <a:t>Real BizTrack software evidence</a:t>
            </a:r>
          </a:p>
        </p:txBody>
      </p:sp>
      <p:sp>
        <p:nvSpPr>
          <p:cNvPr id="12" name="Rectangle 11">
            <a:extLst>
              <a:ext uri="{FF2B5EF4-FFF2-40B4-BE49-F238E27FC236}">
                <a16:creationId xmlns:a16="http://schemas.microsoft.com/office/drawing/2014/main" id="{A3799909-2D68-BDC4-137E-F3921B385F38}"/>
              </a:ext>
            </a:extLst>
          </p:cNvPr>
          <p:cNvSpPr>
            <a:spLocks noGrp="1"/>
          </p:cNvSpPr>
          <p:nvPr/>
        </p:nvSpPr>
        <p:spPr>
          <a:xfrm>
            <a:off x="6833108" y="1139664"/>
            <a:ext cx="4634992" cy="3048000"/>
          </a:xfrm>
          <a:prstGeom prst="rect">
            <a:avLst/>
          </a:prstGeom>
          <a:noFill/>
          <a:ln w="0">
            <a:noFill/>
            <a:prstDash val="solid"/>
          </a:ln>
        </p:spPr>
        <p:txBody>
          <a:bodyPr anchor="t">
            <a:normAutofit/>
          </a:bodyPr>
          <a:lstStyle/>
          <a:p>
            <a:pPr>
              <a:defRPr sz="1200" b="0">
                <a:solidFill>
                  <a:srgbClr val="252525"/>
                </a:solidFill>
                <a:latin typeface="Arial"/>
                <a:ea typeface="Arial"/>
                <a:cs typeface="Arial"/>
              </a:defRPr>
            </a:pPr>
            <a:r>
              <a:rPr lang="en-US" sz="2000" b="1" dirty="0">
                <a:solidFill>
                  <a:srgbClr val="252525"/>
                </a:solidFill>
                <a:latin typeface="Arial"/>
                <a:ea typeface="Arial"/>
                <a:cs typeface="Arial"/>
              </a:rPr>
              <a:t>Key points</a:t>
            </a:r>
            <a:endParaRPr lang="en-US" sz="2000" dirty="0">
              <a:solidFill>
                <a:srgbClr val="252525"/>
              </a:solidFill>
              <a:latin typeface="Arial"/>
              <a:ea typeface="Arial"/>
              <a:cs typeface="Arial"/>
            </a:endParaRPr>
          </a:p>
          <a:p>
            <a:pPr algn="l">
              <a:defRPr sz="1200" b="0">
                <a:solidFill>
                  <a:srgbClr val="252525"/>
                </a:solidFill>
                <a:latin typeface="Arial"/>
                <a:ea typeface="Arial"/>
                <a:cs typeface="Arial"/>
              </a:defRPr>
            </a:pPr>
            <a:endParaRPr lang="en-US" sz="1200" b="0" dirty="0">
              <a:solidFill>
                <a:srgbClr val="252525"/>
              </a:solidFill>
              <a:latin typeface="Arial"/>
              <a:ea typeface="Arial"/>
              <a:cs typeface="Arial"/>
            </a:endParaRPr>
          </a:p>
          <a:p>
            <a:pPr marL="285750" indent="-285750" algn="l">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ea typeface="Arial"/>
                <a:cs typeface="Arial"/>
              </a:rPr>
              <a:t>Related source transaction</a:t>
            </a:r>
          </a:p>
          <a:p>
            <a:pPr marL="285750" indent="-285750">
              <a:buFont typeface="Wingdings" panose="05000000000000000000" pitchFamily="2" charset="2"/>
              <a:buChar char="§"/>
            </a:pPr>
            <a:endParaRPr sz="2400" dirty="0">
              <a:solidFill>
                <a:srgbClr val="252525"/>
              </a:solidFill>
              <a:latin typeface="Arial"/>
              <a:ea typeface="Arial"/>
              <a:cs typeface="Arial"/>
            </a:endParaRPr>
          </a:p>
          <a:p>
            <a:pPr marL="285750" indent="-285750" algn="l">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ea typeface="Arial"/>
                <a:cs typeface="Arial"/>
              </a:rPr>
              <a:t>Debit and credit effect</a:t>
            </a:r>
          </a:p>
          <a:p>
            <a:pPr marL="285750" indent="-285750">
              <a:buFont typeface="Wingdings" panose="05000000000000000000" pitchFamily="2" charset="2"/>
              <a:buChar char="§"/>
            </a:pPr>
            <a:endParaRPr sz="2400" dirty="0">
              <a:solidFill>
                <a:srgbClr val="252525"/>
              </a:solidFill>
              <a:latin typeface="Arial"/>
              <a:ea typeface="Arial"/>
              <a:cs typeface="Arial"/>
            </a:endParaRPr>
          </a:p>
          <a:p>
            <a:pPr marL="285750" indent="-285750" algn="l">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ea typeface="Arial"/>
                <a:cs typeface="Arial"/>
              </a:rPr>
              <a:t>Account or party ledger</a:t>
            </a:r>
          </a:p>
          <a:p>
            <a:pPr marL="285750" indent="-285750">
              <a:buFont typeface="Wingdings" panose="05000000000000000000" pitchFamily="2" charset="2"/>
              <a:buChar char="§"/>
            </a:pPr>
            <a:endParaRPr sz="2400" dirty="0">
              <a:solidFill>
                <a:srgbClr val="252525"/>
              </a:solidFill>
              <a:latin typeface="Arial"/>
              <a:ea typeface="Arial"/>
              <a:cs typeface="Arial"/>
            </a:endParaRPr>
          </a:p>
          <a:p>
            <a:pPr marL="285750" indent="-285750" algn="l">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ea typeface="Arial"/>
                <a:cs typeface="Arial"/>
              </a:rPr>
              <a:t>Balanced report</a:t>
            </a:r>
          </a:p>
        </p:txBody>
      </p:sp>
      <p:sp>
        <p:nvSpPr>
          <p:cNvPr id="3" name="Rectangle 2">
            <a:extLst>
              <a:ext uri="{FF2B5EF4-FFF2-40B4-BE49-F238E27FC236}">
                <a16:creationId xmlns:a16="http://schemas.microsoft.com/office/drawing/2014/main" id="{1E00C225-4A01-7DA2-2C73-4B71B6C8DDD0}"/>
              </a:ext>
            </a:extLst>
          </p:cNvPr>
          <p:cNvSpPr>
            <a:spLocks noGrp="1"/>
          </p:cNvSpPr>
          <p:nvPr/>
        </p:nvSpPr>
        <p:spPr>
          <a:xfrm>
            <a:off x="514350" y="6419850"/>
            <a:ext cx="11096625" cy="9525"/>
          </a:xfrm>
          <a:prstGeom prst="rect">
            <a:avLst/>
          </a:prstGeom>
          <a:solidFill>
            <a:srgbClr val="C9D2D8"/>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00EDACD2-57CA-5CAB-9F8B-4937319BC141}"/>
              </a:ext>
            </a:extLst>
          </p:cNvPr>
          <p:cNvSpPr>
            <a:spLocks noGrp="1"/>
          </p:cNvSpPr>
          <p:nvPr/>
        </p:nvSpPr>
        <p:spPr>
          <a:xfrm>
            <a:off x="514350" y="6505575"/>
            <a:ext cx="3333750" cy="209550"/>
          </a:xfrm>
          <a:prstGeom prst="rect">
            <a:avLst/>
          </a:prstGeom>
          <a:noFill/>
          <a:ln w="0">
            <a:noFill/>
            <a:prstDash val="solid"/>
          </a:ln>
        </p:spPr>
        <p:txBody>
          <a:bodyPr anchor="ctr">
            <a:normAutofit fontScale="93939" lnSpcReduction="10000"/>
          </a:bodyPr>
          <a:lstStyle/>
          <a:p>
            <a:pPr algn="l">
              <a:defRPr sz="825" b="0">
                <a:solidFill>
                  <a:srgbClr val="5F6B76"/>
                </a:solidFill>
                <a:latin typeface="Arial"/>
                <a:ea typeface="Arial"/>
                <a:cs typeface="Arial"/>
              </a:defRPr>
            </a:pPr>
            <a:r>
              <a:rPr sz="825" b="0" dirty="0" err="1">
                <a:solidFill>
                  <a:srgbClr val="5F6B76"/>
                </a:solidFill>
                <a:latin typeface="Arial"/>
                <a:ea typeface="Arial"/>
                <a:cs typeface="Arial"/>
              </a:rPr>
              <a:t>BizTrack</a:t>
            </a:r>
            <a:r>
              <a:rPr sz="825" b="0" dirty="0">
                <a:solidFill>
                  <a:srgbClr val="5F6B76"/>
                </a:solidFill>
                <a:latin typeface="Arial"/>
                <a:ea typeface="Arial"/>
                <a:cs typeface="Arial"/>
              </a:rPr>
              <a:t> • </a:t>
            </a:r>
            <a:r>
              <a:rPr lang="en-US" sz="825" b="0" dirty="0">
                <a:solidFill>
                  <a:srgbClr val="5F6B76"/>
                </a:solidFill>
                <a:latin typeface="Arial"/>
                <a:ea typeface="Arial"/>
                <a:cs typeface="Arial"/>
              </a:rPr>
              <a:t>A Complete Business Accounting Management System</a:t>
            </a:r>
            <a:endParaRPr sz="825" b="0" dirty="0">
              <a:solidFill>
                <a:srgbClr val="5F6B76"/>
              </a:solidFill>
              <a:latin typeface="Arial"/>
              <a:ea typeface="Arial"/>
              <a:cs typeface="Arial"/>
            </a:endParaRPr>
          </a:p>
        </p:txBody>
      </p:sp>
      <p:sp>
        <p:nvSpPr>
          <p:cNvPr id="15" name="Rectangle 14">
            <a:extLst>
              <a:ext uri="{FF2B5EF4-FFF2-40B4-BE49-F238E27FC236}">
                <a16:creationId xmlns:a16="http://schemas.microsoft.com/office/drawing/2014/main" id="{88B1DA89-0B7B-541E-8DD0-B541764CEC2F}"/>
              </a:ext>
            </a:extLst>
          </p:cNvPr>
          <p:cNvSpPr>
            <a:spLocks noGrp="1"/>
          </p:cNvSpPr>
          <p:nvPr/>
        </p:nvSpPr>
        <p:spPr>
          <a:xfrm>
            <a:off x="11049000" y="6505575"/>
            <a:ext cx="552450" cy="209550"/>
          </a:xfrm>
          <a:prstGeom prst="rect">
            <a:avLst/>
          </a:prstGeom>
          <a:noFill/>
          <a:ln w="0">
            <a:noFill/>
            <a:prstDash val="solid"/>
          </a:ln>
        </p:spPr>
        <p:txBody>
          <a:bodyPr anchor="ctr">
            <a:normAutofit fontScale="93939" lnSpcReduction="10000"/>
          </a:bodyPr>
          <a:lstStyle/>
          <a:p>
            <a:pPr algn="r">
              <a:defRPr sz="825" b="1">
                <a:solidFill>
                  <a:srgbClr val="5F6B76"/>
                </a:solidFill>
                <a:latin typeface="Arial"/>
                <a:ea typeface="Arial"/>
                <a:cs typeface="Arial"/>
              </a:defRPr>
            </a:pPr>
            <a:r>
              <a:rPr lang="en-US" sz="825" b="1" dirty="0">
                <a:solidFill>
                  <a:srgbClr val="5F6B76"/>
                </a:solidFill>
                <a:latin typeface="Arial"/>
                <a:ea typeface="Arial"/>
                <a:cs typeface="Arial"/>
              </a:rPr>
              <a:t>15</a:t>
            </a:r>
            <a:endParaRPr sz="825" b="1" dirty="0">
              <a:solidFill>
                <a:srgbClr val="5F6B76"/>
              </a:solidFill>
              <a:latin typeface="Arial"/>
              <a:ea typeface="Arial"/>
              <a:cs typeface="Arial"/>
            </a:endParaRPr>
          </a:p>
        </p:txBody>
      </p:sp>
      <p:grpSp>
        <p:nvGrpSpPr>
          <p:cNvPr id="20" name="Group 19">
            <a:extLst>
              <a:ext uri="{FF2B5EF4-FFF2-40B4-BE49-F238E27FC236}">
                <a16:creationId xmlns:a16="http://schemas.microsoft.com/office/drawing/2014/main" id="{9FCF64DF-59DC-936B-DD12-04DCD50D4053}"/>
              </a:ext>
            </a:extLst>
          </p:cNvPr>
          <p:cNvGrpSpPr/>
          <p:nvPr/>
        </p:nvGrpSpPr>
        <p:grpSpPr>
          <a:xfrm>
            <a:off x="1095375" y="10013"/>
            <a:ext cx="11313696" cy="12282440"/>
            <a:chOff x="128496" y="126677"/>
            <a:chExt cx="5796816" cy="6293173"/>
          </a:xfrm>
        </p:grpSpPr>
        <p:pic>
          <p:nvPicPr>
            <p:cNvPr id="17" name="Picture 16">
              <a:extLst>
                <a:ext uri="{FF2B5EF4-FFF2-40B4-BE49-F238E27FC236}">
                  <a16:creationId xmlns:a16="http://schemas.microsoft.com/office/drawing/2014/main" id="{A5C781D3-E65C-0E25-D416-90F08BCA2902}"/>
                </a:ext>
              </a:extLst>
            </p:cNvPr>
            <p:cNvPicPr>
              <a:picLocks noChangeAspect="1"/>
            </p:cNvPicPr>
            <p:nvPr/>
          </p:nvPicPr>
          <p:blipFill>
            <a:blip r:embed="rId3"/>
            <a:stretch>
              <a:fillRect/>
            </a:stretch>
          </p:blipFill>
          <p:spPr>
            <a:xfrm>
              <a:off x="128496" y="126677"/>
              <a:ext cx="5493032" cy="6293173"/>
            </a:xfrm>
            <a:prstGeom prst="rect">
              <a:avLst/>
            </a:prstGeom>
          </p:spPr>
        </p:pic>
        <p:sp>
          <p:nvSpPr>
            <p:cNvPr id="19" name="Oval 18">
              <a:extLst>
                <a:ext uri="{FF2B5EF4-FFF2-40B4-BE49-F238E27FC236}">
                  <a16:creationId xmlns:a16="http://schemas.microsoft.com/office/drawing/2014/main" id="{6501DFE9-2ECA-80E5-DEE4-FF7C3C966921}"/>
                </a:ext>
              </a:extLst>
            </p:cNvPr>
            <p:cNvSpPr/>
            <p:nvPr/>
          </p:nvSpPr>
          <p:spPr>
            <a:xfrm>
              <a:off x="3247612" y="5642229"/>
              <a:ext cx="2677700" cy="404241"/>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895311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AA1AB-9412-5561-AB10-090F3E3F511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0A6F7A6-54CB-55FC-F4D5-717DBF54EB02}"/>
              </a:ext>
            </a:extLst>
          </p:cNvPr>
          <p:cNvSpPr>
            <a:spLocks noGrp="1"/>
          </p:cNvSpPr>
          <p:nvPr/>
        </p:nvSpPr>
        <p:spPr>
          <a:xfrm>
            <a:off x="6801358" y="245102"/>
            <a:ext cx="6094476" cy="461665"/>
          </a:xfrm>
          <a:prstGeom prst="rect">
            <a:avLst/>
          </a:prstGeom>
          <a:noFill/>
        </p:spPr>
        <p:txBody>
          <a:bodyPr wrap="square">
            <a:spAutoFit/>
          </a:bodyPr>
          <a:lstStyle/>
          <a:p>
            <a:r>
              <a:rPr sz="2400" b="1" dirty="0">
                <a:latin typeface="Arial"/>
                <a:ea typeface="Arial"/>
                <a:cs typeface="Arial"/>
              </a:rPr>
              <a:t>Software </a:t>
            </a:r>
            <a:r>
              <a:rPr lang="en-US" sz="2400" b="1" dirty="0">
                <a:latin typeface="Arial"/>
                <a:ea typeface="Arial"/>
                <a:cs typeface="Arial"/>
              </a:rPr>
              <a:t>Screenshot</a:t>
            </a:r>
            <a:r>
              <a:rPr sz="2400" b="1" dirty="0">
                <a:latin typeface="Arial"/>
                <a:ea typeface="Arial"/>
                <a:cs typeface="Arial"/>
              </a:rPr>
              <a:t>: Accounting</a:t>
            </a:r>
          </a:p>
        </p:txBody>
      </p:sp>
      <p:sp>
        <p:nvSpPr>
          <p:cNvPr id="5" name="Rectangle 4">
            <a:extLst>
              <a:ext uri="{FF2B5EF4-FFF2-40B4-BE49-F238E27FC236}">
                <a16:creationId xmlns:a16="http://schemas.microsoft.com/office/drawing/2014/main" id="{790D8813-A096-C67C-28B3-46D200FDF982}"/>
              </a:ext>
            </a:extLst>
          </p:cNvPr>
          <p:cNvSpPr>
            <a:spLocks noGrp="1"/>
          </p:cNvSpPr>
          <p:nvPr/>
        </p:nvSpPr>
        <p:spPr>
          <a:xfrm>
            <a:off x="10357612" y="706767"/>
            <a:ext cx="1307592" cy="7961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2CB9116-AE53-30A5-8B19-58BFF4E963BE}"/>
              </a:ext>
            </a:extLst>
          </p:cNvPr>
          <p:cNvSpPr>
            <a:spLocks noGrp="1"/>
          </p:cNvSpPr>
          <p:nvPr/>
        </p:nvSpPr>
        <p:spPr>
          <a:xfrm>
            <a:off x="7048500" y="5810250"/>
            <a:ext cx="3714750" cy="944880"/>
          </a:xfrm>
          <a:prstGeom prst="rect">
            <a:avLst/>
          </a:prstGeom>
          <a:noFill/>
        </p:spPr>
        <p:txBody>
          <a:bodyPr wrap="square" anchor="ctr">
            <a:spAutoFit/>
          </a:bodyPr>
          <a:lstStyle/>
          <a:p>
            <a:pPr algn="ctr">
              <a:defRPr sz="975">
                <a:solidFill>
                  <a:srgbClr val="666666"/>
                </a:solidFill>
                <a:latin typeface="Arial"/>
                <a:ea typeface="Arial"/>
                <a:cs typeface="Arial"/>
              </a:defRPr>
            </a:pPr>
            <a:r>
              <a:rPr sz="975" b="1">
                <a:solidFill>
                  <a:srgbClr val="666666"/>
                </a:solidFill>
                <a:latin typeface="Arial"/>
                <a:ea typeface="Arial"/>
                <a:cs typeface="Arial"/>
              </a:rPr>
              <a:t>Real BizTrack software evidence</a:t>
            </a:r>
          </a:p>
        </p:txBody>
      </p:sp>
      <p:sp>
        <p:nvSpPr>
          <p:cNvPr id="12" name="Rectangle 11">
            <a:extLst>
              <a:ext uri="{FF2B5EF4-FFF2-40B4-BE49-F238E27FC236}">
                <a16:creationId xmlns:a16="http://schemas.microsoft.com/office/drawing/2014/main" id="{22491304-4D03-5E95-19C7-4EA874C2B2CB}"/>
              </a:ext>
            </a:extLst>
          </p:cNvPr>
          <p:cNvSpPr>
            <a:spLocks noGrp="1"/>
          </p:cNvSpPr>
          <p:nvPr/>
        </p:nvSpPr>
        <p:spPr>
          <a:xfrm>
            <a:off x="6833108" y="1139664"/>
            <a:ext cx="4634992" cy="3048000"/>
          </a:xfrm>
          <a:prstGeom prst="rect">
            <a:avLst/>
          </a:prstGeom>
          <a:noFill/>
          <a:ln w="0">
            <a:noFill/>
            <a:prstDash val="solid"/>
          </a:ln>
        </p:spPr>
        <p:txBody>
          <a:bodyPr anchor="t">
            <a:normAutofit/>
          </a:bodyPr>
          <a:lstStyle/>
          <a:p>
            <a:pPr>
              <a:defRPr sz="1200" b="0">
                <a:solidFill>
                  <a:srgbClr val="252525"/>
                </a:solidFill>
                <a:latin typeface="Arial"/>
                <a:ea typeface="Arial"/>
                <a:cs typeface="Arial"/>
              </a:defRPr>
            </a:pPr>
            <a:r>
              <a:rPr lang="en-US" sz="2000" b="1" dirty="0">
                <a:solidFill>
                  <a:srgbClr val="252525"/>
                </a:solidFill>
                <a:latin typeface="Arial"/>
                <a:ea typeface="Arial"/>
                <a:cs typeface="Arial"/>
              </a:rPr>
              <a:t>Key points</a:t>
            </a:r>
            <a:endParaRPr lang="en-US" sz="2000" dirty="0">
              <a:solidFill>
                <a:srgbClr val="252525"/>
              </a:solidFill>
              <a:latin typeface="Arial"/>
              <a:ea typeface="Arial"/>
              <a:cs typeface="Arial"/>
            </a:endParaRPr>
          </a:p>
          <a:p>
            <a:pPr algn="l">
              <a:defRPr sz="1200" b="0">
                <a:solidFill>
                  <a:srgbClr val="252525"/>
                </a:solidFill>
                <a:latin typeface="Arial"/>
                <a:ea typeface="Arial"/>
                <a:cs typeface="Arial"/>
              </a:defRPr>
            </a:pPr>
            <a:endParaRPr lang="en-US" sz="1200" b="0" dirty="0">
              <a:solidFill>
                <a:srgbClr val="252525"/>
              </a:solidFill>
              <a:latin typeface="Arial"/>
              <a:ea typeface="Arial"/>
              <a:cs typeface="Arial"/>
            </a:endParaRPr>
          </a:p>
          <a:p>
            <a:pPr marL="285750" indent="-285750" algn="l">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ea typeface="Arial"/>
                <a:cs typeface="Arial"/>
              </a:rPr>
              <a:t>Related source transaction</a:t>
            </a:r>
          </a:p>
          <a:p>
            <a:pPr marL="285750" indent="-285750">
              <a:buFont typeface="Wingdings" panose="05000000000000000000" pitchFamily="2" charset="2"/>
              <a:buChar char="§"/>
            </a:pPr>
            <a:endParaRPr sz="2400" dirty="0">
              <a:solidFill>
                <a:srgbClr val="252525"/>
              </a:solidFill>
              <a:latin typeface="Arial"/>
              <a:ea typeface="Arial"/>
              <a:cs typeface="Arial"/>
            </a:endParaRPr>
          </a:p>
          <a:p>
            <a:pPr marL="285750" indent="-285750" algn="l">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ea typeface="Arial"/>
                <a:cs typeface="Arial"/>
              </a:rPr>
              <a:t>Debit and credit effect</a:t>
            </a:r>
          </a:p>
          <a:p>
            <a:pPr marL="285750" indent="-285750">
              <a:buFont typeface="Wingdings" panose="05000000000000000000" pitchFamily="2" charset="2"/>
              <a:buChar char="§"/>
            </a:pPr>
            <a:endParaRPr sz="2400" dirty="0">
              <a:solidFill>
                <a:srgbClr val="252525"/>
              </a:solidFill>
              <a:latin typeface="Arial"/>
              <a:ea typeface="Arial"/>
              <a:cs typeface="Arial"/>
            </a:endParaRPr>
          </a:p>
          <a:p>
            <a:pPr marL="285750" indent="-285750" algn="l">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ea typeface="Arial"/>
                <a:cs typeface="Arial"/>
              </a:rPr>
              <a:t>Account or party ledger</a:t>
            </a:r>
          </a:p>
          <a:p>
            <a:pPr marL="285750" indent="-285750">
              <a:buFont typeface="Wingdings" panose="05000000000000000000" pitchFamily="2" charset="2"/>
              <a:buChar char="§"/>
            </a:pPr>
            <a:endParaRPr sz="2400" dirty="0">
              <a:solidFill>
                <a:srgbClr val="252525"/>
              </a:solidFill>
              <a:latin typeface="Arial"/>
              <a:ea typeface="Arial"/>
              <a:cs typeface="Arial"/>
            </a:endParaRPr>
          </a:p>
          <a:p>
            <a:pPr marL="285750" indent="-285750" algn="l">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ea typeface="Arial"/>
                <a:cs typeface="Arial"/>
              </a:rPr>
              <a:t>Balanced report</a:t>
            </a:r>
          </a:p>
        </p:txBody>
      </p:sp>
      <p:sp>
        <p:nvSpPr>
          <p:cNvPr id="3" name="Rectangle 2">
            <a:extLst>
              <a:ext uri="{FF2B5EF4-FFF2-40B4-BE49-F238E27FC236}">
                <a16:creationId xmlns:a16="http://schemas.microsoft.com/office/drawing/2014/main" id="{F0997863-16CF-C188-FDE5-E182BA9EBBDB}"/>
              </a:ext>
            </a:extLst>
          </p:cNvPr>
          <p:cNvSpPr>
            <a:spLocks noGrp="1"/>
          </p:cNvSpPr>
          <p:nvPr/>
        </p:nvSpPr>
        <p:spPr>
          <a:xfrm>
            <a:off x="514350" y="6419850"/>
            <a:ext cx="11096625" cy="9525"/>
          </a:xfrm>
          <a:prstGeom prst="rect">
            <a:avLst/>
          </a:prstGeom>
          <a:solidFill>
            <a:srgbClr val="C9D2D8"/>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5ED8A0FD-A73A-CE2B-D7E3-C485C0A3E7AF}"/>
              </a:ext>
            </a:extLst>
          </p:cNvPr>
          <p:cNvSpPr>
            <a:spLocks noGrp="1"/>
          </p:cNvSpPr>
          <p:nvPr/>
        </p:nvSpPr>
        <p:spPr>
          <a:xfrm>
            <a:off x="514350" y="6505575"/>
            <a:ext cx="3333750" cy="209550"/>
          </a:xfrm>
          <a:prstGeom prst="rect">
            <a:avLst/>
          </a:prstGeom>
          <a:noFill/>
          <a:ln w="0">
            <a:noFill/>
            <a:prstDash val="solid"/>
          </a:ln>
        </p:spPr>
        <p:txBody>
          <a:bodyPr anchor="ctr">
            <a:normAutofit fontScale="93939" lnSpcReduction="10000"/>
          </a:bodyPr>
          <a:lstStyle/>
          <a:p>
            <a:pPr algn="l">
              <a:defRPr sz="825" b="0">
                <a:solidFill>
                  <a:srgbClr val="5F6B76"/>
                </a:solidFill>
                <a:latin typeface="Arial"/>
                <a:ea typeface="Arial"/>
                <a:cs typeface="Arial"/>
              </a:defRPr>
            </a:pPr>
            <a:r>
              <a:rPr sz="825" b="0" dirty="0" err="1">
                <a:solidFill>
                  <a:srgbClr val="5F6B76"/>
                </a:solidFill>
                <a:latin typeface="Arial"/>
                <a:ea typeface="Arial"/>
                <a:cs typeface="Arial"/>
              </a:rPr>
              <a:t>BizTrack</a:t>
            </a:r>
            <a:r>
              <a:rPr sz="825" b="0" dirty="0">
                <a:solidFill>
                  <a:srgbClr val="5F6B76"/>
                </a:solidFill>
                <a:latin typeface="Arial"/>
                <a:ea typeface="Arial"/>
                <a:cs typeface="Arial"/>
              </a:rPr>
              <a:t> • </a:t>
            </a:r>
            <a:r>
              <a:rPr lang="en-US" sz="825" b="0" dirty="0">
                <a:solidFill>
                  <a:srgbClr val="5F6B76"/>
                </a:solidFill>
                <a:latin typeface="Arial"/>
                <a:ea typeface="Arial"/>
                <a:cs typeface="Arial"/>
              </a:rPr>
              <a:t>A Complete Business Accounting Management System</a:t>
            </a:r>
            <a:endParaRPr sz="825" b="0" dirty="0">
              <a:solidFill>
                <a:srgbClr val="5F6B76"/>
              </a:solidFill>
              <a:latin typeface="Arial"/>
              <a:ea typeface="Arial"/>
              <a:cs typeface="Arial"/>
            </a:endParaRPr>
          </a:p>
        </p:txBody>
      </p:sp>
      <p:sp>
        <p:nvSpPr>
          <p:cNvPr id="15" name="Rectangle 14">
            <a:extLst>
              <a:ext uri="{FF2B5EF4-FFF2-40B4-BE49-F238E27FC236}">
                <a16:creationId xmlns:a16="http://schemas.microsoft.com/office/drawing/2014/main" id="{621493DF-D7D4-DF9F-88C9-147781319815}"/>
              </a:ext>
            </a:extLst>
          </p:cNvPr>
          <p:cNvSpPr>
            <a:spLocks noGrp="1"/>
          </p:cNvSpPr>
          <p:nvPr/>
        </p:nvSpPr>
        <p:spPr>
          <a:xfrm>
            <a:off x="11049000" y="6505575"/>
            <a:ext cx="552450" cy="209550"/>
          </a:xfrm>
          <a:prstGeom prst="rect">
            <a:avLst/>
          </a:prstGeom>
          <a:noFill/>
          <a:ln w="0">
            <a:noFill/>
            <a:prstDash val="solid"/>
          </a:ln>
        </p:spPr>
        <p:txBody>
          <a:bodyPr anchor="ctr">
            <a:normAutofit fontScale="93939" lnSpcReduction="10000"/>
          </a:bodyPr>
          <a:lstStyle/>
          <a:p>
            <a:pPr algn="r">
              <a:defRPr sz="825" b="1">
                <a:solidFill>
                  <a:srgbClr val="5F6B76"/>
                </a:solidFill>
                <a:latin typeface="Arial"/>
                <a:ea typeface="Arial"/>
                <a:cs typeface="Arial"/>
              </a:defRPr>
            </a:pPr>
            <a:r>
              <a:rPr lang="en-US" sz="825" b="1" dirty="0">
                <a:solidFill>
                  <a:srgbClr val="5F6B76"/>
                </a:solidFill>
                <a:latin typeface="Arial"/>
                <a:ea typeface="Arial"/>
                <a:cs typeface="Arial"/>
              </a:rPr>
              <a:t>15</a:t>
            </a:r>
            <a:endParaRPr sz="825" b="1" dirty="0">
              <a:solidFill>
                <a:srgbClr val="5F6B76"/>
              </a:solidFill>
              <a:latin typeface="Arial"/>
              <a:ea typeface="Arial"/>
              <a:cs typeface="Arial"/>
            </a:endParaRPr>
          </a:p>
        </p:txBody>
      </p:sp>
      <p:grpSp>
        <p:nvGrpSpPr>
          <p:cNvPr id="20" name="Group 19">
            <a:extLst>
              <a:ext uri="{FF2B5EF4-FFF2-40B4-BE49-F238E27FC236}">
                <a16:creationId xmlns:a16="http://schemas.microsoft.com/office/drawing/2014/main" id="{C8CEE327-9359-18F8-2F66-2687EEFAAB03}"/>
              </a:ext>
            </a:extLst>
          </p:cNvPr>
          <p:cNvGrpSpPr/>
          <p:nvPr/>
        </p:nvGrpSpPr>
        <p:grpSpPr>
          <a:xfrm>
            <a:off x="1070328" y="-5434453"/>
            <a:ext cx="11313696" cy="12282440"/>
            <a:chOff x="128496" y="126677"/>
            <a:chExt cx="5796816" cy="6293173"/>
          </a:xfrm>
        </p:grpSpPr>
        <p:pic>
          <p:nvPicPr>
            <p:cNvPr id="17" name="Picture 16">
              <a:extLst>
                <a:ext uri="{FF2B5EF4-FFF2-40B4-BE49-F238E27FC236}">
                  <a16:creationId xmlns:a16="http://schemas.microsoft.com/office/drawing/2014/main" id="{563E4A1F-2018-CFA4-A493-FEBDCAC1540C}"/>
                </a:ext>
              </a:extLst>
            </p:cNvPr>
            <p:cNvPicPr>
              <a:picLocks noChangeAspect="1"/>
            </p:cNvPicPr>
            <p:nvPr/>
          </p:nvPicPr>
          <p:blipFill>
            <a:blip r:embed="rId3"/>
            <a:stretch>
              <a:fillRect/>
            </a:stretch>
          </p:blipFill>
          <p:spPr>
            <a:xfrm>
              <a:off x="128496" y="126677"/>
              <a:ext cx="5493032" cy="6293173"/>
            </a:xfrm>
            <a:prstGeom prst="rect">
              <a:avLst/>
            </a:prstGeom>
          </p:spPr>
        </p:pic>
        <p:sp>
          <p:nvSpPr>
            <p:cNvPr id="19" name="Oval 18">
              <a:extLst>
                <a:ext uri="{FF2B5EF4-FFF2-40B4-BE49-F238E27FC236}">
                  <a16:creationId xmlns:a16="http://schemas.microsoft.com/office/drawing/2014/main" id="{E1EA59F2-C89C-69B9-EF24-D5C0A74A87D9}"/>
                </a:ext>
              </a:extLst>
            </p:cNvPr>
            <p:cNvSpPr/>
            <p:nvPr/>
          </p:nvSpPr>
          <p:spPr>
            <a:xfrm>
              <a:off x="3247612" y="5642229"/>
              <a:ext cx="2677700" cy="404241"/>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596420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C0572-0668-52B9-9E60-02805DF7CEA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BDB329F-42A3-AA86-F56C-39BF8607FE51}"/>
              </a:ext>
            </a:extLst>
          </p:cNvPr>
          <p:cNvSpPr>
            <a:spLocks noGrp="1"/>
          </p:cNvSpPr>
          <p:nvPr/>
        </p:nvSpPr>
        <p:spPr>
          <a:xfrm>
            <a:off x="6801358" y="245102"/>
            <a:ext cx="6094476" cy="461665"/>
          </a:xfrm>
          <a:prstGeom prst="rect">
            <a:avLst/>
          </a:prstGeom>
          <a:noFill/>
        </p:spPr>
        <p:txBody>
          <a:bodyPr wrap="square">
            <a:spAutoFit/>
          </a:bodyPr>
          <a:lstStyle/>
          <a:p>
            <a:r>
              <a:rPr sz="2400" b="1" dirty="0">
                <a:latin typeface="Arial"/>
                <a:ea typeface="Arial"/>
                <a:cs typeface="Arial"/>
              </a:rPr>
              <a:t>Software </a:t>
            </a:r>
            <a:r>
              <a:rPr lang="en-US" sz="2400" b="1" dirty="0">
                <a:latin typeface="Arial"/>
                <a:ea typeface="Arial"/>
                <a:cs typeface="Arial"/>
              </a:rPr>
              <a:t>Screenshot</a:t>
            </a:r>
            <a:r>
              <a:rPr sz="2400" b="1" dirty="0">
                <a:latin typeface="Arial"/>
                <a:ea typeface="Arial"/>
                <a:cs typeface="Arial"/>
              </a:rPr>
              <a:t>: Accounting</a:t>
            </a:r>
          </a:p>
        </p:txBody>
      </p:sp>
      <p:sp>
        <p:nvSpPr>
          <p:cNvPr id="5" name="Rectangle 4">
            <a:extLst>
              <a:ext uri="{FF2B5EF4-FFF2-40B4-BE49-F238E27FC236}">
                <a16:creationId xmlns:a16="http://schemas.microsoft.com/office/drawing/2014/main" id="{D0884FB9-0127-BC46-E4F3-BCA258D0EBC1}"/>
              </a:ext>
            </a:extLst>
          </p:cNvPr>
          <p:cNvSpPr>
            <a:spLocks noGrp="1"/>
          </p:cNvSpPr>
          <p:nvPr/>
        </p:nvSpPr>
        <p:spPr>
          <a:xfrm>
            <a:off x="10357612" y="706767"/>
            <a:ext cx="1307592" cy="7961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F5369E0-7B1B-C391-464D-FAD58FACD02F}"/>
              </a:ext>
            </a:extLst>
          </p:cNvPr>
          <p:cNvSpPr>
            <a:spLocks noGrp="1"/>
          </p:cNvSpPr>
          <p:nvPr/>
        </p:nvSpPr>
        <p:spPr>
          <a:xfrm>
            <a:off x="7048500" y="5810250"/>
            <a:ext cx="3714750" cy="944880"/>
          </a:xfrm>
          <a:prstGeom prst="rect">
            <a:avLst/>
          </a:prstGeom>
          <a:noFill/>
        </p:spPr>
        <p:txBody>
          <a:bodyPr wrap="square" anchor="ctr">
            <a:spAutoFit/>
          </a:bodyPr>
          <a:lstStyle/>
          <a:p>
            <a:pPr algn="ctr">
              <a:defRPr sz="975">
                <a:solidFill>
                  <a:srgbClr val="666666"/>
                </a:solidFill>
                <a:latin typeface="Arial"/>
                <a:ea typeface="Arial"/>
                <a:cs typeface="Arial"/>
              </a:defRPr>
            </a:pPr>
            <a:r>
              <a:rPr sz="975" b="1">
                <a:solidFill>
                  <a:srgbClr val="666666"/>
                </a:solidFill>
                <a:latin typeface="Arial"/>
                <a:ea typeface="Arial"/>
                <a:cs typeface="Arial"/>
              </a:rPr>
              <a:t>Real BizTrack software evidence</a:t>
            </a:r>
          </a:p>
        </p:txBody>
      </p:sp>
      <p:sp>
        <p:nvSpPr>
          <p:cNvPr id="12" name="Rectangle 11">
            <a:extLst>
              <a:ext uri="{FF2B5EF4-FFF2-40B4-BE49-F238E27FC236}">
                <a16:creationId xmlns:a16="http://schemas.microsoft.com/office/drawing/2014/main" id="{E32DAECC-3469-CF4F-5A2D-87933A33A5E6}"/>
              </a:ext>
            </a:extLst>
          </p:cNvPr>
          <p:cNvSpPr>
            <a:spLocks noGrp="1"/>
          </p:cNvSpPr>
          <p:nvPr/>
        </p:nvSpPr>
        <p:spPr>
          <a:xfrm>
            <a:off x="6833108" y="1139664"/>
            <a:ext cx="4634992" cy="3048000"/>
          </a:xfrm>
          <a:prstGeom prst="rect">
            <a:avLst/>
          </a:prstGeom>
          <a:noFill/>
          <a:ln w="0">
            <a:noFill/>
            <a:prstDash val="solid"/>
          </a:ln>
        </p:spPr>
        <p:txBody>
          <a:bodyPr anchor="t">
            <a:normAutofit/>
          </a:bodyPr>
          <a:lstStyle/>
          <a:p>
            <a:pPr>
              <a:defRPr sz="1200" b="0">
                <a:solidFill>
                  <a:srgbClr val="252525"/>
                </a:solidFill>
                <a:latin typeface="Arial"/>
                <a:ea typeface="Arial"/>
                <a:cs typeface="Arial"/>
              </a:defRPr>
            </a:pPr>
            <a:r>
              <a:rPr lang="en-US" sz="2000" b="1" dirty="0">
                <a:solidFill>
                  <a:srgbClr val="252525"/>
                </a:solidFill>
                <a:latin typeface="Arial"/>
                <a:ea typeface="Arial"/>
                <a:cs typeface="Arial"/>
              </a:rPr>
              <a:t>Key points</a:t>
            </a:r>
            <a:endParaRPr lang="en-US" sz="2000" dirty="0">
              <a:solidFill>
                <a:srgbClr val="252525"/>
              </a:solidFill>
              <a:latin typeface="Arial"/>
              <a:ea typeface="Arial"/>
              <a:cs typeface="Arial"/>
            </a:endParaRPr>
          </a:p>
          <a:p>
            <a:pPr algn="l">
              <a:defRPr sz="1200" b="0">
                <a:solidFill>
                  <a:srgbClr val="252525"/>
                </a:solidFill>
                <a:latin typeface="Arial"/>
                <a:ea typeface="Arial"/>
                <a:cs typeface="Arial"/>
              </a:defRPr>
            </a:pPr>
            <a:endParaRPr lang="en-US" sz="1200" b="0" dirty="0">
              <a:solidFill>
                <a:srgbClr val="252525"/>
              </a:solidFill>
              <a:latin typeface="Arial"/>
              <a:ea typeface="Arial"/>
              <a:cs typeface="Arial"/>
            </a:endParaRPr>
          </a:p>
          <a:p>
            <a:pPr marL="285750" indent="-285750" algn="l">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ea typeface="Arial"/>
                <a:cs typeface="Arial"/>
              </a:rPr>
              <a:t>Related source transaction</a:t>
            </a:r>
          </a:p>
          <a:p>
            <a:pPr marL="285750" indent="-285750">
              <a:buFont typeface="Wingdings" panose="05000000000000000000" pitchFamily="2" charset="2"/>
              <a:buChar char="§"/>
            </a:pPr>
            <a:endParaRPr sz="2400" dirty="0">
              <a:solidFill>
                <a:srgbClr val="252525"/>
              </a:solidFill>
              <a:latin typeface="Arial"/>
              <a:ea typeface="Arial"/>
              <a:cs typeface="Arial"/>
            </a:endParaRPr>
          </a:p>
          <a:p>
            <a:pPr marL="285750" indent="-285750" algn="l">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ea typeface="Arial"/>
                <a:cs typeface="Arial"/>
              </a:rPr>
              <a:t>Debit and credit effect</a:t>
            </a:r>
          </a:p>
          <a:p>
            <a:pPr marL="285750" indent="-285750">
              <a:buFont typeface="Wingdings" panose="05000000000000000000" pitchFamily="2" charset="2"/>
              <a:buChar char="§"/>
            </a:pPr>
            <a:endParaRPr sz="2400" dirty="0">
              <a:solidFill>
                <a:srgbClr val="252525"/>
              </a:solidFill>
              <a:latin typeface="Arial"/>
              <a:ea typeface="Arial"/>
              <a:cs typeface="Arial"/>
            </a:endParaRPr>
          </a:p>
          <a:p>
            <a:pPr marL="285750" indent="-285750" algn="l">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ea typeface="Arial"/>
                <a:cs typeface="Arial"/>
              </a:rPr>
              <a:t>Account or party ledger</a:t>
            </a:r>
          </a:p>
          <a:p>
            <a:pPr marL="285750" indent="-285750">
              <a:buFont typeface="Wingdings" panose="05000000000000000000" pitchFamily="2" charset="2"/>
              <a:buChar char="§"/>
            </a:pPr>
            <a:endParaRPr sz="2400" dirty="0">
              <a:solidFill>
                <a:srgbClr val="252525"/>
              </a:solidFill>
              <a:latin typeface="Arial"/>
              <a:ea typeface="Arial"/>
              <a:cs typeface="Arial"/>
            </a:endParaRPr>
          </a:p>
          <a:p>
            <a:pPr marL="285750" indent="-285750" algn="l">
              <a:buFont typeface="Wingdings" panose="05000000000000000000" pitchFamily="2" charset="2"/>
              <a:buChar char="§"/>
              <a:defRPr sz="1200" b="0">
                <a:solidFill>
                  <a:srgbClr val="252525"/>
                </a:solidFill>
                <a:latin typeface="Arial"/>
                <a:ea typeface="Arial"/>
                <a:cs typeface="Arial"/>
              </a:defRPr>
            </a:pPr>
            <a:r>
              <a:rPr sz="1600" dirty="0">
                <a:solidFill>
                  <a:srgbClr val="252525"/>
                </a:solidFill>
                <a:latin typeface="Arial"/>
                <a:ea typeface="Arial"/>
                <a:cs typeface="Arial"/>
              </a:rPr>
              <a:t>Balanced report</a:t>
            </a:r>
          </a:p>
        </p:txBody>
      </p:sp>
      <p:sp>
        <p:nvSpPr>
          <p:cNvPr id="3" name="Rectangle 2">
            <a:extLst>
              <a:ext uri="{FF2B5EF4-FFF2-40B4-BE49-F238E27FC236}">
                <a16:creationId xmlns:a16="http://schemas.microsoft.com/office/drawing/2014/main" id="{58441F55-747F-4D8A-1300-F62DDEBCCFEC}"/>
              </a:ext>
            </a:extLst>
          </p:cNvPr>
          <p:cNvSpPr>
            <a:spLocks noGrp="1"/>
          </p:cNvSpPr>
          <p:nvPr/>
        </p:nvSpPr>
        <p:spPr>
          <a:xfrm>
            <a:off x="514350" y="6419850"/>
            <a:ext cx="11096625" cy="9525"/>
          </a:xfrm>
          <a:prstGeom prst="rect">
            <a:avLst/>
          </a:prstGeom>
          <a:solidFill>
            <a:srgbClr val="C9D2D8"/>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CEC9D3FD-9BA0-065A-9CC9-BD06ECB5AB02}"/>
              </a:ext>
            </a:extLst>
          </p:cNvPr>
          <p:cNvSpPr>
            <a:spLocks noGrp="1"/>
          </p:cNvSpPr>
          <p:nvPr/>
        </p:nvSpPr>
        <p:spPr>
          <a:xfrm>
            <a:off x="514350" y="6505575"/>
            <a:ext cx="3333750" cy="209550"/>
          </a:xfrm>
          <a:prstGeom prst="rect">
            <a:avLst/>
          </a:prstGeom>
          <a:noFill/>
          <a:ln w="0">
            <a:noFill/>
            <a:prstDash val="solid"/>
          </a:ln>
        </p:spPr>
        <p:txBody>
          <a:bodyPr anchor="ctr">
            <a:normAutofit fontScale="93939" lnSpcReduction="10000"/>
          </a:bodyPr>
          <a:lstStyle/>
          <a:p>
            <a:pPr algn="l">
              <a:defRPr sz="825" b="0">
                <a:solidFill>
                  <a:srgbClr val="5F6B76"/>
                </a:solidFill>
                <a:latin typeface="Arial"/>
                <a:ea typeface="Arial"/>
                <a:cs typeface="Arial"/>
              </a:defRPr>
            </a:pPr>
            <a:r>
              <a:rPr sz="825" b="0" dirty="0" err="1">
                <a:solidFill>
                  <a:srgbClr val="5F6B76"/>
                </a:solidFill>
                <a:latin typeface="Arial"/>
                <a:ea typeface="Arial"/>
                <a:cs typeface="Arial"/>
              </a:rPr>
              <a:t>BizTrack</a:t>
            </a:r>
            <a:r>
              <a:rPr sz="825" b="0" dirty="0">
                <a:solidFill>
                  <a:srgbClr val="5F6B76"/>
                </a:solidFill>
                <a:latin typeface="Arial"/>
                <a:ea typeface="Arial"/>
                <a:cs typeface="Arial"/>
              </a:rPr>
              <a:t> • </a:t>
            </a:r>
            <a:r>
              <a:rPr lang="en-US" sz="825" b="0" dirty="0">
                <a:solidFill>
                  <a:srgbClr val="5F6B76"/>
                </a:solidFill>
                <a:latin typeface="Arial"/>
                <a:ea typeface="Arial"/>
                <a:cs typeface="Arial"/>
              </a:rPr>
              <a:t>A Complete Business Accounting Management System</a:t>
            </a:r>
            <a:endParaRPr sz="825" b="0" dirty="0">
              <a:solidFill>
                <a:srgbClr val="5F6B76"/>
              </a:solidFill>
              <a:latin typeface="Arial"/>
              <a:ea typeface="Arial"/>
              <a:cs typeface="Arial"/>
            </a:endParaRPr>
          </a:p>
        </p:txBody>
      </p:sp>
      <p:sp>
        <p:nvSpPr>
          <p:cNvPr id="15" name="Rectangle 14">
            <a:extLst>
              <a:ext uri="{FF2B5EF4-FFF2-40B4-BE49-F238E27FC236}">
                <a16:creationId xmlns:a16="http://schemas.microsoft.com/office/drawing/2014/main" id="{3770F866-718C-1305-5A83-C8082A176656}"/>
              </a:ext>
            </a:extLst>
          </p:cNvPr>
          <p:cNvSpPr>
            <a:spLocks noGrp="1"/>
          </p:cNvSpPr>
          <p:nvPr/>
        </p:nvSpPr>
        <p:spPr>
          <a:xfrm>
            <a:off x="11049000" y="6505575"/>
            <a:ext cx="552450" cy="209550"/>
          </a:xfrm>
          <a:prstGeom prst="rect">
            <a:avLst/>
          </a:prstGeom>
          <a:noFill/>
          <a:ln w="0">
            <a:noFill/>
            <a:prstDash val="solid"/>
          </a:ln>
        </p:spPr>
        <p:txBody>
          <a:bodyPr anchor="ctr">
            <a:normAutofit fontScale="93939" lnSpcReduction="10000"/>
          </a:bodyPr>
          <a:lstStyle/>
          <a:p>
            <a:pPr algn="r">
              <a:defRPr sz="825" b="1">
                <a:solidFill>
                  <a:srgbClr val="5F6B76"/>
                </a:solidFill>
                <a:latin typeface="Arial"/>
                <a:ea typeface="Arial"/>
                <a:cs typeface="Arial"/>
              </a:defRPr>
            </a:pPr>
            <a:r>
              <a:rPr lang="en-US" sz="825" b="1" dirty="0">
                <a:solidFill>
                  <a:srgbClr val="5F6B76"/>
                </a:solidFill>
                <a:latin typeface="Arial"/>
                <a:ea typeface="Arial"/>
                <a:cs typeface="Arial"/>
              </a:rPr>
              <a:t>15</a:t>
            </a:r>
            <a:endParaRPr sz="825" b="1" dirty="0">
              <a:solidFill>
                <a:srgbClr val="5F6B76"/>
              </a:solidFill>
              <a:latin typeface="Arial"/>
              <a:ea typeface="Arial"/>
              <a:cs typeface="Arial"/>
            </a:endParaRPr>
          </a:p>
        </p:txBody>
      </p:sp>
      <p:grpSp>
        <p:nvGrpSpPr>
          <p:cNvPr id="20" name="Group 19">
            <a:extLst>
              <a:ext uri="{FF2B5EF4-FFF2-40B4-BE49-F238E27FC236}">
                <a16:creationId xmlns:a16="http://schemas.microsoft.com/office/drawing/2014/main" id="{A4EC6F89-45DF-36EF-966A-90118A635380}"/>
              </a:ext>
            </a:extLst>
          </p:cNvPr>
          <p:cNvGrpSpPr/>
          <p:nvPr/>
        </p:nvGrpSpPr>
        <p:grpSpPr>
          <a:xfrm>
            <a:off x="128496" y="126677"/>
            <a:ext cx="5796816" cy="6293173"/>
            <a:chOff x="128496" y="126677"/>
            <a:chExt cx="5796816" cy="6293173"/>
          </a:xfrm>
        </p:grpSpPr>
        <p:pic>
          <p:nvPicPr>
            <p:cNvPr id="17" name="Picture 16">
              <a:extLst>
                <a:ext uri="{FF2B5EF4-FFF2-40B4-BE49-F238E27FC236}">
                  <a16:creationId xmlns:a16="http://schemas.microsoft.com/office/drawing/2014/main" id="{C896EA0B-8CC0-3B73-1672-5CB13F89AE64}"/>
                </a:ext>
              </a:extLst>
            </p:cNvPr>
            <p:cNvPicPr>
              <a:picLocks noChangeAspect="1"/>
            </p:cNvPicPr>
            <p:nvPr/>
          </p:nvPicPr>
          <p:blipFill>
            <a:blip r:embed="rId3"/>
            <a:stretch>
              <a:fillRect/>
            </a:stretch>
          </p:blipFill>
          <p:spPr>
            <a:xfrm>
              <a:off x="128496" y="126677"/>
              <a:ext cx="5493032" cy="6293173"/>
            </a:xfrm>
            <a:prstGeom prst="rect">
              <a:avLst/>
            </a:prstGeom>
          </p:spPr>
        </p:pic>
        <p:sp>
          <p:nvSpPr>
            <p:cNvPr id="19" name="Oval 18">
              <a:extLst>
                <a:ext uri="{FF2B5EF4-FFF2-40B4-BE49-F238E27FC236}">
                  <a16:creationId xmlns:a16="http://schemas.microsoft.com/office/drawing/2014/main" id="{E2B46FFE-07FB-BF16-6E36-CF9F1497D4C4}"/>
                </a:ext>
              </a:extLst>
            </p:cNvPr>
            <p:cNvSpPr/>
            <p:nvPr/>
          </p:nvSpPr>
          <p:spPr>
            <a:xfrm>
              <a:off x="3247612" y="5642229"/>
              <a:ext cx="2677700" cy="404241"/>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173798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C24D9F-F127-4870-062B-C2F21375F710}"/>
              </a:ext>
            </a:extLst>
          </p:cNvPr>
          <p:cNvSpPr>
            <a:spLocks noGrp="1"/>
          </p:cNvSpPr>
          <p:nvPr/>
        </p:nvSpPr>
        <p:spPr>
          <a:xfrm>
            <a:off x="667512" y="1269302"/>
            <a:ext cx="6094476" cy="2308324"/>
          </a:xfrm>
          <a:prstGeom prst="rect">
            <a:avLst/>
          </a:prstGeom>
          <a:noFill/>
        </p:spPr>
        <p:txBody>
          <a:bodyPr wrap="square">
            <a:spAutoFit/>
          </a:bodyPr>
          <a:lstStyle/>
          <a:p>
            <a:pPr>
              <a:buNone/>
            </a:pPr>
            <a:r>
              <a:rPr b="1">
                <a:latin typeface="Arial"/>
                <a:ea typeface="Arial"/>
                <a:cs typeface="Arial"/>
              </a:rPr>
              <a:t>Security</a:t>
            </a:r>
          </a:p>
          <a:p>
            <a:pPr marL="285750" indent="-285750">
              <a:buFont typeface="Wingdings"/>
              <a:buChar char="§"/>
            </a:pPr>
            <a:r>
              <a:rPr>
                <a:latin typeface="Arial"/>
                <a:ea typeface="Arial"/>
                <a:cs typeface="Arial"/>
              </a:rPr>
              <a:t>Authentication </a:t>
            </a:r>
          </a:p>
          <a:p>
            <a:pPr marL="285750" indent="-285750">
              <a:buFont typeface="Wingdings"/>
              <a:buChar char="§"/>
            </a:pPr>
            <a:r>
              <a:rPr>
                <a:latin typeface="Arial"/>
                <a:ea typeface="Arial"/>
                <a:cs typeface="Arial"/>
              </a:rPr>
              <a:t>Role-Based Access Control </a:t>
            </a:r>
          </a:p>
          <a:p>
            <a:pPr marL="285750" indent="-285750">
              <a:buFont typeface="Wingdings"/>
              <a:buChar char="§"/>
            </a:pPr>
            <a:r>
              <a:rPr>
                <a:latin typeface="Arial"/>
                <a:ea typeface="Arial"/>
                <a:cs typeface="Arial"/>
              </a:rPr>
              <a:t>Password Hashing </a:t>
            </a:r>
          </a:p>
          <a:p>
            <a:pPr marL="285750" indent="-285750">
              <a:buFont typeface="Wingdings"/>
              <a:buChar char="§"/>
            </a:pPr>
            <a:r>
              <a:rPr>
                <a:latin typeface="Arial"/>
                <a:ea typeface="Arial"/>
                <a:cs typeface="Arial"/>
              </a:rPr>
              <a:t>CSRF Protection </a:t>
            </a:r>
          </a:p>
          <a:p>
            <a:pPr marL="285750" indent="-285750">
              <a:buFont typeface="Wingdings"/>
              <a:buChar char="§"/>
            </a:pPr>
            <a:r>
              <a:rPr>
                <a:latin typeface="Arial"/>
                <a:ea typeface="Arial"/>
                <a:cs typeface="Arial"/>
              </a:rPr>
              <a:t>Validation </a:t>
            </a:r>
          </a:p>
          <a:p>
            <a:pPr marL="285750" indent="-285750">
              <a:buFont typeface="Wingdings"/>
              <a:buChar char="§"/>
            </a:pPr>
            <a:r>
              <a:rPr>
                <a:latin typeface="Arial"/>
                <a:ea typeface="Arial"/>
                <a:cs typeface="Arial"/>
              </a:rPr>
              <a:t>Audit Trail </a:t>
            </a:r>
          </a:p>
          <a:p>
            <a:pPr>
              <a:buNone/>
            </a:pPr>
            <a:endParaRPr>
              <a:latin typeface="Arial"/>
              <a:ea typeface="Arial"/>
              <a:cs typeface="Arial"/>
            </a:endParaRPr>
          </a:p>
        </p:txBody>
      </p:sp>
      <p:sp>
        <p:nvSpPr>
          <p:cNvPr id="5" name="TextBox 4">
            <a:extLst>
              <a:ext uri="{FF2B5EF4-FFF2-40B4-BE49-F238E27FC236}">
                <a16:creationId xmlns:a16="http://schemas.microsoft.com/office/drawing/2014/main" id="{5ECAB07A-220C-D74D-8799-DCE9FEE54FB5}"/>
              </a:ext>
            </a:extLst>
          </p:cNvPr>
          <p:cNvSpPr>
            <a:spLocks noGrp="1"/>
          </p:cNvSpPr>
          <p:nvPr/>
        </p:nvSpPr>
        <p:spPr>
          <a:xfrm>
            <a:off x="667512" y="3577626"/>
            <a:ext cx="6094476" cy="1477328"/>
          </a:xfrm>
          <a:prstGeom prst="rect">
            <a:avLst/>
          </a:prstGeom>
          <a:noFill/>
        </p:spPr>
        <p:txBody>
          <a:bodyPr wrap="square">
            <a:spAutoFit/>
          </a:bodyPr>
          <a:lstStyle/>
          <a:p>
            <a:pPr>
              <a:buNone/>
            </a:pPr>
            <a:r>
              <a:rPr b="1" dirty="0">
                <a:latin typeface="Arial"/>
                <a:ea typeface="Arial"/>
                <a:cs typeface="Arial"/>
              </a:rPr>
              <a:t>Testing</a:t>
            </a:r>
          </a:p>
          <a:p>
            <a:pPr marL="285750" indent="-285750">
              <a:buFont typeface="Wingdings"/>
              <a:buChar char="§"/>
            </a:pPr>
            <a:r>
              <a:rPr dirty="0">
                <a:latin typeface="Arial"/>
                <a:ea typeface="Arial"/>
                <a:cs typeface="Arial"/>
              </a:rPr>
              <a:t>Unit Testing </a:t>
            </a:r>
          </a:p>
          <a:p>
            <a:pPr marL="285750" indent="-285750">
              <a:buFont typeface="Wingdings"/>
              <a:buChar char="§"/>
            </a:pPr>
            <a:r>
              <a:rPr dirty="0">
                <a:latin typeface="Arial"/>
                <a:ea typeface="Arial"/>
                <a:cs typeface="Arial"/>
              </a:rPr>
              <a:t>Integration Testing </a:t>
            </a:r>
          </a:p>
          <a:p>
            <a:pPr marL="285750" indent="-285750">
              <a:buFont typeface="Wingdings"/>
              <a:buChar char="§"/>
            </a:pPr>
            <a:r>
              <a:rPr dirty="0">
                <a:latin typeface="Arial"/>
                <a:ea typeface="Arial"/>
                <a:cs typeface="Arial"/>
              </a:rPr>
              <a:t>System Testing </a:t>
            </a:r>
          </a:p>
          <a:p>
            <a:pPr marL="285750" indent="-285750">
              <a:buFont typeface="Wingdings"/>
              <a:buChar char="§"/>
            </a:pPr>
            <a:r>
              <a:rPr dirty="0">
                <a:latin typeface="Arial"/>
                <a:ea typeface="Arial"/>
                <a:cs typeface="Arial"/>
              </a:rPr>
              <a:t>User Acceptance Testing</a:t>
            </a:r>
            <a:endParaRPr dirty="0"/>
          </a:p>
        </p:txBody>
      </p:sp>
      <p:sp>
        <p:nvSpPr>
          <p:cNvPr id="8" name="TextBox 7">
            <a:extLst>
              <a:ext uri="{FF2B5EF4-FFF2-40B4-BE49-F238E27FC236}">
                <a16:creationId xmlns:a16="http://schemas.microsoft.com/office/drawing/2014/main" id="{CA50FDA6-BCEA-8E89-9A34-6D5BB61F4E8A}"/>
              </a:ext>
            </a:extLst>
          </p:cNvPr>
          <p:cNvSpPr>
            <a:spLocks noGrp="1"/>
          </p:cNvSpPr>
          <p:nvPr/>
        </p:nvSpPr>
        <p:spPr>
          <a:xfrm>
            <a:off x="578358" y="245102"/>
            <a:ext cx="6094476" cy="461665"/>
          </a:xfrm>
          <a:prstGeom prst="rect">
            <a:avLst/>
          </a:prstGeom>
          <a:noFill/>
        </p:spPr>
        <p:txBody>
          <a:bodyPr wrap="square">
            <a:spAutoFit/>
          </a:bodyPr>
          <a:lstStyle/>
          <a:p>
            <a:r>
              <a:rPr sz="2400" b="1">
                <a:latin typeface="Arial"/>
                <a:ea typeface="Arial"/>
                <a:cs typeface="Arial"/>
              </a:rPr>
              <a:t>Implementation, Security &amp; Testing</a:t>
            </a:r>
          </a:p>
        </p:txBody>
      </p:sp>
      <p:sp>
        <p:nvSpPr>
          <p:cNvPr id="9" name="Rectangle 8">
            <a:extLst>
              <a:ext uri="{FF2B5EF4-FFF2-40B4-BE49-F238E27FC236}">
                <a16:creationId xmlns:a16="http://schemas.microsoft.com/office/drawing/2014/main" id="{01419B26-99D1-8D3B-252E-F9601BA6CC47}"/>
              </a:ext>
            </a:extLst>
          </p:cNvPr>
          <p:cNvSpPr>
            <a:spLocks noGrp="1"/>
          </p:cNvSpPr>
          <p:nvPr/>
        </p:nvSpPr>
        <p:spPr>
          <a:xfrm>
            <a:off x="667512" y="706767"/>
            <a:ext cx="1307592" cy="7961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5" name="Picture 14"/>
          <p:cNvPicPr>
            <a:picLocks noChangeAspect="1"/>
          </p:cNvPicPr>
          <p:nvPr/>
        </p:nvPicPr>
        <p:blipFill>
          <a:blip r:embed="rId3"/>
          <a:stretch/>
        </p:blipFill>
        <p:spPr>
          <a:xfrm>
            <a:off x="5742432" y="142875"/>
            <a:ext cx="6094476" cy="6094476"/>
          </a:xfrm>
          <a:prstGeom prst="rect">
            <a:avLst/>
          </a:prstGeom>
        </p:spPr>
      </p:pic>
      <p:sp>
        <p:nvSpPr>
          <p:cNvPr id="4" name="Rectangle 3">
            <a:extLst>
              <a:ext uri="{FF2B5EF4-FFF2-40B4-BE49-F238E27FC236}">
                <a16:creationId xmlns:a16="http://schemas.microsoft.com/office/drawing/2014/main" id="{8AEA39AE-E467-ECAE-BC90-E8C149C7082A}"/>
              </a:ext>
            </a:extLst>
          </p:cNvPr>
          <p:cNvSpPr>
            <a:spLocks noGrp="1"/>
          </p:cNvSpPr>
          <p:nvPr/>
        </p:nvSpPr>
        <p:spPr>
          <a:xfrm>
            <a:off x="514350" y="6419850"/>
            <a:ext cx="11096625" cy="9525"/>
          </a:xfrm>
          <a:prstGeom prst="rect">
            <a:avLst/>
          </a:prstGeom>
          <a:solidFill>
            <a:srgbClr val="C9D2D8"/>
          </a:solidFill>
          <a:ln w="0">
            <a:noFill/>
            <a:prstDash val="solid"/>
          </a:ln>
        </p:spPr>
        <p:txBody>
          <a:bodyPr/>
          <a:lstStyle/>
          <a:p>
            <a:endParaRPr lang="en-US"/>
          </a:p>
        </p:txBody>
      </p:sp>
      <p:sp>
        <p:nvSpPr>
          <p:cNvPr id="7" name="Rectangle 6">
            <a:extLst>
              <a:ext uri="{FF2B5EF4-FFF2-40B4-BE49-F238E27FC236}">
                <a16:creationId xmlns:a16="http://schemas.microsoft.com/office/drawing/2014/main" id="{68731488-6449-CBFF-FF9F-38BC562541E6}"/>
              </a:ext>
            </a:extLst>
          </p:cNvPr>
          <p:cNvSpPr>
            <a:spLocks noGrp="1"/>
          </p:cNvSpPr>
          <p:nvPr/>
        </p:nvSpPr>
        <p:spPr>
          <a:xfrm>
            <a:off x="514350" y="6505575"/>
            <a:ext cx="3333750" cy="209550"/>
          </a:xfrm>
          <a:prstGeom prst="rect">
            <a:avLst/>
          </a:prstGeom>
          <a:noFill/>
          <a:ln w="0">
            <a:noFill/>
            <a:prstDash val="solid"/>
          </a:ln>
        </p:spPr>
        <p:txBody>
          <a:bodyPr anchor="ctr">
            <a:normAutofit fontScale="93939" lnSpcReduction="10000"/>
          </a:bodyPr>
          <a:lstStyle/>
          <a:p>
            <a:pPr algn="l">
              <a:defRPr sz="825" b="0">
                <a:solidFill>
                  <a:srgbClr val="5F6B76"/>
                </a:solidFill>
                <a:latin typeface="Arial"/>
                <a:ea typeface="Arial"/>
                <a:cs typeface="Arial"/>
              </a:defRPr>
            </a:pPr>
            <a:r>
              <a:rPr sz="825" b="0" dirty="0" err="1">
                <a:solidFill>
                  <a:srgbClr val="5F6B76"/>
                </a:solidFill>
                <a:latin typeface="Arial"/>
                <a:ea typeface="Arial"/>
                <a:cs typeface="Arial"/>
              </a:rPr>
              <a:t>BizTrack</a:t>
            </a:r>
            <a:r>
              <a:rPr sz="825" b="0" dirty="0">
                <a:solidFill>
                  <a:srgbClr val="5F6B76"/>
                </a:solidFill>
                <a:latin typeface="Arial"/>
                <a:ea typeface="Arial"/>
                <a:cs typeface="Arial"/>
              </a:rPr>
              <a:t> • </a:t>
            </a:r>
            <a:r>
              <a:rPr lang="en-US" sz="825" b="0" dirty="0">
                <a:solidFill>
                  <a:srgbClr val="5F6B76"/>
                </a:solidFill>
                <a:latin typeface="Arial"/>
                <a:ea typeface="Arial"/>
                <a:cs typeface="Arial"/>
              </a:rPr>
              <a:t>A Complete Business Accounting Management System</a:t>
            </a:r>
            <a:endParaRPr sz="825" b="0" dirty="0">
              <a:solidFill>
                <a:srgbClr val="5F6B76"/>
              </a:solidFill>
              <a:latin typeface="Arial"/>
              <a:ea typeface="Arial"/>
              <a:cs typeface="Arial"/>
            </a:endParaRPr>
          </a:p>
        </p:txBody>
      </p:sp>
      <p:sp>
        <p:nvSpPr>
          <p:cNvPr id="11" name="Rectangle 10">
            <a:extLst>
              <a:ext uri="{FF2B5EF4-FFF2-40B4-BE49-F238E27FC236}">
                <a16:creationId xmlns:a16="http://schemas.microsoft.com/office/drawing/2014/main" id="{DCCB7FC3-758D-9850-92AF-A5C2583B1726}"/>
              </a:ext>
            </a:extLst>
          </p:cNvPr>
          <p:cNvSpPr>
            <a:spLocks noGrp="1"/>
          </p:cNvSpPr>
          <p:nvPr/>
        </p:nvSpPr>
        <p:spPr>
          <a:xfrm>
            <a:off x="11049000" y="6505575"/>
            <a:ext cx="552450" cy="209550"/>
          </a:xfrm>
          <a:prstGeom prst="rect">
            <a:avLst/>
          </a:prstGeom>
          <a:noFill/>
          <a:ln w="0">
            <a:noFill/>
            <a:prstDash val="solid"/>
          </a:ln>
        </p:spPr>
        <p:txBody>
          <a:bodyPr anchor="ctr">
            <a:normAutofit fontScale="93939" lnSpcReduction="10000"/>
          </a:bodyPr>
          <a:lstStyle/>
          <a:p>
            <a:pPr algn="r">
              <a:defRPr sz="825" b="1">
                <a:solidFill>
                  <a:srgbClr val="5F6B76"/>
                </a:solidFill>
                <a:latin typeface="Arial"/>
                <a:ea typeface="Arial"/>
                <a:cs typeface="Arial"/>
              </a:defRPr>
            </a:pPr>
            <a:r>
              <a:rPr lang="en-US" sz="825" b="1" dirty="0">
                <a:solidFill>
                  <a:srgbClr val="5F6B76"/>
                </a:solidFill>
                <a:latin typeface="Arial"/>
                <a:ea typeface="Arial"/>
                <a:cs typeface="Arial"/>
              </a:rPr>
              <a:t>16</a:t>
            </a:r>
            <a:endParaRPr sz="825" b="1" dirty="0">
              <a:solidFill>
                <a:srgbClr val="5F6B76"/>
              </a:solidFill>
              <a:latin typeface="Arial"/>
              <a:ea typeface="Arial"/>
              <a:cs typeface="Arial"/>
            </a:endParaRPr>
          </a:p>
        </p:txBody>
      </p:sp>
    </p:spTree>
    <p:extLst>
      <p:ext uri="{BB962C8B-B14F-4D97-AF65-F5344CB8AC3E}">
        <p14:creationId xmlns:p14="http://schemas.microsoft.com/office/powerpoint/2010/main" val="32613782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18C4535-D7A9-4E59-AE87-109F644401F4}"/>
              </a:ext>
            </a:extLst>
          </p:cNvPr>
          <p:cNvSpPr>
            <a:spLocks noGrp="1"/>
          </p:cNvSpPr>
          <p:nvPr/>
        </p:nvSpPr>
        <p:spPr>
          <a:xfrm>
            <a:off x="514350" y="323850"/>
            <a:ext cx="2857500" cy="228600"/>
          </a:xfrm>
          <a:prstGeom prst="rect">
            <a:avLst/>
          </a:prstGeom>
          <a:noFill/>
          <a:ln w="0">
            <a:noFill/>
            <a:prstDash val="solid"/>
          </a:ln>
        </p:spPr>
        <p:txBody>
          <a:bodyPr anchor="ctr">
            <a:normAutofit/>
          </a:bodyPr>
          <a:lstStyle/>
          <a:p>
            <a:pPr algn="l">
              <a:defRPr sz="900" b="1">
                <a:solidFill>
                  <a:srgbClr val="2A7F7F"/>
                </a:solidFill>
                <a:latin typeface="Arial"/>
                <a:ea typeface="Arial"/>
                <a:cs typeface="Arial"/>
              </a:defRPr>
            </a:pPr>
            <a:r>
              <a:rPr sz="900" b="1">
                <a:solidFill>
                  <a:srgbClr val="2A7F7F"/>
                </a:solidFill>
                <a:latin typeface="Arial"/>
                <a:ea typeface="Arial"/>
                <a:cs typeface="Arial"/>
              </a:rPr>
              <a:t>EVALUATION</a:t>
            </a:r>
          </a:p>
        </p:txBody>
      </p:sp>
      <p:sp>
        <p:nvSpPr>
          <p:cNvPr id="3" name="Rectangle 2">
            <a:extLst>
              <a:ext uri="{FF2B5EF4-FFF2-40B4-BE49-F238E27FC236}">
                <a16:creationId xmlns:a16="http://schemas.microsoft.com/office/drawing/2014/main" id="{9B26D62D-9FED-4E59-B908-727826384AE6}"/>
              </a:ext>
            </a:extLst>
          </p:cNvPr>
          <p:cNvSpPr>
            <a:spLocks noGrp="1"/>
          </p:cNvSpPr>
          <p:nvPr/>
        </p:nvSpPr>
        <p:spPr>
          <a:xfrm>
            <a:off x="514350" y="590550"/>
            <a:ext cx="11096625" cy="523875"/>
          </a:xfrm>
          <a:prstGeom prst="rect">
            <a:avLst/>
          </a:prstGeom>
          <a:noFill/>
          <a:ln w="0">
            <a:noFill/>
            <a:prstDash val="solid"/>
          </a:ln>
        </p:spPr>
        <p:txBody>
          <a:bodyPr anchor="ctr">
            <a:normAutofit/>
          </a:bodyPr>
          <a:lstStyle/>
          <a:p>
            <a:pPr algn="l">
              <a:defRPr sz="2550" b="1">
                <a:solidFill>
                  <a:srgbClr val="183B56"/>
                </a:solidFill>
                <a:latin typeface="Arial"/>
                <a:ea typeface="Arial"/>
                <a:cs typeface="Arial"/>
              </a:defRPr>
            </a:pPr>
            <a:r>
              <a:rPr sz="2550" b="1">
                <a:solidFill>
                  <a:srgbClr val="183B56"/>
                </a:solidFill>
                <a:latin typeface="Arial"/>
                <a:ea typeface="Arial"/>
                <a:cs typeface="Arial"/>
              </a:rPr>
              <a:t>The three project objectives were achieved in the test environment</a:t>
            </a:r>
          </a:p>
        </p:txBody>
      </p:sp>
      <p:sp>
        <p:nvSpPr>
          <p:cNvPr id="4" name="Rectangle 3">
            <a:extLst>
              <a:ext uri="{FF2B5EF4-FFF2-40B4-BE49-F238E27FC236}">
                <a16:creationId xmlns:a16="http://schemas.microsoft.com/office/drawing/2014/main" id="{656AFC31-6926-4E1E-A5DB-9A73D29CE2B5}"/>
              </a:ext>
            </a:extLst>
          </p:cNvPr>
          <p:cNvSpPr>
            <a:spLocks noGrp="1"/>
          </p:cNvSpPr>
          <p:nvPr/>
        </p:nvSpPr>
        <p:spPr>
          <a:xfrm>
            <a:off x="514350" y="1200150"/>
            <a:ext cx="781050" cy="38100"/>
          </a:xfrm>
          <a:prstGeom prst="rect">
            <a:avLst/>
          </a:prstGeom>
          <a:solidFill>
            <a:srgbClr val="D89B2B"/>
          </a:solidFill>
          <a:ln w="0">
            <a:noFill/>
            <a:prstDash val="solid"/>
          </a:ln>
        </p:spPr>
        <p:txBody>
          <a:bodyPr/>
          <a:lstStyle/>
          <a:p>
            <a:endParaRPr lang="en-US"/>
          </a:p>
        </p:txBody>
      </p:sp>
      <p:sp>
        <p:nvSpPr>
          <p:cNvPr id="5" name="Rectangle 4">
            <a:extLst>
              <a:ext uri="{FF2B5EF4-FFF2-40B4-BE49-F238E27FC236}">
                <a16:creationId xmlns:a16="http://schemas.microsoft.com/office/drawing/2014/main" id="{5CA1BE05-FB4D-40DB-91F1-E11BFE1AB820}"/>
              </a:ext>
            </a:extLst>
          </p:cNvPr>
          <p:cNvSpPr>
            <a:spLocks noGrp="1"/>
          </p:cNvSpPr>
          <p:nvPr/>
        </p:nvSpPr>
        <p:spPr>
          <a:xfrm>
            <a:off x="514350" y="6419850"/>
            <a:ext cx="11096625" cy="9525"/>
          </a:xfrm>
          <a:prstGeom prst="rect">
            <a:avLst/>
          </a:prstGeom>
          <a:solidFill>
            <a:srgbClr val="C9D2D8"/>
          </a:solidFill>
          <a:ln w="0">
            <a:noFill/>
            <a:prstDash val="solid"/>
          </a:ln>
        </p:spPr>
        <p:txBody>
          <a:bodyPr/>
          <a:lstStyle/>
          <a:p>
            <a:endParaRPr lang="en-US"/>
          </a:p>
        </p:txBody>
      </p:sp>
      <p:sp>
        <p:nvSpPr>
          <p:cNvPr id="6" name="Rectangle 5">
            <a:extLst>
              <a:ext uri="{FF2B5EF4-FFF2-40B4-BE49-F238E27FC236}">
                <a16:creationId xmlns:a16="http://schemas.microsoft.com/office/drawing/2014/main" id="{43BF137B-DA05-4484-A46E-D4C53C63093E}"/>
              </a:ext>
            </a:extLst>
          </p:cNvPr>
          <p:cNvSpPr>
            <a:spLocks noGrp="1"/>
          </p:cNvSpPr>
          <p:nvPr/>
        </p:nvSpPr>
        <p:spPr>
          <a:xfrm>
            <a:off x="514350" y="6505575"/>
            <a:ext cx="3333750" cy="209550"/>
          </a:xfrm>
          <a:prstGeom prst="rect">
            <a:avLst/>
          </a:prstGeom>
          <a:noFill/>
          <a:ln w="0">
            <a:noFill/>
            <a:prstDash val="solid"/>
          </a:ln>
        </p:spPr>
        <p:txBody>
          <a:bodyPr anchor="ctr">
            <a:normAutofit fontScale="93939" lnSpcReduction="10000"/>
          </a:bodyPr>
          <a:lstStyle/>
          <a:p>
            <a:pPr>
              <a:defRPr sz="825" b="0">
                <a:solidFill>
                  <a:srgbClr val="5F6B76"/>
                </a:solidFill>
                <a:latin typeface="Arial"/>
                <a:ea typeface="Arial"/>
                <a:cs typeface="Arial"/>
              </a:defRPr>
            </a:pPr>
            <a:r>
              <a:rPr lang="en-US" sz="825" dirty="0" err="1">
                <a:solidFill>
                  <a:srgbClr val="5F6B76"/>
                </a:solidFill>
                <a:latin typeface="Arial"/>
                <a:ea typeface="Arial"/>
                <a:cs typeface="Arial"/>
              </a:rPr>
              <a:t>BizTrack</a:t>
            </a:r>
            <a:r>
              <a:rPr lang="en-US" sz="825" dirty="0">
                <a:solidFill>
                  <a:srgbClr val="5F6B76"/>
                </a:solidFill>
                <a:latin typeface="Arial"/>
                <a:ea typeface="Arial"/>
                <a:cs typeface="Arial"/>
              </a:rPr>
              <a:t> • A Complete Business Accounting Management System</a:t>
            </a:r>
          </a:p>
        </p:txBody>
      </p:sp>
      <p:sp>
        <p:nvSpPr>
          <p:cNvPr id="7" name="Rectangle 6">
            <a:extLst>
              <a:ext uri="{FF2B5EF4-FFF2-40B4-BE49-F238E27FC236}">
                <a16:creationId xmlns:a16="http://schemas.microsoft.com/office/drawing/2014/main" id="{A689799D-07D2-47B9-B2FD-DB1D80AF3E2F}"/>
              </a:ext>
            </a:extLst>
          </p:cNvPr>
          <p:cNvSpPr>
            <a:spLocks noGrp="1"/>
          </p:cNvSpPr>
          <p:nvPr/>
        </p:nvSpPr>
        <p:spPr>
          <a:xfrm>
            <a:off x="11049000" y="6505575"/>
            <a:ext cx="552450" cy="209550"/>
          </a:xfrm>
          <a:prstGeom prst="rect">
            <a:avLst/>
          </a:prstGeom>
          <a:noFill/>
          <a:ln w="0">
            <a:noFill/>
            <a:prstDash val="solid"/>
          </a:ln>
        </p:spPr>
        <p:txBody>
          <a:bodyPr anchor="ctr">
            <a:normAutofit fontScale="93939" lnSpcReduction="10000"/>
          </a:bodyPr>
          <a:lstStyle/>
          <a:p>
            <a:pPr algn="r">
              <a:defRPr sz="825" b="1">
                <a:solidFill>
                  <a:srgbClr val="5F6B76"/>
                </a:solidFill>
                <a:latin typeface="Arial"/>
                <a:ea typeface="Arial"/>
                <a:cs typeface="Arial"/>
              </a:defRPr>
            </a:pPr>
            <a:r>
              <a:rPr lang="en-US" sz="825" b="1" dirty="0">
                <a:solidFill>
                  <a:srgbClr val="5F6B76"/>
                </a:solidFill>
                <a:latin typeface="Arial"/>
                <a:ea typeface="Arial"/>
                <a:cs typeface="Arial"/>
              </a:rPr>
              <a:t>17</a:t>
            </a:r>
            <a:endParaRPr sz="825" b="1" dirty="0">
              <a:solidFill>
                <a:srgbClr val="5F6B76"/>
              </a:solidFill>
              <a:latin typeface="Arial"/>
              <a:ea typeface="Arial"/>
              <a:cs typeface="Arial"/>
            </a:endParaRPr>
          </a:p>
        </p:txBody>
      </p:sp>
      <p:sp>
        <p:nvSpPr>
          <p:cNvPr id="8" name="Rectangle 7">
            <a:extLst>
              <a:ext uri="{FF2B5EF4-FFF2-40B4-BE49-F238E27FC236}">
                <a16:creationId xmlns:a16="http://schemas.microsoft.com/office/drawing/2014/main" id="{569220EC-A486-4881-8D24-648A9DE0C2CE}"/>
              </a:ext>
            </a:extLst>
          </p:cNvPr>
          <p:cNvSpPr>
            <a:spLocks noGrp="1"/>
          </p:cNvSpPr>
          <p:nvPr/>
        </p:nvSpPr>
        <p:spPr>
          <a:xfrm>
            <a:off x="762000" y="1571625"/>
            <a:ext cx="2857500" cy="266700"/>
          </a:xfrm>
          <a:prstGeom prst="rect">
            <a:avLst/>
          </a:prstGeom>
          <a:noFill/>
          <a:ln w="0">
            <a:noFill/>
            <a:prstDash val="solid"/>
          </a:ln>
        </p:spPr>
        <p:txBody>
          <a:bodyPr anchor="ctr">
            <a:normAutofit/>
          </a:bodyPr>
          <a:lstStyle/>
          <a:p>
            <a:pPr algn="l">
              <a:defRPr sz="975" b="1">
                <a:solidFill>
                  <a:srgbClr val="5F6B76"/>
                </a:solidFill>
                <a:latin typeface="Arial"/>
                <a:ea typeface="Arial"/>
                <a:cs typeface="Arial"/>
              </a:defRPr>
            </a:pPr>
            <a:r>
              <a:rPr sz="975" b="1">
                <a:solidFill>
                  <a:srgbClr val="5F6B76"/>
                </a:solidFill>
                <a:latin typeface="Arial"/>
                <a:ea typeface="Arial"/>
                <a:cs typeface="Arial"/>
              </a:rPr>
              <a:t>OBJECTIVE</a:t>
            </a:r>
          </a:p>
        </p:txBody>
      </p:sp>
      <p:sp>
        <p:nvSpPr>
          <p:cNvPr id="9" name="Rectangle 8">
            <a:extLst>
              <a:ext uri="{FF2B5EF4-FFF2-40B4-BE49-F238E27FC236}">
                <a16:creationId xmlns:a16="http://schemas.microsoft.com/office/drawing/2014/main" id="{71BC44A2-41AB-42B4-801E-FE811B086F9C}"/>
              </a:ext>
            </a:extLst>
          </p:cNvPr>
          <p:cNvSpPr>
            <a:spLocks noGrp="1"/>
          </p:cNvSpPr>
          <p:nvPr/>
        </p:nvSpPr>
        <p:spPr>
          <a:xfrm>
            <a:off x="4191000" y="1571625"/>
            <a:ext cx="4476750" cy="266700"/>
          </a:xfrm>
          <a:prstGeom prst="rect">
            <a:avLst/>
          </a:prstGeom>
          <a:noFill/>
          <a:ln w="0">
            <a:noFill/>
            <a:prstDash val="solid"/>
          </a:ln>
        </p:spPr>
        <p:txBody>
          <a:bodyPr anchor="ctr">
            <a:normAutofit/>
          </a:bodyPr>
          <a:lstStyle/>
          <a:p>
            <a:pPr algn="l">
              <a:defRPr sz="975" b="1">
                <a:solidFill>
                  <a:srgbClr val="5F6B76"/>
                </a:solidFill>
                <a:latin typeface="Arial"/>
                <a:ea typeface="Arial"/>
                <a:cs typeface="Arial"/>
              </a:defRPr>
            </a:pPr>
            <a:r>
              <a:rPr sz="975" b="1">
                <a:solidFill>
                  <a:srgbClr val="5F6B76"/>
                </a:solidFill>
                <a:latin typeface="Arial"/>
                <a:ea typeface="Arial"/>
                <a:cs typeface="Arial"/>
              </a:rPr>
              <a:t>EVIDENCE</a:t>
            </a:r>
          </a:p>
        </p:txBody>
      </p:sp>
      <p:sp>
        <p:nvSpPr>
          <p:cNvPr id="10" name="Rectangle 9">
            <a:extLst>
              <a:ext uri="{FF2B5EF4-FFF2-40B4-BE49-F238E27FC236}">
                <a16:creationId xmlns:a16="http://schemas.microsoft.com/office/drawing/2014/main" id="{ABF4116C-DB9A-426D-8557-A461BB11E63B}"/>
              </a:ext>
            </a:extLst>
          </p:cNvPr>
          <p:cNvSpPr>
            <a:spLocks noGrp="1"/>
          </p:cNvSpPr>
          <p:nvPr/>
        </p:nvSpPr>
        <p:spPr>
          <a:xfrm>
            <a:off x="9620250" y="1571625"/>
            <a:ext cx="1428750" cy="266700"/>
          </a:xfrm>
          <a:prstGeom prst="rect">
            <a:avLst/>
          </a:prstGeom>
          <a:noFill/>
          <a:ln w="0">
            <a:noFill/>
            <a:prstDash val="solid"/>
          </a:ln>
        </p:spPr>
        <p:txBody>
          <a:bodyPr anchor="ctr">
            <a:normAutofit/>
          </a:bodyPr>
          <a:lstStyle/>
          <a:p>
            <a:pPr algn="ctr">
              <a:defRPr sz="975" b="1">
                <a:solidFill>
                  <a:srgbClr val="5F6B76"/>
                </a:solidFill>
                <a:latin typeface="Arial"/>
                <a:ea typeface="Arial"/>
                <a:cs typeface="Arial"/>
              </a:defRPr>
            </a:pPr>
            <a:r>
              <a:rPr sz="975" b="1">
                <a:solidFill>
                  <a:srgbClr val="5F6B76"/>
                </a:solidFill>
                <a:latin typeface="Arial"/>
                <a:ea typeface="Arial"/>
                <a:cs typeface="Arial"/>
              </a:rPr>
              <a:t>RESULT</a:t>
            </a:r>
          </a:p>
        </p:txBody>
      </p:sp>
      <p:sp>
        <p:nvSpPr>
          <p:cNvPr id="11" name="Rectangle 10">
            <a:extLst>
              <a:ext uri="{FF2B5EF4-FFF2-40B4-BE49-F238E27FC236}">
                <a16:creationId xmlns:a16="http://schemas.microsoft.com/office/drawing/2014/main" id="{276038D8-EFD4-4B96-A8E0-678D4B1F44DD}"/>
              </a:ext>
            </a:extLst>
          </p:cNvPr>
          <p:cNvSpPr>
            <a:spLocks noGrp="1"/>
          </p:cNvSpPr>
          <p:nvPr/>
        </p:nvSpPr>
        <p:spPr>
          <a:xfrm>
            <a:off x="666750" y="2828925"/>
            <a:ext cx="10572750" cy="9525"/>
          </a:xfrm>
          <a:prstGeom prst="rect">
            <a:avLst/>
          </a:prstGeom>
          <a:solidFill>
            <a:srgbClr val="C9D2D8"/>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E5421FC9-1A4A-4CEF-A8C9-18D6C0692303}"/>
              </a:ext>
            </a:extLst>
          </p:cNvPr>
          <p:cNvSpPr>
            <a:spLocks noGrp="1"/>
          </p:cNvSpPr>
          <p:nvPr/>
        </p:nvSpPr>
        <p:spPr>
          <a:xfrm>
            <a:off x="762000" y="2047875"/>
            <a:ext cx="2952750" cy="590550"/>
          </a:xfrm>
          <a:prstGeom prst="rect">
            <a:avLst/>
          </a:prstGeom>
          <a:noFill/>
          <a:ln w="0">
            <a:noFill/>
            <a:prstDash val="solid"/>
          </a:ln>
        </p:spPr>
        <p:txBody>
          <a:bodyPr anchor="ctr">
            <a:normAutofit/>
          </a:bodyPr>
          <a:lstStyle/>
          <a:p>
            <a:pPr algn="l">
              <a:defRPr sz="1650" b="1">
                <a:solidFill>
                  <a:srgbClr val="183B56"/>
                </a:solidFill>
                <a:latin typeface="Arial"/>
                <a:ea typeface="Arial"/>
                <a:cs typeface="Arial"/>
              </a:defRPr>
            </a:pPr>
            <a:r>
              <a:rPr sz="1650" b="1">
                <a:solidFill>
                  <a:srgbClr val="183B56"/>
                </a:solidFill>
                <a:latin typeface="Arial"/>
                <a:ea typeface="Arial"/>
                <a:cs typeface="Arial"/>
              </a:rPr>
              <a:t>Multi-tenant access</a:t>
            </a:r>
          </a:p>
        </p:txBody>
      </p:sp>
      <p:sp>
        <p:nvSpPr>
          <p:cNvPr id="13" name="Rectangle 12">
            <a:extLst>
              <a:ext uri="{FF2B5EF4-FFF2-40B4-BE49-F238E27FC236}">
                <a16:creationId xmlns:a16="http://schemas.microsoft.com/office/drawing/2014/main" id="{2A60190C-CE0F-4DF6-9B26-6CDC0C59354B}"/>
              </a:ext>
            </a:extLst>
          </p:cNvPr>
          <p:cNvSpPr>
            <a:spLocks noGrp="1"/>
          </p:cNvSpPr>
          <p:nvPr/>
        </p:nvSpPr>
        <p:spPr>
          <a:xfrm>
            <a:off x="4191000" y="2047875"/>
            <a:ext cx="4476750" cy="590550"/>
          </a:xfrm>
          <a:prstGeom prst="rect">
            <a:avLst/>
          </a:prstGeom>
          <a:noFill/>
          <a:ln w="0">
            <a:noFill/>
            <a:prstDash val="solid"/>
          </a:ln>
        </p:spPr>
        <p:txBody>
          <a:bodyPr anchor="ctr">
            <a:normAutofit/>
          </a:bodyPr>
          <a:lstStyle/>
          <a:p>
            <a:pPr algn="l">
              <a:defRPr sz="1350" b="0">
                <a:solidFill>
                  <a:srgbClr val="5F6B76"/>
                </a:solidFill>
                <a:latin typeface="Arial"/>
                <a:ea typeface="Arial"/>
                <a:cs typeface="Arial"/>
              </a:defRPr>
            </a:pPr>
            <a:r>
              <a:rPr sz="1350" b="0">
                <a:solidFill>
                  <a:srgbClr val="5F6B76"/>
                </a:solidFill>
                <a:latin typeface="Arial"/>
                <a:ea typeface="Arial"/>
                <a:cs typeface="Arial"/>
              </a:rPr>
              <a:t>Tenant, subscription, role and isolation tests</a:t>
            </a:r>
          </a:p>
        </p:txBody>
      </p:sp>
      <p:sp>
        <p:nvSpPr>
          <p:cNvPr id="14" name="Rectangle: Rounded Corners 13">
            <a:extLst>
              <a:ext uri="{FF2B5EF4-FFF2-40B4-BE49-F238E27FC236}">
                <a16:creationId xmlns:a16="http://schemas.microsoft.com/office/drawing/2014/main" id="{5DA0C843-F74B-4336-B5F3-22307757587C}"/>
              </a:ext>
            </a:extLst>
          </p:cNvPr>
          <p:cNvSpPr>
            <a:spLocks noGrp="1"/>
          </p:cNvSpPr>
          <p:nvPr/>
        </p:nvSpPr>
        <p:spPr>
          <a:xfrm>
            <a:off x="9667875" y="2133600"/>
            <a:ext cx="1381125" cy="400050"/>
          </a:xfrm>
          <a:prstGeom prst="roundRect">
            <a:avLst>
              <a:gd name="adj" fmla="val 14286"/>
            </a:avLst>
          </a:prstGeom>
          <a:solidFill>
            <a:srgbClr val="EAF4F3"/>
          </a:solidFill>
          <a:ln w="14288">
            <a:solidFill>
              <a:srgbClr val="2A7F7F"/>
            </a:solidFill>
            <a:prstDash val="solid"/>
          </a:ln>
        </p:spPr>
        <p:txBody>
          <a:bodyPr/>
          <a:lstStyle/>
          <a:p>
            <a:endParaRPr lang="en-US"/>
          </a:p>
        </p:txBody>
      </p:sp>
      <p:sp>
        <p:nvSpPr>
          <p:cNvPr id="15" name="Rectangle 14">
            <a:extLst>
              <a:ext uri="{FF2B5EF4-FFF2-40B4-BE49-F238E27FC236}">
                <a16:creationId xmlns:a16="http://schemas.microsoft.com/office/drawing/2014/main" id="{08C89C91-24D6-4960-9CC0-BCC9EC7F5D32}"/>
              </a:ext>
            </a:extLst>
          </p:cNvPr>
          <p:cNvSpPr>
            <a:spLocks noGrp="1"/>
          </p:cNvSpPr>
          <p:nvPr/>
        </p:nvSpPr>
        <p:spPr>
          <a:xfrm>
            <a:off x="9763125" y="2133600"/>
            <a:ext cx="1190625" cy="400050"/>
          </a:xfrm>
          <a:prstGeom prst="rect">
            <a:avLst/>
          </a:prstGeom>
          <a:noFill/>
          <a:ln w="0">
            <a:noFill/>
            <a:prstDash val="solid"/>
          </a:ln>
        </p:spPr>
        <p:txBody>
          <a:bodyPr anchor="ctr">
            <a:normAutofit/>
          </a:bodyPr>
          <a:lstStyle/>
          <a:p>
            <a:pPr algn="ctr">
              <a:defRPr sz="1050" b="1">
                <a:solidFill>
                  <a:srgbClr val="2A7F7F"/>
                </a:solidFill>
                <a:latin typeface="Arial"/>
                <a:ea typeface="Arial"/>
                <a:cs typeface="Arial"/>
              </a:defRPr>
            </a:pPr>
            <a:r>
              <a:rPr sz="1050" b="1">
                <a:solidFill>
                  <a:srgbClr val="2A7F7F"/>
                </a:solidFill>
                <a:latin typeface="Arial"/>
                <a:ea typeface="Arial"/>
                <a:cs typeface="Arial"/>
              </a:rPr>
              <a:t>ACHIEVED</a:t>
            </a:r>
          </a:p>
        </p:txBody>
      </p:sp>
      <p:sp>
        <p:nvSpPr>
          <p:cNvPr id="16" name="Rectangle 15">
            <a:extLst>
              <a:ext uri="{FF2B5EF4-FFF2-40B4-BE49-F238E27FC236}">
                <a16:creationId xmlns:a16="http://schemas.microsoft.com/office/drawing/2014/main" id="{B96ABA90-7322-4673-8E69-7C24C5AF4151}"/>
              </a:ext>
            </a:extLst>
          </p:cNvPr>
          <p:cNvSpPr>
            <a:spLocks noGrp="1"/>
          </p:cNvSpPr>
          <p:nvPr/>
        </p:nvSpPr>
        <p:spPr>
          <a:xfrm>
            <a:off x="666750" y="3971925"/>
            <a:ext cx="10572750" cy="9525"/>
          </a:xfrm>
          <a:prstGeom prst="rect">
            <a:avLst/>
          </a:prstGeom>
          <a:solidFill>
            <a:srgbClr val="C9D2D8"/>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790681A4-E14D-4384-8BC0-EC49CFD9E869}"/>
              </a:ext>
            </a:extLst>
          </p:cNvPr>
          <p:cNvSpPr>
            <a:spLocks noGrp="1"/>
          </p:cNvSpPr>
          <p:nvPr/>
        </p:nvSpPr>
        <p:spPr>
          <a:xfrm>
            <a:off x="762000" y="3190875"/>
            <a:ext cx="2952750" cy="590550"/>
          </a:xfrm>
          <a:prstGeom prst="rect">
            <a:avLst/>
          </a:prstGeom>
          <a:noFill/>
          <a:ln w="0">
            <a:noFill/>
            <a:prstDash val="solid"/>
          </a:ln>
        </p:spPr>
        <p:txBody>
          <a:bodyPr anchor="ctr">
            <a:normAutofit/>
          </a:bodyPr>
          <a:lstStyle/>
          <a:p>
            <a:pPr algn="l">
              <a:defRPr sz="1650" b="1">
                <a:solidFill>
                  <a:srgbClr val="183B56"/>
                </a:solidFill>
                <a:latin typeface="Arial"/>
                <a:ea typeface="Arial"/>
                <a:cs typeface="Arial"/>
              </a:defRPr>
            </a:pPr>
            <a:r>
              <a:rPr sz="1650" b="1">
                <a:solidFill>
                  <a:srgbClr val="183B56"/>
                </a:solidFill>
                <a:latin typeface="Arial"/>
                <a:ea typeface="Arial"/>
                <a:cs typeface="Arial"/>
              </a:rPr>
              <a:t>Connected operations</a:t>
            </a:r>
          </a:p>
        </p:txBody>
      </p:sp>
      <p:sp>
        <p:nvSpPr>
          <p:cNvPr id="18" name="Rectangle 17">
            <a:extLst>
              <a:ext uri="{FF2B5EF4-FFF2-40B4-BE49-F238E27FC236}">
                <a16:creationId xmlns:a16="http://schemas.microsoft.com/office/drawing/2014/main" id="{00A01F31-E564-492D-85F3-10F6837C7838}"/>
              </a:ext>
            </a:extLst>
          </p:cNvPr>
          <p:cNvSpPr>
            <a:spLocks noGrp="1"/>
          </p:cNvSpPr>
          <p:nvPr/>
        </p:nvSpPr>
        <p:spPr>
          <a:xfrm>
            <a:off x="4191000" y="3190875"/>
            <a:ext cx="4476750" cy="590550"/>
          </a:xfrm>
          <a:prstGeom prst="rect">
            <a:avLst/>
          </a:prstGeom>
          <a:noFill/>
          <a:ln w="0">
            <a:noFill/>
            <a:prstDash val="solid"/>
          </a:ln>
        </p:spPr>
        <p:txBody>
          <a:bodyPr anchor="ctr">
            <a:normAutofit/>
          </a:bodyPr>
          <a:lstStyle/>
          <a:p>
            <a:pPr algn="l">
              <a:defRPr sz="1350" b="0">
                <a:solidFill>
                  <a:srgbClr val="5F6B76"/>
                </a:solidFill>
                <a:latin typeface="Arial"/>
                <a:ea typeface="Arial"/>
                <a:cs typeface="Arial"/>
              </a:defRPr>
            </a:pPr>
            <a:r>
              <a:rPr sz="1350" b="0">
                <a:solidFill>
                  <a:srgbClr val="5F6B76"/>
                </a:solidFill>
                <a:latin typeface="Arial"/>
                <a:ea typeface="Arial"/>
                <a:cs typeface="Arial"/>
              </a:rPr>
              <a:t>Purchases, sales, returns, stock and production</a:t>
            </a:r>
          </a:p>
        </p:txBody>
      </p:sp>
      <p:sp>
        <p:nvSpPr>
          <p:cNvPr id="19" name="Rectangle: Rounded Corners 18">
            <a:extLst>
              <a:ext uri="{FF2B5EF4-FFF2-40B4-BE49-F238E27FC236}">
                <a16:creationId xmlns:a16="http://schemas.microsoft.com/office/drawing/2014/main" id="{C486EB60-81F9-4CF0-8493-F23253941111}"/>
              </a:ext>
            </a:extLst>
          </p:cNvPr>
          <p:cNvSpPr>
            <a:spLocks noGrp="1"/>
          </p:cNvSpPr>
          <p:nvPr/>
        </p:nvSpPr>
        <p:spPr>
          <a:xfrm>
            <a:off x="9667875" y="3276600"/>
            <a:ext cx="1381125" cy="400050"/>
          </a:xfrm>
          <a:prstGeom prst="roundRect">
            <a:avLst>
              <a:gd name="adj" fmla="val 14286"/>
            </a:avLst>
          </a:prstGeom>
          <a:solidFill>
            <a:srgbClr val="EAF4F3"/>
          </a:solidFill>
          <a:ln w="14288">
            <a:solidFill>
              <a:srgbClr val="2A7F7F"/>
            </a:solidFill>
            <a:prstDash val="solid"/>
          </a:ln>
        </p:spPr>
        <p:txBody>
          <a:bodyPr/>
          <a:lstStyle/>
          <a:p>
            <a:endParaRPr lang="en-US"/>
          </a:p>
        </p:txBody>
      </p:sp>
      <p:sp>
        <p:nvSpPr>
          <p:cNvPr id="20" name="Rectangle 19">
            <a:extLst>
              <a:ext uri="{FF2B5EF4-FFF2-40B4-BE49-F238E27FC236}">
                <a16:creationId xmlns:a16="http://schemas.microsoft.com/office/drawing/2014/main" id="{22585181-22E9-4165-B96A-737D4E1FA484}"/>
              </a:ext>
            </a:extLst>
          </p:cNvPr>
          <p:cNvSpPr>
            <a:spLocks noGrp="1"/>
          </p:cNvSpPr>
          <p:nvPr/>
        </p:nvSpPr>
        <p:spPr>
          <a:xfrm>
            <a:off x="9763125" y="3276600"/>
            <a:ext cx="1190625" cy="400050"/>
          </a:xfrm>
          <a:prstGeom prst="rect">
            <a:avLst/>
          </a:prstGeom>
          <a:noFill/>
          <a:ln w="0">
            <a:noFill/>
            <a:prstDash val="solid"/>
          </a:ln>
        </p:spPr>
        <p:txBody>
          <a:bodyPr anchor="ctr">
            <a:normAutofit/>
          </a:bodyPr>
          <a:lstStyle/>
          <a:p>
            <a:pPr algn="ctr">
              <a:defRPr sz="1050" b="1">
                <a:solidFill>
                  <a:srgbClr val="2A7F7F"/>
                </a:solidFill>
                <a:latin typeface="Arial"/>
                <a:ea typeface="Arial"/>
                <a:cs typeface="Arial"/>
              </a:defRPr>
            </a:pPr>
            <a:r>
              <a:rPr sz="1050" b="1">
                <a:solidFill>
                  <a:srgbClr val="2A7F7F"/>
                </a:solidFill>
                <a:latin typeface="Arial"/>
                <a:ea typeface="Arial"/>
                <a:cs typeface="Arial"/>
              </a:rPr>
              <a:t>ACHIEVED</a:t>
            </a:r>
          </a:p>
        </p:txBody>
      </p:sp>
      <p:sp>
        <p:nvSpPr>
          <p:cNvPr id="21" name="Rectangle 20">
            <a:extLst>
              <a:ext uri="{FF2B5EF4-FFF2-40B4-BE49-F238E27FC236}">
                <a16:creationId xmlns:a16="http://schemas.microsoft.com/office/drawing/2014/main" id="{4E52BB23-F781-4C84-B268-8FA176D56DE0}"/>
              </a:ext>
            </a:extLst>
          </p:cNvPr>
          <p:cNvSpPr>
            <a:spLocks noGrp="1"/>
          </p:cNvSpPr>
          <p:nvPr/>
        </p:nvSpPr>
        <p:spPr>
          <a:xfrm>
            <a:off x="666750" y="5114925"/>
            <a:ext cx="10572750" cy="9525"/>
          </a:xfrm>
          <a:prstGeom prst="rect">
            <a:avLst/>
          </a:prstGeom>
          <a:solidFill>
            <a:srgbClr val="C9D2D8"/>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96E89F7E-BAA8-4B36-9CA7-9B674A3422CC}"/>
              </a:ext>
            </a:extLst>
          </p:cNvPr>
          <p:cNvSpPr>
            <a:spLocks noGrp="1"/>
          </p:cNvSpPr>
          <p:nvPr/>
        </p:nvSpPr>
        <p:spPr>
          <a:xfrm>
            <a:off x="762000" y="4333875"/>
            <a:ext cx="2952750" cy="590550"/>
          </a:xfrm>
          <a:prstGeom prst="rect">
            <a:avLst/>
          </a:prstGeom>
          <a:noFill/>
          <a:ln w="0">
            <a:noFill/>
            <a:prstDash val="solid"/>
          </a:ln>
        </p:spPr>
        <p:txBody>
          <a:bodyPr anchor="ctr">
            <a:normAutofit/>
          </a:bodyPr>
          <a:lstStyle/>
          <a:p>
            <a:pPr algn="l">
              <a:defRPr sz="1650" b="1">
                <a:solidFill>
                  <a:srgbClr val="183B56"/>
                </a:solidFill>
                <a:latin typeface="Arial"/>
                <a:ea typeface="Arial"/>
                <a:cs typeface="Arial"/>
              </a:defRPr>
            </a:pPr>
            <a:r>
              <a:rPr sz="1650" b="1">
                <a:solidFill>
                  <a:srgbClr val="183B56"/>
                </a:solidFill>
                <a:latin typeface="Arial"/>
                <a:ea typeface="Arial"/>
                <a:cs typeface="Arial"/>
              </a:rPr>
              <a:t>Accounting and reports</a:t>
            </a:r>
          </a:p>
        </p:txBody>
      </p:sp>
      <p:sp>
        <p:nvSpPr>
          <p:cNvPr id="23" name="Rectangle 22">
            <a:extLst>
              <a:ext uri="{FF2B5EF4-FFF2-40B4-BE49-F238E27FC236}">
                <a16:creationId xmlns:a16="http://schemas.microsoft.com/office/drawing/2014/main" id="{CE0AC90E-5DAC-422F-B7EF-FC6A7155BF83}"/>
              </a:ext>
            </a:extLst>
          </p:cNvPr>
          <p:cNvSpPr>
            <a:spLocks noGrp="1"/>
          </p:cNvSpPr>
          <p:nvPr/>
        </p:nvSpPr>
        <p:spPr>
          <a:xfrm>
            <a:off x="4191000" y="4333875"/>
            <a:ext cx="4476750" cy="590550"/>
          </a:xfrm>
          <a:prstGeom prst="rect">
            <a:avLst/>
          </a:prstGeom>
          <a:noFill/>
          <a:ln w="0">
            <a:noFill/>
            <a:prstDash val="solid"/>
          </a:ln>
        </p:spPr>
        <p:txBody>
          <a:bodyPr anchor="ctr">
            <a:normAutofit/>
          </a:bodyPr>
          <a:lstStyle/>
          <a:p>
            <a:pPr algn="l">
              <a:defRPr sz="1350" b="0">
                <a:solidFill>
                  <a:srgbClr val="5F6B76"/>
                </a:solidFill>
                <a:latin typeface="Arial"/>
                <a:ea typeface="Arial"/>
                <a:cs typeface="Arial"/>
              </a:defRPr>
            </a:pPr>
            <a:r>
              <a:rPr sz="1350" b="0">
                <a:solidFill>
                  <a:srgbClr val="5F6B76"/>
                </a:solidFill>
                <a:latin typeface="Arial"/>
                <a:ea typeface="Arial"/>
                <a:cs typeface="Arial"/>
              </a:rPr>
              <a:t>Balanced journals, ledgers and report checks</a:t>
            </a:r>
          </a:p>
        </p:txBody>
      </p:sp>
      <p:sp>
        <p:nvSpPr>
          <p:cNvPr id="24" name="Rectangle: Rounded Corners 23">
            <a:extLst>
              <a:ext uri="{FF2B5EF4-FFF2-40B4-BE49-F238E27FC236}">
                <a16:creationId xmlns:a16="http://schemas.microsoft.com/office/drawing/2014/main" id="{11152DA9-9396-4984-ADE2-66017B38374D}"/>
              </a:ext>
            </a:extLst>
          </p:cNvPr>
          <p:cNvSpPr>
            <a:spLocks noGrp="1"/>
          </p:cNvSpPr>
          <p:nvPr/>
        </p:nvSpPr>
        <p:spPr>
          <a:xfrm>
            <a:off x="9667875" y="4419600"/>
            <a:ext cx="1381125" cy="400050"/>
          </a:xfrm>
          <a:prstGeom prst="roundRect">
            <a:avLst>
              <a:gd name="adj" fmla="val 14286"/>
            </a:avLst>
          </a:prstGeom>
          <a:solidFill>
            <a:srgbClr val="EAF4F3"/>
          </a:solidFill>
          <a:ln w="14288">
            <a:solidFill>
              <a:srgbClr val="2A7F7F"/>
            </a:solidFill>
            <a:prstDash val="solid"/>
          </a:ln>
        </p:spPr>
        <p:txBody>
          <a:bodyPr/>
          <a:lstStyle/>
          <a:p>
            <a:endParaRPr lang="en-US"/>
          </a:p>
        </p:txBody>
      </p:sp>
      <p:sp>
        <p:nvSpPr>
          <p:cNvPr id="25" name="Rectangle 24">
            <a:extLst>
              <a:ext uri="{FF2B5EF4-FFF2-40B4-BE49-F238E27FC236}">
                <a16:creationId xmlns:a16="http://schemas.microsoft.com/office/drawing/2014/main" id="{222E1127-6F62-413B-A047-A7F85E38C301}"/>
              </a:ext>
            </a:extLst>
          </p:cNvPr>
          <p:cNvSpPr>
            <a:spLocks noGrp="1"/>
          </p:cNvSpPr>
          <p:nvPr/>
        </p:nvSpPr>
        <p:spPr>
          <a:xfrm>
            <a:off x="9763125" y="4419600"/>
            <a:ext cx="1190625" cy="400050"/>
          </a:xfrm>
          <a:prstGeom prst="rect">
            <a:avLst/>
          </a:prstGeom>
          <a:noFill/>
          <a:ln w="0">
            <a:noFill/>
            <a:prstDash val="solid"/>
          </a:ln>
        </p:spPr>
        <p:txBody>
          <a:bodyPr anchor="ctr">
            <a:normAutofit/>
          </a:bodyPr>
          <a:lstStyle/>
          <a:p>
            <a:pPr algn="ctr">
              <a:defRPr sz="1050" b="1">
                <a:solidFill>
                  <a:srgbClr val="2A7F7F"/>
                </a:solidFill>
                <a:latin typeface="Arial"/>
                <a:ea typeface="Arial"/>
                <a:cs typeface="Arial"/>
              </a:defRPr>
            </a:pPr>
            <a:r>
              <a:rPr sz="1050" b="1">
                <a:solidFill>
                  <a:srgbClr val="2A7F7F"/>
                </a:solidFill>
                <a:latin typeface="Arial"/>
                <a:ea typeface="Arial"/>
                <a:cs typeface="Arial"/>
              </a:rPr>
              <a:t>ACHIEVED</a:t>
            </a:r>
          </a:p>
        </p:txBody>
      </p:sp>
    </p:spTree>
    <p:extLst>
      <p:ext uri="{BB962C8B-B14F-4D97-AF65-F5344CB8AC3E}">
        <p14:creationId xmlns:p14="http://schemas.microsoft.com/office/powerpoint/2010/main" val="16149935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6654FA2-41C2-4A08-8250-FDAB93E9158F}"/>
              </a:ext>
            </a:extLst>
          </p:cNvPr>
          <p:cNvSpPr>
            <a:spLocks noGrp="1"/>
          </p:cNvSpPr>
          <p:nvPr/>
        </p:nvSpPr>
        <p:spPr>
          <a:xfrm>
            <a:off x="514350" y="323850"/>
            <a:ext cx="2857500" cy="228600"/>
          </a:xfrm>
          <a:prstGeom prst="rect">
            <a:avLst/>
          </a:prstGeom>
          <a:noFill/>
          <a:ln w="0">
            <a:noFill/>
            <a:prstDash val="solid"/>
          </a:ln>
        </p:spPr>
        <p:txBody>
          <a:bodyPr anchor="ctr">
            <a:normAutofit/>
          </a:bodyPr>
          <a:lstStyle/>
          <a:p>
            <a:pPr algn="l">
              <a:defRPr sz="900" b="1">
                <a:solidFill>
                  <a:srgbClr val="2A7F7F"/>
                </a:solidFill>
                <a:latin typeface="Arial"/>
                <a:ea typeface="Arial"/>
                <a:cs typeface="Arial"/>
              </a:defRPr>
            </a:pPr>
            <a:r>
              <a:rPr sz="900" b="1">
                <a:solidFill>
                  <a:srgbClr val="2A7F7F"/>
                </a:solidFill>
                <a:latin typeface="Arial"/>
                <a:ea typeface="Arial"/>
                <a:cs typeface="Arial"/>
              </a:rPr>
              <a:t>NEXT STEPS</a:t>
            </a:r>
          </a:p>
        </p:txBody>
      </p:sp>
      <p:sp>
        <p:nvSpPr>
          <p:cNvPr id="3" name="Rectangle 2">
            <a:extLst>
              <a:ext uri="{FF2B5EF4-FFF2-40B4-BE49-F238E27FC236}">
                <a16:creationId xmlns:a16="http://schemas.microsoft.com/office/drawing/2014/main" id="{F18421F3-BACA-463B-9CCF-8F62BA6040B1}"/>
              </a:ext>
            </a:extLst>
          </p:cNvPr>
          <p:cNvSpPr>
            <a:spLocks noGrp="1"/>
          </p:cNvSpPr>
          <p:nvPr/>
        </p:nvSpPr>
        <p:spPr>
          <a:xfrm>
            <a:off x="514350" y="590550"/>
            <a:ext cx="11096625" cy="523875"/>
          </a:xfrm>
          <a:prstGeom prst="rect">
            <a:avLst/>
          </a:prstGeom>
          <a:noFill/>
          <a:ln w="0">
            <a:noFill/>
            <a:prstDash val="solid"/>
          </a:ln>
        </p:spPr>
        <p:txBody>
          <a:bodyPr anchor="ctr">
            <a:normAutofit/>
          </a:bodyPr>
          <a:lstStyle/>
          <a:p>
            <a:pPr algn="l">
              <a:defRPr sz="2550" b="1">
                <a:solidFill>
                  <a:srgbClr val="183B56"/>
                </a:solidFill>
                <a:latin typeface="Arial"/>
                <a:ea typeface="Arial"/>
                <a:cs typeface="Arial"/>
              </a:defRPr>
            </a:pPr>
            <a:r>
              <a:rPr sz="2550" b="1">
                <a:solidFill>
                  <a:srgbClr val="183B56"/>
                </a:solidFill>
                <a:latin typeface="Arial"/>
                <a:ea typeface="Arial"/>
                <a:cs typeface="Arial"/>
              </a:rPr>
              <a:t>Future work should strengthen reliability before adding complexity</a:t>
            </a:r>
          </a:p>
        </p:txBody>
      </p:sp>
      <p:sp>
        <p:nvSpPr>
          <p:cNvPr id="4" name="Rectangle 3">
            <a:extLst>
              <a:ext uri="{FF2B5EF4-FFF2-40B4-BE49-F238E27FC236}">
                <a16:creationId xmlns:a16="http://schemas.microsoft.com/office/drawing/2014/main" id="{6F36CBD4-357A-41E9-9A03-3495CB22D327}"/>
              </a:ext>
            </a:extLst>
          </p:cNvPr>
          <p:cNvSpPr>
            <a:spLocks noGrp="1"/>
          </p:cNvSpPr>
          <p:nvPr/>
        </p:nvSpPr>
        <p:spPr>
          <a:xfrm>
            <a:off x="514350" y="1200150"/>
            <a:ext cx="781050" cy="38100"/>
          </a:xfrm>
          <a:prstGeom prst="rect">
            <a:avLst/>
          </a:prstGeom>
          <a:solidFill>
            <a:srgbClr val="D89B2B"/>
          </a:solidFill>
          <a:ln w="0">
            <a:noFill/>
            <a:prstDash val="solid"/>
          </a:ln>
        </p:spPr>
        <p:txBody>
          <a:bodyPr/>
          <a:lstStyle/>
          <a:p>
            <a:endParaRPr lang="en-US"/>
          </a:p>
        </p:txBody>
      </p:sp>
      <p:sp>
        <p:nvSpPr>
          <p:cNvPr id="5" name="Rectangle 4">
            <a:extLst>
              <a:ext uri="{FF2B5EF4-FFF2-40B4-BE49-F238E27FC236}">
                <a16:creationId xmlns:a16="http://schemas.microsoft.com/office/drawing/2014/main" id="{5E798B1E-4F03-45A1-A33B-17332B826C05}"/>
              </a:ext>
            </a:extLst>
          </p:cNvPr>
          <p:cNvSpPr>
            <a:spLocks noGrp="1"/>
          </p:cNvSpPr>
          <p:nvPr/>
        </p:nvSpPr>
        <p:spPr>
          <a:xfrm>
            <a:off x="514350" y="6419850"/>
            <a:ext cx="11096625" cy="9525"/>
          </a:xfrm>
          <a:prstGeom prst="rect">
            <a:avLst/>
          </a:prstGeom>
          <a:solidFill>
            <a:srgbClr val="C9D2D8"/>
          </a:solidFill>
          <a:ln w="0">
            <a:noFill/>
            <a:prstDash val="solid"/>
          </a:ln>
        </p:spPr>
        <p:txBody>
          <a:bodyPr/>
          <a:lstStyle/>
          <a:p>
            <a:endParaRPr lang="en-US"/>
          </a:p>
        </p:txBody>
      </p:sp>
      <p:sp>
        <p:nvSpPr>
          <p:cNvPr id="6" name="Rectangle 5">
            <a:extLst>
              <a:ext uri="{FF2B5EF4-FFF2-40B4-BE49-F238E27FC236}">
                <a16:creationId xmlns:a16="http://schemas.microsoft.com/office/drawing/2014/main" id="{3807DE4C-9FF4-4EDC-B9B7-74EFE5653CDB}"/>
              </a:ext>
            </a:extLst>
          </p:cNvPr>
          <p:cNvSpPr>
            <a:spLocks noGrp="1"/>
          </p:cNvSpPr>
          <p:nvPr/>
        </p:nvSpPr>
        <p:spPr>
          <a:xfrm>
            <a:off x="514350" y="6505575"/>
            <a:ext cx="3333750" cy="209550"/>
          </a:xfrm>
          <a:prstGeom prst="rect">
            <a:avLst/>
          </a:prstGeom>
          <a:noFill/>
          <a:ln w="0">
            <a:noFill/>
            <a:prstDash val="solid"/>
          </a:ln>
        </p:spPr>
        <p:txBody>
          <a:bodyPr anchor="ctr">
            <a:normAutofit fontScale="93939" lnSpcReduction="10000"/>
          </a:bodyPr>
          <a:lstStyle/>
          <a:p>
            <a:pPr>
              <a:defRPr sz="825" b="0">
                <a:solidFill>
                  <a:srgbClr val="5F6B76"/>
                </a:solidFill>
                <a:latin typeface="Arial"/>
                <a:ea typeface="Arial"/>
                <a:cs typeface="Arial"/>
              </a:defRPr>
            </a:pPr>
            <a:r>
              <a:rPr lang="en-US" sz="825" dirty="0" err="1">
                <a:solidFill>
                  <a:srgbClr val="5F6B76"/>
                </a:solidFill>
                <a:latin typeface="Arial"/>
                <a:ea typeface="Arial"/>
                <a:cs typeface="Arial"/>
              </a:rPr>
              <a:t>BizTrack</a:t>
            </a:r>
            <a:r>
              <a:rPr lang="en-US" sz="825" dirty="0">
                <a:solidFill>
                  <a:srgbClr val="5F6B76"/>
                </a:solidFill>
                <a:latin typeface="Arial"/>
                <a:ea typeface="Arial"/>
                <a:cs typeface="Arial"/>
              </a:rPr>
              <a:t> • A Complete Business Accounting Management System</a:t>
            </a:r>
          </a:p>
        </p:txBody>
      </p:sp>
      <p:sp>
        <p:nvSpPr>
          <p:cNvPr id="7" name="Rectangle 6">
            <a:extLst>
              <a:ext uri="{FF2B5EF4-FFF2-40B4-BE49-F238E27FC236}">
                <a16:creationId xmlns:a16="http://schemas.microsoft.com/office/drawing/2014/main" id="{F43F6735-083D-4F7E-B9A3-196D2A5DDB23}"/>
              </a:ext>
            </a:extLst>
          </p:cNvPr>
          <p:cNvSpPr>
            <a:spLocks noGrp="1"/>
          </p:cNvSpPr>
          <p:nvPr/>
        </p:nvSpPr>
        <p:spPr>
          <a:xfrm>
            <a:off x="11049000" y="6505575"/>
            <a:ext cx="552450" cy="209550"/>
          </a:xfrm>
          <a:prstGeom prst="rect">
            <a:avLst/>
          </a:prstGeom>
          <a:noFill/>
          <a:ln w="0">
            <a:noFill/>
            <a:prstDash val="solid"/>
          </a:ln>
        </p:spPr>
        <p:txBody>
          <a:bodyPr anchor="ctr">
            <a:normAutofit fontScale="93939" lnSpcReduction="10000"/>
          </a:bodyPr>
          <a:lstStyle/>
          <a:p>
            <a:pPr algn="r">
              <a:defRPr sz="825" b="1">
                <a:solidFill>
                  <a:srgbClr val="5F6B76"/>
                </a:solidFill>
                <a:latin typeface="Arial"/>
                <a:ea typeface="Arial"/>
                <a:cs typeface="Arial"/>
              </a:defRPr>
            </a:pPr>
            <a:r>
              <a:rPr lang="en-US" sz="825" b="1" dirty="0">
                <a:solidFill>
                  <a:srgbClr val="5F6B76"/>
                </a:solidFill>
                <a:latin typeface="Arial"/>
                <a:ea typeface="Arial"/>
                <a:cs typeface="Arial"/>
              </a:rPr>
              <a:t>18</a:t>
            </a:r>
            <a:endParaRPr sz="825" b="1" dirty="0">
              <a:solidFill>
                <a:srgbClr val="5F6B76"/>
              </a:solidFill>
              <a:latin typeface="Arial"/>
              <a:ea typeface="Arial"/>
              <a:cs typeface="Arial"/>
            </a:endParaRPr>
          </a:p>
        </p:txBody>
      </p:sp>
      <p:sp>
        <p:nvSpPr>
          <p:cNvPr id="8" name="Rectangle 7">
            <a:extLst>
              <a:ext uri="{FF2B5EF4-FFF2-40B4-BE49-F238E27FC236}">
                <a16:creationId xmlns:a16="http://schemas.microsoft.com/office/drawing/2014/main" id="{69895F56-2036-4675-BF86-5AC1E046921F}"/>
              </a:ext>
            </a:extLst>
          </p:cNvPr>
          <p:cNvSpPr>
            <a:spLocks noGrp="1"/>
          </p:cNvSpPr>
          <p:nvPr/>
        </p:nvSpPr>
        <p:spPr>
          <a:xfrm>
            <a:off x="714375" y="1666875"/>
            <a:ext cx="3143250" cy="228600"/>
          </a:xfrm>
          <a:prstGeom prst="rect">
            <a:avLst/>
          </a:prstGeom>
          <a:noFill/>
          <a:ln w="0">
            <a:noFill/>
            <a:prstDash val="solid"/>
          </a:ln>
        </p:spPr>
        <p:txBody>
          <a:bodyPr anchor="ctr">
            <a:normAutofit fontScale="99808" lnSpcReduction="10000"/>
          </a:bodyPr>
          <a:lstStyle/>
          <a:p>
            <a:pPr algn="ctr">
              <a:defRPr sz="975" b="1">
                <a:solidFill>
                  <a:srgbClr val="2A7F7F"/>
                </a:solidFill>
                <a:latin typeface="Arial"/>
                <a:ea typeface="Arial"/>
                <a:cs typeface="Arial"/>
              </a:defRPr>
            </a:pPr>
            <a:r>
              <a:rPr sz="975" b="1">
                <a:solidFill>
                  <a:srgbClr val="2A7F7F"/>
                </a:solidFill>
                <a:latin typeface="Arial"/>
                <a:ea typeface="Arial"/>
                <a:cs typeface="Arial"/>
              </a:rPr>
              <a:t>STAGE 1</a:t>
            </a:r>
          </a:p>
        </p:txBody>
      </p:sp>
      <p:sp>
        <p:nvSpPr>
          <p:cNvPr id="9" name="Rectangle 8">
            <a:extLst>
              <a:ext uri="{FF2B5EF4-FFF2-40B4-BE49-F238E27FC236}">
                <a16:creationId xmlns:a16="http://schemas.microsoft.com/office/drawing/2014/main" id="{8F18CB3D-5A0B-4CA6-ACC2-6F5068B5FE9F}"/>
              </a:ext>
            </a:extLst>
          </p:cNvPr>
          <p:cNvSpPr>
            <a:spLocks noGrp="1"/>
          </p:cNvSpPr>
          <p:nvPr/>
        </p:nvSpPr>
        <p:spPr>
          <a:xfrm>
            <a:off x="714375" y="2047875"/>
            <a:ext cx="3143250" cy="342900"/>
          </a:xfrm>
          <a:prstGeom prst="rect">
            <a:avLst/>
          </a:prstGeom>
          <a:noFill/>
          <a:ln w="0">
            <a:noFill/>
            <a:prstDash val="solid"/>
          </a:ln>
        </p:spPr>
        <p:txBody>
          <a:bodyPr anchor="ctr">
            <a:normAutofit fontScale="91667" lnSpcReduction="10000"/>
          </a:bodyPr>
          <a:lstStyle/>
          <a:p>
            <a:pPr algn="ctr">
              <a:defRPr sz="1800" b="1">
                <a:solidFill>
                  <a:srgbClr val="183B56"/>
                </a:solidFill>
                <a:latin typeface="Arial"/>
                <a:ea typeface="Arial"/>
                <a:cs typeface="Arial"/>
              </a:defRPr>
            </a:pPr>
            <a:r>
              <a:rPr sz="1800" b="1">
                <a:solidFill>
                  <a:srgbClr val="183B56"/>
                </a:solidFill>
                <a:latin typeface="Arial"/>
                <a:ea typeface="Arial"/>
                <a:cs typeface="Arial"/>
              </a:rPr>
              <a:t>Strengthen</a:t>
            </a:r>
          </a:p>
        </p:txBody>
      </p:sp>
      <p:sp>
        <p:nvSpPr>
          <p:cNvPr id="10" name="Rectangle: Rounded Corners 9">
            <a:extLst>
              <a:ext uri="{FF2B5EF4-FFF2-40B4-BE49-F238E27FC236}">
                <a16:creationId xmlns:a16="http://schemas.microsoft.com/office/drawing/2014/main" id="{74F990D5-2BEA-4C53-81B0-4DFFFEFCCD99}"/>
              </a:ext>
            </a:extLst>
          </p:cNvPr>
          <p:cNvSpPr>
            <a:spLocks noGrp="1"/>
          </p:cNvSpPr>
          <p:nvPr/>
        </p:nvSpPr>
        <p:spPr>
          <a:xfrm>
            <a:off x="714375" y="2619375"/>
            <a:ext cx="3143250" cy="2095500"/>
          </a:xfrm>
          <a:prstGeom prst="roundRect">
            <a:avLst>
              <a:gd name="adj" fmla="val 2727"/>
            </a:avLst>
          </a:prstGeom>
          <a:noFill/>
          <a:ln w="14288">
            <a:solidFill>
              <a:srgbClr val="C9D2D8"/>
            </a:solidFill>
            <a:prstDash val="solid"/>
          </a:ln>
        </p:spPr>
        <p:txBody>
          <a:bodyPr/>
          <a:lstStyle/>
          <a:p>
            <a:endParaRPr lang="en-US"/>
          </a:p>
        </p:txBody>
      </p:sp>
      <p:sp>
        <p:nvSpPr>
          <p:cNvPr id="11" name="Rectangle 10">
            <a:extLst>
              <a:ext uri="{FF2B5EF4-FFF2-40B4-BE49-F238E27FC236}">
                <a16:creationId xmlns:a16="http://schemas.microsoft.com/office/drawing/2014/main" id="{E36FF46A-ADBA-4E25-8826-29710DD7EC05}"/>
              </a:ext>
            </a:extLst>
          </p:cNvPr>
          <p:cNvSpPr>
            <a:spLocks noGrp="1"/>
          </p:cNvSpPr>
          <p:nvPr/>
        </p:nvSpPr>
        <p:spPr>
          <a:xfrm>
            <a:off x="1000125" y="2857500"/>
            <a:ext cx="2571750" cy="1619250"/>
          </a:xfrm>
          <a:prstGeom prst="rect">
            <a:avLst/>
          </a:prstGeom>
          <a:noFill/>
          <a:ln w="0">
            <a:noFill/>
            <a:prstDash val="solid"/>
          </a:ln>
        </p:spPr>
        <p:txBody>
          <a:bodyPr anchor="ctr">
            <a:normAutofit/>
          </a:bodyPr>
          <a:lstStyle/>
          <a:p>
            <a:pPr algn="ctr">
              <a:defRPr sz="1425" b="0">
                <a:solidFill>
                  <a:srgbClr val="17212B"/>
                </a:solidFill>
                <a:latin typeface="Arial"/>
                <a:ea typeface="Arial"/>
                <a:cs typeface="Arial"/>
              </a:defRPr>
            </a:pPr>
            <a:r>
              <a:rPr sz="1425" b="0">
                <a:solidFill>
                  <a:srgbClr val="17212B"/>
                </a:solidFill>
                <a:latin typeface="Arial"/>
                <a:ea typeface="Arial"/>
                <a:cs typeface="Arial"/>
              </a:rPr>
              <a:t>Wider testing</a:t>
            </a:r>
          </a:p>
          <a:p>
            <a:pPr algn="ctr">
              <a:defRPr sz="1425" b="0">
                <a:solidFill>
                  <a:srgbClr val="17212B"/>
                </a:solidFill>
                <a:latin typeface="Arial"/>
                <a:ea typeface="Arial"/>
                <a:cs typeface="Arial"/>
              </a:defRPr>
            </a:pPr>
            <a:r>
              <a:rPr sz="1425" b="0">
                <a:solidFill>
                  <a:srgbClr val="17212B"/>
                </a:solidFill>
                <a:latin typeface="Arial"/>
                <a:ea typeface="Arial"/>
                <a:cs typeface="Arial"/>
              </a:rPr>
              <a:t>Backup and recovery</a:t>
            </a:r>
          </a:p>
          <a:p>
            <a:pPr algn="ctr">
              <a:defRPr sz="1425" b="0">
                <a:solidFill>
                  <a:srgbClr val="17212B"/>
                </a:solidFill>
                <a:latin typeface="Arial"/>
                <a:ea typeface="Arial"/>
                <a:cs typeface="Arial"/>
              </a:defRPr>
            </a:pPr>
            <a:r>
              <a:rPr sz="1425" b="0">
                <a:solidFill>
                  <a:srgbClr val="17212B"/>
                </a:solidFill>
                <a:latin typeface="Arial"/>
                <a:ea typeface="Arial"/>
                <a:cs typeface="Arial"/>
              </a:rPr>
              <a:t>Security review</a:t>
            </a:r>
          </a:p>
          <a:p>
            <a:pPr algn="ctr">
              <a:defRPr sz="1425" b="0">
                <a:solidFill>
                  <a:srgbClr val="17212B"/>
                </a:solidFill>
                <a:latin typeface="Arial"/>
                <a:ea typeface="Arial"/>
                <a:cs typeface="Arial"/>
              </a:defRPr>
            </a:pPr>
            <a:r>
              <a:rPr sz="1425" b="0">
                <a:solidFill>
                  <a:srgbClr val="17212B"/>
                </a:solidFill>
                <a:latin typeface="Arial"/>
                <a:ea typeface="Arial"/>
                <a:cs typeface="Arial"/>
              </a:rPr>
              <a:t>Audit records</a:t>
            </a:r>
          </a:p>
        </p:txBody>
      </p:sp>
      <p:sp>
        <p:nvSpPr>
          <p:cNvPr id="12" name="Arrow: Right 11">
            <a:extLst>
              <a:ext uri="{FF2B5EF4-FFF2-40B4-BE49-F238E27FC236}">
                <a16:creationId xmlns:a16="http://schemas.microsoft.com/office/drawing/2014/main" id="{40175E21-BD3E-46B9-BF02-EDD614B7C231}"/>
              </a:ext>
            </a:extLst>
          </p:cNvPr>
          <p:cNvSpPr>
            <a:spLocks noGrp="1"/>
          </p:cNvSpPr>
          <p:nvPr/>
        </p:nvSpPr>
        <p:spPr>
          <a:xfrm>
            <a:off x="4000500" y="3476625"/>
            <a:ext cx="333375" cy="209550"/>
          </a:xfrm>
          <a:prstGeom prst="rightArrow">
            <a:avLst/>
          </a:prstGeom>
          <a:solidFill>
            <a:srgbClr val="C9D2D8"/>
          </a:solidFill>
          <a:ln w="14288">
            <a:solidFill>
              <a:srgbClr val="C9D2D8"/>
            </a:solidFill>
            <a:prstDash val="solid"/>
          </a:ln>
        </p:spPr>
        <p:txBody>
          <a:bodyPr/>
          <a:lstStyle/>
          <a:p>
            <a:endParaRPr lang="en-US"/>
          </a:p>
        </p:txBody>
      </p:sp>
      <p:sp>
        <p:nvSpPr>
          <p:cNvPr id="13" name="Rectangle 12">
            <a:extLst>
              <a:ext uri="{FF2B5EF4-FFF2-40B4-BE49-F238E27FC236}">
                <a16:creationId xmlns:a16="http://schemas.microsoft.com/office/drawing/2014/main" id="{7CB0E67E-CEB6-4AAC-8EE1-4C7C1F9A5F27}"/>
              </a:ext>
            </a:extLst>
          </p:cNvPr>
          <p:cNvSpPr>
            <a:spLocks noGrp="1"/>
          </p:cNvSpPr>
          <p:nvPr/>
        </p:nvSpPr>
        <p:spPr>
          <a:xfrm>
            <a:off x="4429125" y="1666875"/>
            <a:ext cx="3143250" cy="228600"/>
          </a:xfrm>
          <a:prstGeom prst="rect">
            <a:avLst/>
          </a:prstGeom>
          <a:noFill/>
          <a:ln w="0">
            <a:noFill/>
            <a:prstDash val="solid"/>
          </a:ln>
        </p:spPr>
        <p:txBody>
          <a:bodyPr anchor="ctr">
            <a:normAutofit fontScale="99808" lnSpcReduction="10000"/>
          </a:bodyPr>
          <a:lstStyle/>
          <a:p>
            <a:pPr algn="ctr">
              <a:defRPr sz="975" b="1">
                <a:solidFill>
                  <a:srgbClr val="2A7F7F"/>
                </a:solidFill>
                <a:latin typeface="Arial"/>
                <a:ea typeface="Arial"/>
                <a:cs typeface="Arial"/>
              </a:defRPr>
            </a:pPr>
            <a:r>
              <a:rPr sz="975" b="1">
                <a:solidFill>
                  <a:srgbClr val="2A7F7F"/>
                </a:solidFill>
                <a:latin typeface="Arial"/>
                <a:ea typeface="Arial"/>
                <a:cs typeface="Arial"/>
              </a:rPr>
              <a:t>STAGE 2</a:t>
            </a:r>
          </a:p>
        </p:txBody>
      </p:sp>
      <p:sp>
        <p:nvSpPr>
          <p:cNvPr id="14" name="Rectangle 13">
            <a:extLst>
              <a:ext uri="{FF2B5EF4-FFF2-40B4-BE49-F238E27FC236}">
                <a16:creationId xmlns:a16="http://schemas.microsoft.com/office/drawing/2014/main" id="{4B08AC5D-A878-4498-96AA-674FC215D621}"/>
              </a:ext>
            </a:extLst>
          </p:cNvPr>
          <p:cNvSpPr>
            <a:spLocks noGrp="1"/>
          </p:cNvSpPr>
          <p:nvPr/>
        </p:nvSpPr>
        <p:spPr>
          <a:xfrm>
            <a:off x="4429125" y="2047875"/>
            <a:ext cx="3143250" cy="342900"/>
          </a:xfrm>
          <a:prstGeom prst="rect">
            <a:avLst/>
          </a:prstGeom>
          <a:noFill/>
          <a:ln w="0">
            <a:noFill/>
            <a:prstDash val="solid"/>
          </a:ln>
        </p:spPr>
        <p:txBody>
          <a:bodyPr anchor="ctr">
            <a:normAutofit fontScale="91667" lnSpcReduction="10000"/>
          </a:bodyPr>
          <a:lstStyle/>
          <a:p>
            <a:pPr algn="ctr">
              <a:defRPr sz="1800" b="1">
                <a:solidFill>
                  <a:srgbClr val="183B56"/>
                </a:solidFill>
                <a:latin typeface="Arial"/>
                <a:ea typeface="Arial"/>
                <a:cs typeface="Arial"/>
              </a:defRPr>
            </a:pPr>
            <a:r>
              <a:rPr sz="1800" b="1">
                <a:solidFill>
                  <a:srgbClr val="183B56"/>
                </a:solidFill>
                <a:latin typeface="Arial"/>
                <a:ea typeface="Arial"/>
                <a:cs typeface="Arial"/>
              </a:rPr>
              <a:t>Extend operations</a:t>
            </a:r>
          </a:p>
        </p:txBody>
      </p:sp>
      <p:sp>
        <p:nvSpPr>
          <p:cNvPr id="15" name="Rectangle: Rounded Corners 14">
            <a:extLst>
              <a:ext uri="{FF2B5EF4-FFF2-40B4-BE49-F238E27FC236}">
                <a16:creationId xmlns:a16="http://schemas.microsoft.com/office/drawing/2014/main" id="{EDDCE37F-13C2-4571-9CA1-D56B1C7547DA}"/>
              </a:ext>
            </a:extLst>
          </p:cNvPr>
          <p:cNvSpPr>
            <a:spLocks noGrp="1"/>
          </p:cNvSpPr>
          <p:nvPr/>
        </p:nvSpPr>
        <p:spPr>
          <a:xfrm>
            <a:off x="4429125" y="2619375"/>
            <a:ext cx="3143250" cy="2095500"/>
          </a:xfrm>
          <a:prstGeom prst="roundRect">
            <a:avLst>
              <a:gd name="adj" fmla="val 2727"/>
            </a:avLst>
          </a:prstGeom>
          <a:noFill/>
          <a:ln w="14288">
            <a:solidFill>
              <a:srgbClr val="C9D2D8"/>
            </a:solidFill>
            <a:prstDash val="solid"/>
          </a:ln>
        </p:spPr>
        <p:txBody>
          <a:bodyPr/>
          <a:lstStyle/>
          <a:p>
            <a:endParaRPr lang="en-US"/>
          </a:p>
        </p:txBody>
      </p:sp>
      <p:sp>
        <p:nvSpPr>
          <p:cNvPr id="16" name="Rectangle 15">
            <a:extLst>
              <a:ext uri="{FF2B5EF4-FFF2-40B4-BE49-F238E27FC236}">
                <a16:creationId xmlns:a16="http://schemas.microsoft.com/office/drawing/2014/main" id="{301EBA52-B149-4199-A2EF-E47F975DBBEF}"/>
              </a:ext>
            </a:extLst>
          </p:cNvPr>
          <p:cNvSpPr>
            <a:spLocks noGrp="1"/>
          </p:cNvSpPr>
          <p:nvPr/>
        </p:nvSpPr>
        <p:spPr>
          <a:xfrm>
            <a:off x="4714875" y="2857500"/>
            <a:ext cx="2571750" cy="1619250"/>
          </a:xfrm>
          <a:prstGeom prst="rect">
            <a:avLst/>
          </a:prstGeom>
          <a:noFill/>
          <a:ln w="0">
            <a:noFill/>
            <a:prstDash val="solid"/>
          </a:ln>
        </p:spPr>
        <p:txBody>
          <a:bodyPr anchor="ctr">
            <a:normAutofit/>
          </a:bodyPr>
          <a:lstStyle/>
          <a:p>
            <a:pPr algn="ctr">
              <a:defRPr sz="1425" b="0">
                <a:solidFill>
                  <a:srgbClr val="17212B"/>
                </a:solidFill>
                <a:latin typeface="Arial"/>
                <a:ea typeface="Arial"/>
                <a:cs typeface="Arial"/>
              </a:defRPr>
            </a:pPr>
            <a:r>
              <a:rPr sz="1425" b="0">
                <a:solidFill>
                  <a:srgbClr val="17212B"/>
                </a:solidFill>
                <a:latin typeface="Arial"/>
                <a:ea typeface="Arial"/>
                <a:cs typeface="Arial"/>
              </a:rPr>
              <a:t>Multi-branch</a:t>
            </a:r>
          </a:p>
          <a:p>
            <a:pPr algn="ctr">
              <a:defRPr sz="1425" b="0">
                <a:solidFill>
                  <a:srgbClr val="17212B"/>
                </a:solidFill>
                <a:latin typeface="Arial"/>
                <a:ea typeface="Arial"/>
                <a:cs typeface="Arial"/>
              </a:defRPr>
            </a:pPr>
            <a:r>
              <a:rPr sz="1425" b="0">
                <a:solidFill>
                  <a:srgbClr val="17212B"/>
                </a:solidFill>
                <a:latin typeface="Arial"/>
                <a:ea typeface="Arial"/>
                <a:cs typeface="Arial"/>
              </a:rPr>
              <a:t>Warehouse transfer</a:t>
            </a:r>
          </a:p>
          <a:p>
            <a:pPr algn="ctr">
              <a:defRPr sz="1425" b="0">
                <a:solidFill>
                  <a:srgbClr val="17212B"/>
                </a:solidFill>
                <a:latin typeface="Arial"/>
                <a:ea typeface="Arial"/>
                <a:cs typeface="Arial"/>
              </a:defRPr>
            </a:pPr>
            <a:r>
              <a:rPr sz="1425" b="0">
                <a:solidFill>
                  <a:srgbClr val="17212B"/>
                </a:solidFill>
                <a:latin typeface="Arial"/>
                <a:ea typeface="Arial"/>
                <a:cs typeface="Arial"/>
              </a:rPr>
              <a:t>Batch and expiry</a:t>
            </a:r>
          </a:p>
          <a:p>
            <a:pPr algn="ctr">
              <a:defRPr sz="1425" b="0">
                <a:solidFill>
                  <a:srgbClr val="17212B"/>
                </a:solidFill>
                <a:latin typeface="Arial"/>
                <a:ea typeface="Arial"/>
                <a:cs typeface="Arial"/>
              </a:defRPr>
            </a:pPr>
            <a:r>
              <a:rPr sz="1425" b="0">
                <a:solidFill>
                  <a:srgbClr val="17212B"/>
                </a:solidFill>
                <a:latin typeface="Arial"/>
                <a:ea typeface="Arial"/>
                <a:cs typeface="Arial"/>
              </a:rPr>
              <a:t>Bank reconciliation</a:t>
            </a:r>
          </a:p>
        </p:txBody>
      </p:sp>
      <p:sp>
        <p:nvSpPr>
          <p:cNvPr id="17" name="Arrow: Right 16">
            <a:extLst>
              <a:ext uri="{FF2B5EF4-FFF2-40B4-BE49-F238E27FC236}">
                <a16:creationId xmlns:a16="http://schemas.microsoft.com/office/drawing/2014/main" id="{4279A929-9F5C-4D2F-B1B7-856EC8159049}"/>
              </a:ext>
            </a:extLst>
          </p:cNvPr>
          <p:cNvSpPr>
            <a:spLocks noGrp="1"/>
          </p:cNvSpPr>
          <p:nvPr/>
        </p:nvSpPr>
        <p:spPr>
          <a:xfrm>
            <a:off x="7715250" y="3476625"/>
            <a:ext cx="333375" cy="209550"/>
          </a:xfrm>
          <a:prstGeom prst="rightArrow">
            <a:avLst/>
          </a:prstGeom>
          <a:solidFill>
            <a:srgbClr val="C9D2D8"/>
          </a:solidFill>
          <a:ln w="14288">
            <a:solidFill>
              <a:srgbClr val="C9D2D8"/>
            </a:solidFill>
            <a:prstDash val="solid"/>
          </a:ln>
        </p:spPr>
        <p:txBody>
          <a:bodyPr/>
          <a:lstStyle/>
          <a:p>
            <a:endParaRPr lang="en-US"/>
          </a:p>
        </p:txBody>
      </p:sp>
      <p:sp>
        <p:nvSpPr>
          <p:cNvPr id="18" name="Rectangle 17">
            <a:extLst>
              <a:ext uri="{FF2B5EF4-FFF2-40B4-BE49-F238E27FC236}">
                <a16:creationId xmlns:a16="http://schemas.microsoft.com/office/drawing/2014/main" id="{C9A52D28-430B-4733-B70A-0FA977D94B94}"/>
              </a:ext>
            </a:extLst>
          </p:cNvPr>
          <p:cNvSpPr>
            <a:spLocks noGrp="1"/>
          </p:cNvSpPr>
          <p:nvPr/>
        </p:nvSpPr>
        <p:spPr>
          <a:xfrm>
            <a:off x="8143875" y="1666875"/>
            <a:ext cx="3143250" cy="228600"/>
          </a:xfrm>
          <a:prstGeom prst="rect">
            <a:avLst/>
          </a:prstGeom>
          <a:noFill/>
          <a:ln w="0">
            <a:noFill/>
            <a:prstDash val="solid"/>
          </a:ln>
        </p:spPr>
        <p:txBody>
          <a:bodyPr anchor="ctr">
            <a:normAutofit fontScale="99808" lnSpcReduction="10000"/>
          </a:bodyPr>
          <a:lstStyle/>
          <a:p>
            <a:pPr algn="ctr">
              <a:defRPr sz="975" b="1">
                <a:solidFill>
                  <a:srgbClr val="2A7F7F"/>
                </a:solidFill>
                <a:latin typeface="Arial"/>
                <a:ea typeface="Arial"/>
                <a:cs typeface="Arial"/>
              </a:defRPr>
            </a:pPr>
            <a:r>
              <a:rPr sz="975" b="1">
                <a:solidFill>
                  <a:srgbClr val="2A7F7F"/>
                </a:solidFill>
                <a:latin typeface="Arial"/>
                <a:ea typeface="Arial"/>
                <a:cs typeface="Arial"/>
              </a:rPr>
              <a:t>STAGE 3</a:t>
            </a:r>
          </a:p>
        </p:txBody>
      </p:sp>
      <p:sp>
        <p:nvSpPr>
          <p:cNvPr id="19" name="Rectangle 18">
            <a:extLst>
              <a:ext uri="{FF2B5EF4-FFF2-40B4-BE49-F238E27FC236}">
                <a16:creationId xmlns:a16="http://schemas.microsoft.com/office/drawing/2014/main" id="{771ECB10-A935-4595-ADC9-A7199D83FB09}"/>
              </a:ext>
            </a:extLst>
          </p:cNvPr>
          <p:cNvSpPr>
            <a:spLocks noGrp="1"/>
          </p:cNvSpPr>
          <p:nvPr/>
        </p:nvSpPr>
        <p:spPr>
          <a:xfrm>
            <a:off x="8143875" y="2047875"/>
            <a:ext cx="3143250" cy="342900"/>
          </a:xfrm>
          <a:prstGeom prst="rect">
            <a:avLst/>
          </a:prstGeom>
          <a:noFill/>
          <a:ln w="0">
            <a:noFill/>
            <a:prstDash val="solid"/>
          </a:ln>
        </p:spPr>
        <p:txBody>
          <a:bodyPr anchor="ctr">
            <a:normAutofit fontScale="91667" lnSpcReduction="10000"/>
          </a:bodyPr>
          <a:lstStyle/>
          <a:p>
            <a:pPr algn="ctr">
              <a:defRPr sz="1800" b="1">
                <a:solidFill>
                  <a:srgbClr val="183B56"/>
                </a:solidFill>
                <a:latin typeface="Arial"/>
                <a:ea typeface="Arial"/>
                <a:cs typeface="Arial"/>
              </a:defRPr>
            </a:pPr>
            <a:r>
              <a:rPr sz="1800" b="1">
                <a:solidFill>
                  <a:srgbClr val="183B56"/>
                </a:solidFill>
                <a:latin typeface="Arial"/>
                <a:ea typeface="Arial"/>
                <a:cs typeface="Arial"/>
              </a:rPr>
              <a:t>Add services</a:t>
            </a:r>
          </a:p>
        </p:txBody>
      </p:sp>
      <p:sp>
        <p:nvSpPr>
          <p:cNvPr id="20" name="Rectangle: Rounded Corners 19">
            <a:extLst>
              <a:ext uri="{FF2B5EF4-FFF2-40B4-BE49-F238E27FC236}">
                <a16:creationId xmlns:a16="http://schemas.microsoft.com/office/drawing/2014/main" id="{061FD2C4-E052-4FD2-8256-D68C26DCAF02}"/>
              </a:ext>
            </a:extLst>
          </p:cNvPr>
          <p:cNvSpPr>
            <a:spLocks noGrp="1"/>
          </p:cNvSpPr>
          <p:nvPr/>
        </p:nvSpPr>
        <p:spPr>
          <a:xfrm>
            <a:off x="8143875" y="2619375"/>
            <a:ext cx="3143250" cy="2095500"/>
          </a:xfrm>
          <a:prstGeom prst="roundRect">
            <a:avLst>
              <a:gd name="adj" fmla="val 2727"/>
            </a:avLst>
          </a:prstGeom>
          <a:noFill/>
          <a:ln w="14288">
            <a:solidFill>
              <a:srgbClr val="C9D2D8"/>
            </a:solidFill>
            <a:prstDash val="solid"/>
          </a:ln>
        </p:spPr>
        <p:txBody>
          <a:bodyPr/>
          <a:lstStyle/>
          <a:p>
            <a:endParaRPr lang="en-US"/>
          </a:p>
        </p:txBody>
      </p:sp>
      <p:sp>
        <p:nvSpPr>
          <p:cNvPr id="21" name="Rectangle 20">
            <a:extLst>
              <a:ext uri="{FF2B5EF4-FFF2-40B4-BE49-F238E27FC236}">
                <a16:creationId xmlns:a16="http://schemas.microsoft.com/office/drawing/2014/main" id="{4A720914-90C5-4A63-8D8C-1AF9D38EF93F}"/>
              </a:ext>
            </a:extLst>
          </p:cNvPr>
          <p:cNvSpPr>
            <a:spLocks noGrp="1"/>
          </p:cNvSpPr>
          <p:nvPr/>
        </p:nvSpPr>
        <p:spPr>
          <a:xfrm>
            <a:off x="8429625" y="2857500"/>
            <a:ext cx="2571750" cy="1619250"/>
          </a:xfrm>
          <a:prstGeom prst="rect">
            <a:avLst/>
          </a:prstGeom>
          <a:noFill/>
          <a:ln w="0">
            <a:noFill/>
            <a:prstDash val="solid"/>
          </a:ln>
        </p:spPr>
        <p:txBody>
          <a:bodyPr anchor="ctr">
            <a:normAutofit/>
          </a:bodyPr>
          <a:lstStyle/>
          <a:p>
            <a:pPr algn="ctr">
              <a:defRPr sz="1425" b="0">
                <a:solidFill>
                  <a:srgbClr val="17212B"/>
                </a:solidFill>
                <a:latin typeface="Arial"/>
                <a:ea typeface="Arial"/>
                <a:cs typeface="Arial"/>
              </a:defRPr>
            </a:pPr>
            <a:r>
              <a:rPr sz="1425" b="0">
                <a:solidFill>
                  <a:srgbClr val="17212B"/>
                </a:solidFill>
                <a:latin typeface="Arial"/>
                <a:ea typeface="Arial"/>
                <a:cs typeface="Arial"/>
              </a:rPr>
              <a:t>Online subscription payment</a:t>
            </a:r>
          </a:p>
          <a:p>
            <a:pPr algn="ctr">
              <a:defRPr sz="1425" b="0">
                <a:solidFill>
                  <a:srgbClr val="17212B"/>
                </a:solidFill>
                <a:latin typeface="Arial"/>
                <a:ea typeface="Arial"/>
                <a:cs typeface="Arial"/>
              </a:defRPr>
            </a:pPr>
            <a:r>
              <a:rPr sz="1425" b="0">
                <a:solidFill>
                  <a:srgbClr val="17212B"/>
                </a:solidFill>
                <a:latin typeface="Arial"/>
                <a:ea typeface="Arial"/>
                <a:cs typeface="Arial"/>
              </a:rPr>
              <a:t>Mobile access</a:t>
            </a:r>
          </a:p>
          <a:p>
            <a:pPr algn="ctr">
              <a:defRPr sz="1425" b="0">
                <a:solidFill>
                  <a:srgbClr val="17212B"/>
                </a:solidFill>
                <a:latin typeface="Arial"/>
                <a:ea typeface="Arial"/>
                <a:cs typeface="Arial"/>
              </a:defRPr>
            </a:pPr>
            <a:r>
              <a:rPr sz="1425" b="0">
                <a:solidFill>
                  <a:srgbClr val="17212B"/>
                </a:solidFill>
                <a:latin typeface="Arial"/>
                <a:ea typeface="Arial"/>
                <a:cs typeface="Arial"/>
              </a:rPr>
              <a:t>Advanced reports</a:t>
            </a:r>
          </a:p>
          <a:p>
            <a:pPr algn="ctr">
              <a:defRPr sz="1425" b="0">
                <a:solidFill>
                  <a:srgbClr val="17212B"/>
                </a:solidFill>
                <a:latin typeface="Arial"/>
                <a:ea typeface="Arial"/>
                <a:cs typeface="Arial"/>
              </a:defRPr>
            </a:pPr>
            <a:r>
              <a:rPr sz="1425" b="0">
                <a:solidFill>
                  <a:srgbClr val="17212B"/>
                </a:solidFill>
                <a:latin typeface="Arial"/>
                <a:ea typeface="Arial"/>
                <a:cs typeface="Arial"/>
              </a:rPr>
              <a:t>Integration APIs</a:t>
            </a:r>
          </a:p>
        </p:txBody>
      </p:sp>
      <p:sp>
        <p:nvSpPr>
          <p:cNvPr id="22" name="Rectangle 21">
            <a:extLst>
              <a:ext uri="{FF2B5EF4-FFF2-40B4-BE49-F238E27FC236}">
                <a16:creationId xmlns:a16="http://schemas.microsoft.com/office/drawing/2014/main" id="{97B93E5C-F740-4071-807A-D2A0A28469B1}"/>
              </a:ext>
            </a:extLst>
          </p:cNvPr>
          <p:cNvSpPr>
            <a:spLocks noGrp="1"/>
          </p:cNvSpPr>
          <p:nvPr/>
        </p:nvSpPr>
        <p:spPr>
          <a:xfrm>
            <a:off x="1143000" y="5286375"/>
            <a:ext cx="9906000" cy="476250"/>
          </a:xfrm>
          <a:prstGeom prst="rect">
            <a:avLst/>
          </a:prstGeom>
          <a:noFill/>
          <a:ln w="0">
            <a:noFill/>
            <a:prstDash val="solid"/>
          </a:ln>
        </p:spPr>
        <p:txBody>
          <a:bodyPr anchor="ctr">
            <a:normAutofit/>
          </a:bodyPr>
          <a:lstStyle/>
          <a:p>
            <a:pPr algn="ctr">
              <a:defRPr sz="1275" b="0">
                <a:solidFill>
                  <a:srgbClr val="5F6B76"/>
                </a:solidFill>
                <a:latin typeface="Arial"/>
                <a:ea typeface="Arial"/>
                <a:cs typeface="Arial"/>
              </a:defRPr>
            </a:pPr>
            <a:r>
              <a:rPr sz="1400" b="0" dirty="0">
                <a:solidFill>
                  <a:srgbClr val="5F6B76"/>
                </a:solidFill>
                <a:latin typeface="Arial"/>
                <a:ea typeface="Arial"/>
                <a:cs typeface="Arial"/>
              </a:rPr>
              <a:t>Present limitations: web-only, no offline POS, limited manufacturing cost, sample-data testing and no formal security audit.</a:t>
            </a:r>
          </a:p>
        </p:txBody>
      </p:sp>
    </p:spTree>
    <p:extLst>
      <p:ext uri="{BB962C8B-B14F-4D97-AF65-F5344CB8AC3E}">
        <p14:creationId xmlns:p14="http://schemas.microsoft.com/office/powerpoint/2010/main" val="10861990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8B5514-A018-DBA0-4ABA-E19D863EF888}"/>
              </a:ext>
            </a:extLst>
          </p:cNvPr>
          <p:cNvSpPr>
            <a:spLocks noGrp="1"/>
          </p:cNvSpPr>
          <p:nvPr/>
        </p:nvSpPr>
        <p:spPr>
          <a:xfrm>
            <a:off x="667512" y="1168432"/>
            <a:ext cx="9921240" cy="2560320"/>
          </a:xfrm>
          <a:prstGeom prst="rect">
            <a:avLst/>
          </a:prstGeom>
          <a:noFill/>
        </p:spPr>
        <p:txBody>
          <a:bodyPr wrap="square">
            <a:spAutoFit/>
          </a:bodyPr>
          <a:lstStyle/>
          <a:p>
            <a:pPr>
              <a:lnSpc>
                <a:spcPct val="150000"/>
              </a:lnSpc>
              <a:buNone/>
            </a:pPr>
            <a:r>
              <a:rPr>
                <a:latin typeface="Arial"/>
                <a:ea typeface="Arial"/>
                <a:cs typeface="Arial"/>
              </a:rPr>
              <a:t>BizTrack connects day-to-day business work with accounting in one web application. It supports separate SaaS tenants and brings purchases, sales/POS, inventory, manufacturing and financial records into a common flow. Its main contribution is not only the number of modules. A transaction can also update the related stock, party balance and accounting records without repeated entry. The system worked in the project test environment, while wider testing and operational preparation are still needed before large-scale use.</a:t>
            </a:r>
          </a:p>
        </p:txBody>
      </p:sp>
      <p:sp>
        <p:nvSpPr>
          <p:cNvPr id="4" name="TextBox 3">
            <a:extLst>
              <a:ext uri="{FF2B5EF4-FFF2-40B4-BE49-F238E27FC236}">
                <a16:creationId xmlns:a16="http://schemas.microsoft.com/office/drawing/2014/main" id="{FF31C435-A8BF-68A5-D365-45213B1FEAA2}"/>
              </a:ext>
            </a:extLst>
          </p:cNvPr>
          <p:cNvSpPr>
            <a:spLocks noGrp="1"/>
          </p:cNvSpPr>
          <p:nvPr/>
        </p:nvSpPr>
        <p:spPr>
          <a:xfrm>
            <a:off x="578358" y="245102"/>
            <a:ext cx="6094476" cy="461665"/>
          </a:xfrm>
          <a:prstGeom prst="rect">
            <a:avLst/>
          </a:prstGeom>
          <a:noFill/>
        </p:spPr>
        <p:txBody>
          <a:bodyPr wrap="square">
            <a:spAutoFit/>
          </a:bodyPr>
          <a:lstStyle/>
          <a:p>
            <a:r>
              <a:rPr sz="2400" b="1">
                <a:latin typeface="Arial"/>
                <a:ea typeface="Arial"/>
                <a:cs typeface="Arial"/>
              </a:rPr>
              <a:t>Conclusion and Contribution</a:t>
            </a:r>
          </a:p>
        </p:txBody>
      </p:sp>
      <p:sp>
        <p:nvSpPr>
          <p:cNvPr id="5" name="Rectangle 4">
            <a:extLst>
              <a:ext uri="{FF2B5EF4-FFF2-40B4-BE49-F238E27FC236}">
                <a16:creationId xmlns:a16="http://schemas.microsoft.com/office/drawing/2014/main" id="{772714A9-80F7-D737-05EA-1AB6A3A62752}"/>
              </a:ext>
            </a:extLst>
          </p:cNvPr>
          <p:cNvSpPr>
            <a:spLocks noGrp="1"/>
          </p:cNvSpPr>
          <p:nvPr/>
        </p:nvSpPr>
        <p:spPr>
          <a:xfrm>
            <a:off x="667512" y="706767"/>
            <a:ext cx="1307592" cy="7961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CF86CC4-7C6D-96F9-7969-B04B81468BB8}"/>
              </a:ext>
            </a:extLst>
          </p:cNvPr>
          <p:cNvSpPr>
            <a:spLocks noGrp="1"/>
          </p:cNvSpPr>
          <p:nvPr/>
        </p:nvSpPr>
        <p:spPr>
          <a:xfrm>
            <a:off x="514350" y="6419850"/>
            <a:ext cx="11096625" cy="9525"/>
          </a:xfrm>
          <a:prstGeom prst="rect">
            <a:avLst/>
          </a:prstGeom>
          <a:solidFill>
            <a:srgbClr val="C9D2D8"/>
          </a:solidFill>
          <a:ln w="0">
            <a:noFill/>
            <a:prstDash val="solid"/>
          </a:ln>
        </p:spPr>
        <p:txBody>
          <a:bodyPr/>
          <a:lstStyle/>
          <a:p>
            <a:endParaRPr lang="en-US"/>
          </a:p>
        </p:txBody>
      </p:sp>
      <p:sp>
        <p:nvSpPr>
          <p:cNvPr id="8" name="Rectangle 7">
            <a:extLst>
              <a:ext uri="{FF2B5EF4-FFF2-40B4-BE49-F238E27FC236}">
                <a16:creationId xmlns:a16="http://schemas.microsoft.com/office/drawing/2014/main" id="{D568A12E-F273-A593-57C3-03CE036460A4}"/>
              </a:ext>
            </a:extLst>
          </p:cNvPr>
          <p:cNvSpPr>
            <a:spLocks noGrp="1"/>
          </p:cNvSpPr>
          <p:nvPr/>
        </p:nvSpPr>
        <p:spPr>
          <a:xfrm>
            <a:off x="514350" y="6505575"/>
            <a:ext cx="3333750" cy="209550"/>
          </a:xfrm>
          <a:prstGeom prst="rect">
            <a:avLst/>
          </a:prstGeom>
          <a:noFill/>
          <a:ln w="0">
            <a:noFill/>
            <a:prstDash val="solid"/>
          </a:ln>
        </p:spPr>
        <p:txBody>
          <a:bodyPr anchor="ctr">
            <a:normAutofit fontScale="93939" lnSpcReduction="10000"/>
          </a:bodyPr>
          <a:lstStyle/>
          <a:p>
            <a:pPr algn="l">
              <a:defRPr sz="825" b="0">
                <a:solidFill>
                  <a:srgbClr val="5F6B76"/>
                </a:solidFill>
                <a:latin typeface="Arial"/>
                <a:ea typeface="Arial"/>
                <a:cs typeface="Arial"/>
              </a:defRPr>
            </a:pPr>
            <a:r>
              <a:rPr sz="825" b="0" dirty="0" err="1">
                <a:solidFill>
                  <a:srgbClr val="5F6B76"/>
                </a:solidFill>
                <a:latin typeface="Arial"/>
                <a:ea typeface="Arial"/>
                <a:cs typeface="Arial"/>
              </a:rPr>
              <a:t>BizTrack</a:t>
            </a:r>
            <a:r>
              <a:rPr sz="825" b="0" dirty="0">
                <a:solidFill>
                  <a:srgbClr val="5F6B76"/>
                </a:solidFill>
                <a:latin typeface="Arial"/>
                <a:ea typeface="Arial"/>
                <a:cs typeface="Arial"/>
              </a:rPr>
              <a:t> • </a:t>
            </a:r>
            <a:r>
              <a:rPr lang="en-US" sz="825" b="0" dirty="0">
                <a:solidFill>
                  <a:srgbClr val="5F6B76"/>
                </a:solidFill>
                <a:latin typeface="Arial"/>
                <a:ea typeface="Arial"/>
                <a:cs typeface="Arial"/>
              </a:rPr>
              <a:t>A Complete Business Accounting Management System</a:t>
            </a:r>
            <a:endParaRPr sz="825" b="0" dirty="0">
              <a:solidFill>
                <a:srgbClr val="5F6B76"/>
              </a:solidFill>
              <a:latin typeface="Arial"/>
              <a:ea typeface="Arial"/>
              <a:cs typeface="Arial"/>
            </a:endParaRPr>
          </a:p>
        </p:txBody>
      </p:sp>
      <p:sp>
        <p:nvSpPr>
          <p:cNvPr id="10" name="Rectangle 9">
            <a:extLst>
              <a:ext uri="{FF2B5EF4-FFF2-40B4-BE49-F238E27FC236}">
                <a16:creationId xmlns:a16="http://schemas.microsoft.com/office/drawing/2014/main" id="{3166E0D8-469B-5190-8674-2BB7294ED650}"/>
              </a:ext>
            </a:extLst>
          </p:cNvPr>
          <p:cNvSpPr>
            <a:spLocks noGrp="1"/>
          </p:cNvSpPr>
          <p:nvPr/>
        </p:nvSpPr>
        <p:spPr>
          <a:xfrm>
            <a:off x="11049000" y="6505575"/>
            <a:ext cx="552450" cy="209550"/>
          </a:xfrm>
          <a:prstGeom prst="rect">
            <a:avLst/>
          </a:prstGeom>
          <a:noFill/>
          <a:ln w="0">
            <a:noFill/>
            <a:prstDash val="solid"/>
          </a:ln>
        </p:spPr>
        <p:txBody>
          <a:bodyPr anchor="ctr">
            <a:normAutofit fontScale="93939" lnSpcReduction="10000"/>
          </a:bodyPr>
          <a:lstStyle/>
          <a:p>
            <a:pPr algn="r">
              <a:defRPr sz="825" b="1">
                <a:solidFill>
                  <a:srgbClr val="5F6B76"/>
                </a:solidFill>
                <a:latin typeface="Arial"/>
                <a:ea typeface="Arial"/>
                <a:cs typeface="Arial"/>
              </a:defRPr>
            </a:pPr>
            <a:r>
              <a:rPr lang="en-US" sz="825" b="1" dirty="0">
                <a:solidFill>
                  <a:srgbClr val="5F6B76"/>
                </a:solidFill>
                <a:latin typeface="Arial"/>
                <a:ea typeface="Arial"/>
                <a:cs typeface="Arial"/>
              </a:rPr>
              <a:t>18</a:t>
            </a:r>
            <a:endParaRPr sz="825" b="1" dirty="0">
              <a:solidFill>
                <a:srgbClr val="5F6B76"/>
              </a:solidFill>
              <a:latin typeface="Arial"/>
              <a:ea typeface="Arial"/>
              <a:cs typeface="Arial"/>
            </a:endParaRPr>
          </a:p>
        </p:txBody>
      </p:sp>
    </p:spTree>
    <p:extLst>
      <p:ext uri="{BB962C8B-B14F-4D97-AF65-F5344CB8AC3E}">
        <p14:creationId xmlns:p14="http://schemas.microsoft.com/office/powerpoint/2010/main" val="4099723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9AC052-1192-F0AD-20A6-59DA78841365}"/>
              </a:ext>
            </a:extLst>
          </p:cNvPr>
          <p:cNvSpPr>
            <a:spLocks noGrp="1"/>
          </p:cNvSpPr>
          <p:nvPr/>
        </p:nvSpPr>
        <p:spPr>
          <a:xfrm>
            <a:off x="3238500" y="2428875"/>
            <a:ext cx="5715000" cy="2286000"/>
          </a:xfrm>
          <a:prstGeom prst="rect">
            <a:avLst/>
          </a:prstGeom>
          <a:noFill/>
        </p:spPr>
        <p:txBody>
          <a:bodyPr wrap="square" anchor="ctr">
            <a:spAutoFit/>
          </a:bodyPr>
          <a:lstStyle/>
          <a:p>
            <a:pPr algn="ctr">
              <a:buNone/>
              <a:defRPr sz="2550" b="1">
                <a:solidFill>
                  <a:srgbClr val="252525"/>
                </a:solidFill>
                <a:latin typeface="Arial"/>
                <a:ea typeface="Arial"/>
                <a:cs typeface="Arial"/>
              </a:defRPr>
            </a:pPr>
            <a:r>
              <a:rPr sz="2550" b="1">
                <a:solidFill>
                  <a:srgbClr val="252525"/>
                </a:solidFill>
                <a:latin typeface="Arial"/>
                <a:ea typeface="Arial"/>
                <a:cs typeface="Arial"/>
              </a:rPr>
              <a:t>Demonstration</a:t>
            </a:r>
          </a:p>
          <a:p>
            <a:pPr algn="ctr">
              <a:buNone/>
              <a:defRPr sz="2550" b="1">
                <a:solidFill>
                  <a:srgbClr val="252525"/>
                </a:solidFill>
                <a:latin typeface="Arial"/>
                <a:ea typeface="Arial"/>
                <a:cs typeface="Arial"/>
              </a:defRPr>
            </a:pPr>
            <a:r>
              <a:rPr sz="2550" b="1">
                <a:solidFill>
                  <a:srgbClr val="252525"/>
                </a:solidFill>
                <a:latin typeface="Arial"/>
                <a:ea typeface="Arial"/>
                <a:cs typeface="Arial"/>
              </a:rPr>
              <a:t>Questions &amp; Discussion</a:t>
            </a:r>
          </a:p>
        </p:txBody>
      </p:sp>
      <p:sp>
        <p:nvSpPr>
          <p:cNvPr id="4" name="Rectangle 3">
            <a:extLst>
              <a:ext uri="{FF2B5EF4-FFF2-40B4-BE49-F238E27FC236}">
                <a16:creationId xmlns:a16="http://schemas.microsoft.com/office/drawing/2014/main" id="{42183AEC-EEDE-4E91-87EA-CEC56A084822}"/>
              </a:ext>
            </a:extLst>
          </p:cNvPr>
          <p:cNvSpPr>
            <a:spLocks noGrp="1"/>
          </p:cNvSpPr>
          <p:nvPr/>
        </p:nvSpPr>
        <p:spPr>
          <a:xfrm>
            <a:off x="3857625" y="4143375"/>
            <a:ext cx="4476750" cy="361950"/>
          </a:xfrm>
          <a:prstGeom prst="rect">
            <a:avLst/>
          </a:prstGeom>
          <a:noFill/>
          <a:ln w="0">
            <a:noFill/>
            <a:prstDash val="solid"/>
          </a:ln>
        </p:spPr>
        <p:txBody>
          <a:bodyPr anchor="ctr">
            <a:normAutofit/>
          </a:bodyPr>
          <a:lstStyle/>
          <a:p>
            <a:pPr algn="ctr">
              <a:defRPr sz="1350" b="1">
                <a:solidFill>
                  <a:srgbClr val="42B7E9"/>
                </a:solidFill>
                <a:latin typeface="Arial"/>
                <a:ea typeface="Arial"/>
                <a:cs typeface="Arial"/>
              </a:defRPr>
            </a:pPr>
            <a:r>
              <a:rPr sz="1350" b="1">
                <a:solidFill>
                  <a:srgbClr val="42B7E9"/>
                </a:solidFill>
                <a:latin typeface="Arial"/>
                <a:ea typeface="Arial"/>
                <a:cs typeface="Arial"/>
              </a:rPr>
              <a:t>https://biztrack.codeexpress.net/</a:t>
            </a:r>
          </a:p>
        </p:txBody>
      </p:sp>
    </p:spTree>
    <p:extLst>
      <p:ext uri="{BB962C8B-B14F-4D97-AF65-F5344CB8AC3E}">
        <p14:creationId xmlns:p14="http://schemas.microsoft.com/office/powerpoint/2010/main" val="25530349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TotalTime>
  <Words>1775</Words>
  <Application>Microsoft Office PowerPoint</Application>
  <DocSecurity>0</DocSecurity>
  <PresentationFormat>Widescreen</PresentationFormat>
  <Paragraphs>404</Paragraphs>
  <Slides>26</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Aptos Display</vt:lpstr>
      <vt:lpstr>Arial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Rahman, Md. Arifur GIZ BD</cp:lastModifiedBy>
  <cp:revision>25</cp:revision>
  <dcterms:created xsi:type="dcterms:W3CDTF">2026-08-14T16:27:21Z</dcterms:created>
  <dcterms:modified xsi:type="dcterms:W3CDTF">2026-08-15T03:05:24Z</dcterms:modified>
</cp:coreProperties>
</file>